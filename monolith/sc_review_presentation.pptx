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204700" cy="6870700"/>
  <p:notesSz cx="12204700" cy="6870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5352" y="2129917"/>
            <a:ext cx="10373995" cy="14428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7592"/>
            <a:ext cx="8543290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1F2D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1F2D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10235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5420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5949" y="-41275"/>
            <a:ext cx="6214109" cy="932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4075" y="1530350"/>
            <a:ext cx="6702425" cy="2157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1F2D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9598" y="6389751"/>
            <a:ext cx="3905504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10235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87384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49" y="0"/>
            <a:ext cx="12147550" cy="6858000"/>
          </a:xfrm>
          <a:custGeom>
            <a:avLst/>
            <a:gdLst/>
            <a:ahLst/>
            <a:cxnLst/>
            <a:rect l="l" t="t" r="r" b="b"/>
            <a:pathLst>
              <a:path w="12147550" h="6858000">
                <a:moveTo>
                  <a:pt x="0" y="6857999"/>
                </a:moveTo>
                <a:lnTo>
                  <a:pt x="12147040" y="6857999"/>
                </a:lnTo>
                <a:lnTo>
                  <a:pt x="1214704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5714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57149" y="0"/>
                </a:lnTo>
                <a:lnTo>
                  <a:pt x="57149" y="68579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917255" y="1835396"/>
            <a:ext cx="434848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S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T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E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E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R</a:t>
            </a:r>
            <a:r>
              <a:rPr dirty="0" sz="1100" spc="-75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I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N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G</a:t>
            </a:r>
            <a:r>
              <a:rPr dirty="0" sz="1100" spc="47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C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O</a:t>
            </a:r>
            <a:r>
              <a:rPr dirty="0" sz="1100" spc="-75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M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M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I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T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T</a:t>
            </a:r>
            <a:r>
              <a:rPr dirty="0" sz="1100" spc="-75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E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E</a:t>
            </a:r>
            <a:r>
              <a:rPr dirty="0" sz="1100" spc="47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R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E</a:t>
            </a:r>
            <a:r>
              <a:rPr dirty="0" sz="1100" spc="-75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V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I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E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W</a:t>
            </a:r>
            <a:r>
              <a:rPr dirty="0" sz="1100" spc="47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·</a:t>
            </a:r>
            <a:r>
              <a:rPr dirty="0" sz="1100" spc="475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CFB364"/>
                </a:solidFill>
                <a:latin typeface="Microsoft Sans Serif"/>
                <a:cs typeface="Microsoft Sans Serif"/>
              </a:rPr>
              <a:t>กั</a:t>
            </a:r>
            <a:r>
              <a:rPr dirty="0" sz="1200" spc="-80">
                <a:solidFill>
                  <a:srgbClr val="CFB36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30">
                <a:solidFill>
                  <a:srgbClr val="CFB364"/>
                </a:solidFill>
                <a:latin typeface="Microsoft Sans Serif"/>
                <a:cs typeface="Microsoft Sans Serif"/>
              </a:rPr>
              <a:t>นย</a:t>
            </a:r>
            <a:r>
              <a:rPr dirty="0" sz="1200" spc="-65">
                <a:solidFill>
                  <a:srgbClr val="CFB36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5">
                <a:solidFill>
                  <a:srgbClr val="CFB364"/>
                </a:solidFill>
                <a:latin typeface="Microsoft Sans Serif"/>
                <a:cs typeface="Microsoft Sans Serif"/>
              </a:rPr>
              <a:t>า</a:t>
            </a:r>
            <a:r>
              <a:rPr dirty="0" sz="1200" spc="-45">
                <a:solidFill>
                  <a:srgbClr val="CFB364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CFB364"/>
                </a:solidFill>
                <a:latin typeface="Microsoft Sans Serif"/>
                <a:cs typeface="Microsoft Sans Serif"/>
              </a:rPr>
              <a:t>ย</a:t>
            </a:r>
            <a:r>
              <a:rPr dirty="0" sz="1200" spc="-65">
                <a:solidFill>
                  <a:srgbClr val="CFB36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75">
                <a:solidFill>
                  <a:srgbClr val="CFB364"/>
                </a:solidFill>
                <a:latin typeface="Microsoft Sans Serif"/>
                <a:cs typeface="Microsoft Sans Serif"/>
              </a:rPr>
              <a:t>น</a:t>
            </a:r>
            <a:r>
              <a:rPr dirty="0" sz="1200" spc="405">
                <a:solidFill>
                  <a:srgbClr val="CFB364"/>
                </a:solidFill>
                <a:latin typeface="Microsoft Sans Serif"/>
                <a:cs typeface="Microsoft Sans Serif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2</a:t>
            </a:r>
            <a:r>
              <a:rPr dirty="0" sz="1100" spc="-75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5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FB364"/>
                </a:solidFill>
                <a:latin typeface="Arial"/>
                <a:cs typeface="Arial"/>
              </a:rPr>
              <a:t>6</a:t>
            </a:r>
            <a:r>
              <a:rPr dirty="0" sz="1100" spc="-80" b="1">
                <a:solidFill>
                  <a:srgbClr val="CFB364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CFB364"/>
                </a:solidFill>
                <a:latin typeface="Arial"/>
                <a:cs typeface="Arial"/>
              </a:rPr>
              <a:t>9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24524" y="2257424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570509" y="2482850"/>
            <a:ext cx="7070090" cy="14331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5540"/>
              </a:lnSpc>
              <a:spcBef>
                <a:spcPts val="100"/>
              </a:spcBef>
            </a:pPr>
            <a:r>
              <a:rPr dirty="0" sz="4800"/>
              <a:t>MONOLITH</a:t>
            </a:r>
            <a:r>
              <a:rPr dirty="0" sz="4800" spc="-130"/>
              <a:t> </a:t>
            </a:r>
            <a:r>
              <a:rPr dirty="0" sz="4800">
                <a:solidFill>
                  <a:srgbClr val="C8A74B"/>
                </a:solidFill>
              </a:rPr>
              <a:t>DAPH</a:t>
            </a:r>
            <a:r>
              <a:rPr dirty="0" sz="4800" spc="-130">
                <a:solidFill>
                  <a:srgbClr val="C8A74B"/>
                </a:solidFill>
              </a:rPr>
              <a:t> </a:t>
            </a:r>
            <a:r>
              <a:rPr dirty="0" sz="4800" spc="-10">
                <a:solidFill>
                  <a:srgbClr val="C8A74B"/>
                </a:solidFill>
              </a:rPr>
              <a:t>Decor</a:t>
            </a:r>
            <a:endParaRPr sz="4800"/>
          </a:p>
          <a:p>
            <a:pPr algn="ctr">
              <a:lnSpc>
                <a:spcPts val="5540"/>
              </a:lnSpc>
            </a:pPr>
            <a:r>
              <a:rPr dirty="0" sz="4800"/>
              <a:t>AI</a:t>
            </a:r>
            <a:r>
              <a:rPr dirty="0" sz="4800" spc="-245"/>
              <a:t> </a:t>
            </a:r>
            <a:r>
              <a:rPr dirty="0" sz="4800"/>
              <a:t>Agent</a:t>
            </a:r>
            <a:r>
              <a:rPr dirty="0" sz="4800" spc="-75"/>
              <a:t> </a:t>
            </a:r>
            <a:r>
              <a:rPr dirty="0" sz="4800" spc="-10"/>
              <a:t>Programme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3384748" y="3987800"/>
            <a:ext cx="544195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FEFEFE"/>
                </a:solidFill>
                <a:latin typeface="Arial"/>
                <a:cs typeface="Arial"/>
              </a:rPr>
              <a:t>SC</a:t>
            </a:r>
            <a:r>
              <a:rPr dirty="0" sz="1650" spc="-1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EFEFE"/>
                </a:solidFill>
                <a:latin typeface="Arial"/>
                <a:cs typeface="Arial"/>
              </a:rPr>
              <a:t>Review</a:t>
            </a:r>
            <a:r>
              <a:rPr dirty="0" sz="1650" spc="-1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1650" spc="-1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EFEFE"/>
                </a:solidFill>
                <a:latin typeface="Arial"/>
                <a:cs typeface="Arial"/>
              </a:rPr>
              <a:t>Phase</a:t>
            </a:r>
            <a:r>
              <a:rPr dirty="0" sz="1650" spc="-1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EFEFE"/>
                </a:solidFill>
                <a:latin typeface="Arial"/>
                <a:cs typeface="Arial"/>
              </a:rPr>
              <a:t>1</a:t>
            </a:r>
            <a:r>
              <a:rPr dirty="0" sz="1650" spc="-1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EFEFE"/>
                </a:solidFill>
                <a:latin typeface="Arial"/>
                <a:cs typeface="Arial"/>
              </a:rPr>
              <a:t>Complete</a:t>
            </a:r>
            <a:r>
              <a:rPr dirty="0" sz="1650" spc="-1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EFEFE"/>
                </a:solidFill>
                <a:latin typeface="Arial"/>
                <a:cs typeface="Arial"/>
              </a:rPr>
              <a:t>&amp;</a:t>
            </a:r>
            <a:r>
              <a:rPr dirty="0" sz="1650" spc="-1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EFEFE"/>
                </a:solidFill>
                <a:latin typeface="Arial"/>
                <a:cs typeface="Arial"/>
              </a:rPr>
              <a:t>Phase</a:t>
            </a:r>
            <a:r>
              <a:rPr dirty="0" sz="1650" spc="-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EFEFE"/>
                </a:solidFill>
                <a:latin typeface="Arial"/>
                <a:cs typeface="Arial"/>
              </a:rPr>
              <a:t>2</a:t>
            </a:r>
            <a:r>
              <a:rPr dirty="0" sz="1650" spc="-1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EFEFE"/>
                </a:solidFill>
                <a:latin typeface="Arial"/>
                <a:cs typeface="Arial"/>
              </a:rPr>
              <a:t>Business</a:t>
            </a:r>
            <a:r>
              <a:rPr dirty="0" sz="1650" spc="-1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FEFEFE"/>
                </a:solidFill>
                <a:latin typeface="Arial"/>
                <a:cs typeface="Arial"/>
              </a:rPr>
              <a:t>Case</a:t>
            </a:r>
            <a:endParaRPr sz="16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95524" y="4705349"/>
            <a:ext cx="1647825" cy="314325"/>
          </a:xfrm>
          <a:custGeom>
            <a:avLst/>
            <a:gdLst/>
            <a:ahLst/>
            <a:cxnLst/>
            <a:rect l="l" t="t" r="r" b="b"/>
            <a:pathLst>
              <a:path w="1647825" h="314325">
                <a:moveTo>
                  <a:pt x="1490662" y="314324"/>
                </a:moveTo>
                <a:lnTo>
                  <a:pt x="157162" y="314324"/>
                </a:lnTo>
                <a:lnTo>
                  <a:pt x="149441" y="314135"/>
                </a:lnTo>
                <a:lnTo>
                  <a:pt x="111539" y="307558"/>
                </a:lnTo>
                <a:lnTo>
                  <a:pt x="76372" y="291970"/>
                </a:lnTo>
                <a:lnTo>
                  <a:pt x="46031" y="268292"/>
                </a:lnTo>
                <a:lnTo>
                  <a:pt x="22353" y="237952"/>
                </a:lnTo>
                <a:lnTo>
                  <a:pt x="6765" y="202784"/>
                </a:lnTo>
                <a:lnTo>
                  <a:pt x="188" y="164883"/>
                </a:lnTo>
                <a:lnTo>
                  <a:pt x="0" y="157162"/>
                </a:lnTo>
                <a:lnTo>
                  <a:pt x="188" y="149441"/>
                </a:lnTo>
                <a:lnTo>
                  <a:pt x="6765" y="111539"/>
                </a:lnTo>
                <a:lnTo>
                  <a:pt x="22353" y="76371"/>
                </a:lnTo>
                <a:lnTo>
                  <a:pt x="46031" y="46031"/>
                </a:lnTo>
                <a:lnTo>
                  <a:pt x="76372" y="22353"/>
                </a:lnTo>
                <a:lnTo>
                  <a:pt x="111539" y="6765"/>
                </a:lnTo>
                <a:lnTo>
                  <a:pt x="149441" y="188"/>
                </a:lnTo>
                <a:lnTo>
                  <a:pt x="157162" y="0"/>
                </a:lnTo>
                <a:lnTo>
                  <a:pt x="1490662" y="0"/>
                </a:lnTo>
                <a:lnTo>
                  <a:pt x="1528858" y="4711"/>
                </a:lnTo>
                <a:lnTo>
                  <a:pt x="1564748" y="18555"/>
                </a:lnTo>
                <a:lnTo>
                  <a:pt x="1596199" y="40705"/>
                </a:lnTo>
                <a:lnTo>
                  <a:pt x="1621337" y="69847"/>
                </a:lnTo>
                <a:lnTo>
                  <a:pt x="1638641" y="104223"/>
                </a:lnTo>
                <a:lnTo>
                  <a:pt x="1647069" y="141757"/>
                </a:lnTo>
                <a:lnTo>
                  <a:pt x="1647824" y="157162"/>
                </a:lnTo>
                <a:lnTo>
                  <a:pt x="1647635" y="164883"/>
                </a:lnTo>
                <a:lnTo>
                  <a:pt x="1641058" y="202784"/>
                </a:lnTo>
                <a:lnTo>
                  <a:pt x="1625470" y="237952"/>
                </a:lnTo>
                <a:lnTo>
                  <a:pt x="1601792" y="268292"/>
                </a:lnTo>
                <a:lnTo>
                  <a:pt x="1571452" y="291970"/>
                </a:lnTo>
                <a:lnTo>
                  <a:pt x="1536284" y="307558"/>
                </a:lnTo>
                <a:lnTo>
                  <a:pt x="1498383" y="314135"/>
                </a:lnTo>
                <a:lnTo>
                  <a:pt x="1490662" y="314324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89844" y="4749800"/>
            <a:ext cx="125666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Phase</a:t>
            </a:r>
            <a:r>
              <a:rPr dirty="0" sz="1100" spc="2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1</a:t>
            </a:r>
            <a:r>
              <a:rPr dirty="0" sz="1100" spc="2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F2D59"/>
                </a:solidFill>
                <a:latin typeface="Arial"/>
                <a:cs typeface="Arial"/>
              </a:rPr>
              <a:t>Complete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11203" y="4749800"/>
            <a:ext cx="362839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Coverage</a:t>
            </a:r>
            <a:r>
              <a:rPr dirty="0" sz="1100" spc="6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68%</a:t>
            </a:r>
            <a:r>
              <a:rPr dirty="0" sz="1100" spc="-2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Achieved</a:t>
            </a:r>
            <a:r>
              <a:rPr dirty="0" sz="1100" spc="6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 spc="-6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1100" spc="-1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AMD-004</a:t>
            </a:r>
            <a:r>
              <a:rPr dirty="0" sz="1100" spc="3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THB</a:t>
            </a:r>
            <a:r>
              <a:rPr dirty="0" sz="1100" spc="6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5.2M</a:t>
            </a:r>
            <a:r>
              <a:rPr dirty="0" sz="1100" spc="6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EFEFE"/>
                </a:solidFill>
                <a:latin typeface="Arial"/>
                <a:cs typeface="Arial"/>
              </a:rPr>
              <a:t>Delivered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05799" y="4705349"/>
            <a:ext cx="1609725" cy="314325"/>
          </a:xfrm>
          <a:custGeom>
            <a:avLst/>
            <a:gdLst/>
            <a:ahLst/>
            <a:cxnLst/>
            <a:rect l="l" t="t" r="r" b="b"/>
            <a:pathLst>
              <a:path w="1609725" h="314325">
                <a:moveTo>
                  <a:pt x="1452562" y="314324"/>
                </a:moveTo>
                <a:lnTo>
                  <a:pt x="157162" y="314324"/>
                </a:lnTo>
                <a:lnTo>
                  <a:pt x="149441" y="314135"/>
                </a:lnTo>
                <a:lnTo>
                  <a:pt x="111539" y="307558"/>
                </a:lnTo>
                <a:lnTo>
                  <a:pt x="76372" y="291970"/>
                </a:lnTo>
                <a:lnTo>
                  <a:pt x="46031" y="268292"/>
                </a:lnTo>
                <a:lnTo>
                  <a:pt x="22353" y="237952"/>
                </a:lnTo>
                <a:lnTo>
                  <a:pt x="6765" y="202784"/>
                </a:lnTo>
                <a:lnTo>
                  <a:pt x="189" y="164883"/>
                </a:lnTo>
                <a:lnTo>
                  <a:pt x="0" y="157162"/>
                </a:lnTo>
                <a:lnTo>
                  <a:pt x="189" y="149441"/>
                </a:lnTo>
                <a:lnTo>
                  <a:pt x="6765" y="111539"/>
                </a:lnTo>
                <a:lnTo>
                  <a:pt x="22353" y="76371"/>
                </a:lnTo>
                <a:lnTo>
                  <a:pt x="46031" y="46031"/>
                </a:lnTo>
                <a:lnTo>
                  <a:pt x="76372" y="22353"/>
                </a:lnTo>
                <a:lnTo>
                  <a:pt x="111539" y="6765"/>
                </a:lnTo>
                <a:lnTo>
                  <a:pt x="149441" y="188"/>
                </a:lnTo>
                <a:lnTo>
                  <a:pt x="157162" y="0"/>
                </a:lnTo>
                <a:lnTo>
                  <a:pt x="1452562" y="0"/>
                </a:lnTo>
                <a:lnTo>
                  <a:pt x="1490758" y="4711"/>
                </a:lnTo>
                <a:lnTo>
                  <a:pt x="1526648" y="18555"/>
                </a:lnTo>
                <a:lnTo>
                  <a:pt x="1558099" y="40705"/>
                </a:lnTo>
                <a:lnTo>
                  <a:pt x="1583236" y="69847"/>
                </a:lnTo>
                <a:lnTo>
                  <a:pt x="1600540" y="104223"/>
                </a:lnTo>
                <a:lnTo>
                  <a:pt x="1608968" y="141757"/>
                </a:lnTo>
                <a:lnTo>
                  <a:pt x="1609724" y="157162"/>
                </a:lnTo>
                <a:lnTo>
                  <a:pt x="1609535" y="164883"/>
                </a:lnTo>
                <a:lnTo>
                  <a:pt x="1602957" y="202784"/>
                </a:lnTo>
                <a:lnTo>
                  <a:pt x="1587369" y="237952"/>
                </a:lnTo>
                <a:lnTo>
                  <a:pt x="1563692" y="268292"/>
                </a:lnTo>
                <a:lnTo>
                  <a:pt x="1533352" y="291970"/>
                </a:lnTo>
                <a:lnTo>
                  <a:pt x="1498183" y="307558"/>
                </a:lnTo>
                <a:lnTo>
                  <a:pt x="1460283" y="314135"/>
                </a:lnTo>
                <a:lnTo>
                  <a:pt x="1452562" y="314324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504584" y="4749800"/>
            <a:ext cx="121666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Phase</a:t>
            </a:r>
            <a:r>
              <a:rPr dirty="0" sz="1100" spc="2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2</a:t>
            </a:r>
            <a:r>
              <a:rPr dirty="0" sz="1100" spc="2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F2D59"/>
                </a:solidFill>
                <a:latin typeface="Arial"/>
                <a:cs typeface="Arial"/>
              </a:rPr>
              <a:t>Proposal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70739" y="6473824"/>
            <a:ext cx="26054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60">
                <a:solidFill>
                  <a:srgbClr val="FEFEFE"/>
                </a:solidFill>
                <a:latin typeface="Arial"/>
                <a:cs typeface="Arial"/>
              </a:rPr>
              <a:t>MONOLITH</a:t>
            </a:r>
            <a:r>
              <a:rPr dirty="0" sz="900" spc="14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00" spc="50">
                <a:solidFill>
                  <a:srgbClr val="FEFEFE"/>
                </a:solidFill>
                <a:latin typeface="Arial"/>
                <a:cs typeface="Arial"/>
              </a:rPr>
              <a:t>DAPH</a:t>
            </a:r>
            <a:r>
              <a:rPr dirty="0" sz="900" spc="14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900" spc="15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00" spc="50">
                <a:solidFill>
                  <a:srgbClr val="FEFEFE"/>
                </a:solidFill>
                <a:latin typeface="Arial"/>
                <a:cs typeface="Arial"/>
              </a:rPr>
              <a:t>SOP</a:t>
            </a:r>
            <a:r>
              <a:rPr dirty="0" sz="900" spc="1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00" spc="55">
                <a:solidFill>
                  <a:srgbClr val="FEFEFE"/>
                </a:solidFill>
                <a:latin typeface="Arial"/>
                <a:cs typeface="Arial"/>
              </a:rPr>
              <a:t>v2.5</a:t>
            </a:r>
            <a:r>
              <a:rPr dirty="0" sz="900" spc="15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900" spc="15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EFEFE"/>
                </a:solidFill>
                <a:latin typeface="Arial"/>
                <a:cs typeface="Arial"/>
              </a:rPr>
              <a:t>49</a:t>
            </a:r>
            <a:r>
              <a:rPr dirty="0" sz="900" spc="15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00" spc="55">
                <a:solidFill>
                  <a:srgbClr val="FEFEFE"/>
                </a:solidFill>
                <a:latin typeface="Arial"/>
                <a:cs typeface="Arial"/>
              </a:rPr>
              <a:t>Sections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153898" y="0"/>
            <a:ext cx="50800" cy="6858000"/>
          </a:xfrm>
          <a:custGeom>
            <a:avLst/>
            <a:gdLst/>
            <a:ahLst/>
            <a:cxnLst/>
            <a:rect l="l" t="t" r="r" b="b"/>
            <a:pathLst>
              <a:path w="50800" h="6858000">
                <a:moveTo>
                  <a:pt x="50292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50292" y="0"/>
                </a:lnTo>
                <a:lnTo>
                  <a:pt x="50292" y="68579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53898" y="0"/>
            <a:ext cx="50800" cy="6858000"/>
          </a:xfrm>
          <a:custGeom>
            <a:avLst/>
            <a:gdLst/>
            <a:ahLst/>
            <a:cxnLst/>
            <a:rect l="l" t="t" r="r" b="b"/>
            <a:pathLst>
              <a:path w="50800" h="6858000">
                <a:moveTo>
                  <a:pt x="50292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50292" y="0"/>
                </a:lnTo>
                <a:lnTo>
                  <a:pt x="50292" y="68579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1"/>
            <a:ext cx="12153900" cy="6858000"/>
          </a:xfrm>
          <a:custGeom>
            <a:avLst/>
            <a:gdLst/>
            <a:ahLst/>
            <a:cxnLst/>
            <a:rect l="l" t="t" r="r" b="b"/>
            <a:pathLst>
              <a:path w="12153900" h="6858000">
                <a:moveTo>
                  <a:pt x="12153887" y="0"/>
                </a:moveTo>
                <a:lnTo>
                  <a:pt x="57137" y="0"/>
                </a:lnTo>
                <a:lnTo>
                  <a:pt x="0" y="0"/>
                </a:lnTo>
                <a:lnTo>
                  <a:pt x="0" y="6857987"/>
                </a:lnTo>
                <a:lnTo>
                  <a:pt x="57137" y="6857987"/>
                </a:lnTo>
                <a:lnTo>
                  <a:pt x="57137" y="781050"/>
                </a:lnTo>
                <a:lnTo>
                  <a:pt x="12153887" y="781050"/>
                </a:lnTo>
                <a:lnTo>
                  <a:pt x="12153887" y="0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15949" y="168275"/>
            <a:ext cx="519684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Phase 1</a:t>
            </a:r>
            <a:r>
              <a:rPr dirty="0" spc="-105"/>
              <a:t> </a:t>
            </a:r>
            <a:r>
              <a:rPr dirty="0"/>
              <a:t>Achievement </a:t>
            </a:r>
            <a:r>
              <a:rPr dirty="0" spc="-10"/>
              <a:t>Summary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58730" y="358775"/>
            <a:ext cx="3769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AMD-004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Programme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Complete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·</a:t>
            </a:r>
            <a:r>
              <a:rPr dirty="0" sz="1200" spc="-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Q3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2030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–</a:t>
            </a:r>
            <a:r>
              <a:rPr dirty="0" sz="1200" spc="-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Q2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2032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8649" y="1047750"/>
            <a:ext cx="1666875" cy="1371600"/>
            <a:chOff x="628649" y="1047750"/>
            <a:chExt cx="1666875" cy="1371600"/>
          </a:xfrm>
        </p:grpSpPr>
        <p:sp>
          <p:nvSpPr>
            <p:cNvPr id="7" name="object 7"/>
            <p:cNvSpPr/>
            <p:nvPr/>
          </p:nvSpPr>
          <p:spPr>
            <a:xfrm>
              <a:off x="628649" y="1066799"/>
              <a:ext cx="1666875" cy="1352550"/>
            </a:xfrm>
            <a:custGeom>
              <a:avLst/>
              <a:gdLst/>
              <a:ahLst/>
              <a:cxnLst/>
              <a:rect l="l" t="t" r="r" b="b"/>
              <a:pathLst>
                <a:path w="1666875" h="1352550">
                  <a:moveTo>
                    <a:pt x="1595678" y="1352549"/>
                  </a:moveTo>
                  <a:lnTo>
                    <a:pt x="71196" y="1352549"/>
                  </a:lnTo>
                  <a:lnTo>
                    <a:pt x="66241" y="1352061"/>
                  </a:lnTo>
                  <a:lnTo>
                    <a:pt x="29705" y="1336927"/>
                  </a:lnTo>
                  <a:lnTo>
                    <a:pt x="3885" y="1300887"/>
                  </a:lnTo>
                  <a:lnTo>
                    <a:pt x="0" y="1281353"/>
                  </a:lnTo>
                  <a:lnTo>
                    <a:pt x="0" y="12763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1595678" y="0"/>
                  </a:lnTo>
                  <a:lnTo>
                    <a:pt x="1637169" y="11716"/>
                  </a:lnTo>
                  <a:lnTo>
                    <a:pt x="1664434" y="42320"/>
                  </a:lnTo>
                  <a:lnTo>
                    <a:pt x="1666874" y="53397"/>
                  </a:lnTo>
                  <a:lnTo>
                    <a:pt x="1666874" y="1281353"/>
                  </a:lnTo>
                  <a:lnTo>
                    <a:pt x="1651252" y="1322844"/>
                  </a:lnTo>
                  <a:lnTo>
                    <a:pt x="1615212" y="1348663"/>
                  </a:lnTo>
                  <a:lnTo>
                    <a:pt x="1600633" y="1352061"/>
                  </a:lnTo>
                  <a:lnTo>
                    <a:pt x="1595678" y="135254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28927" y="1047750"/>
              <a:ext cx="1666875" cy="70485"/>
            </a:xfrm>
            <a:custGeom>
              <a:avLst/>
              <a:gdLst/>
              <a:ahLst/>
              <a:cxnLst/>
              <a:rect l="l" t="t" r="r" b="b"/>
              <a:pathLst>
                <a:path w="1666875" h="70484">
                  <a:moveTo>
                    <a:pt x="0" y="70449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1590397" y="0"/>
                  </a:lnTo>
                  <a:lnTo>
                    <a:pt x="1632739" y="12829"/>
                  </a:lnTo>
                  <a:lnTo>
                    <a:pt x="1656306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49"/>
                  </a:lnTo>
                  <a:close/>
                </a:path>
                <a:path w="1666875" h="70484">
                  <a:moveTo>
                    <a:pt x="1666319" y="70449"/>
                  </a:moveTo>
                  <a:lnTo>
                    <a:pt x="1632739" y="44514"/>
                  </a:lnTo>
                  <a:lnTo>
                    <a:pt x="1590397" y="38099"/>
                  </a:lnTo>
                  <a:lnTo>
                    <a:pt x="1656306" y="38099"/>
                  </a:lnTo>
                  <a:lnTo>
                    <a:pt x="1666234" y="68693"/>
                  </a:lnTo>
                  <a:lnTo>
                    <a:pt x="1666319" y="70449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42615" y="1052048"/>
            <a:ext cx="1234440" cy="852805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1165"/>
              </a:spcBef>
            </a:pPr>
            <a:r>
              <a:rPr dirty="0" sz="3300" spc="-25" b="1">
                <a:solidFill>
                  <a:srgbClr val="1F2D59"/>
                </a:solidFill>
                <a:latin typeface="Arial"/>
                <a:cs typeface="Arial"/>
              </a:rPr>
              <a:t>56</a:t>
            </a:r>
            <a:r>
              <a:rPr dirty="0" sz="1650" spc="-25" b="1">
                <a:solidFill>
                  <a:srgbClr val="1F2D59"/>
                </a:solidFill>
                <a:latin typeface="Arial"/>
                <a:cs typeface="Arial"/>
              </a:rPr>
              <a:t>%</a:t>
            </a:r>
            <a:endParaRPr sz="16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dirty="0" sz="950" spc="10" b="1">
                <a:solidFill>
                  <a:srgbClr val="666666"/>
                </a:solidFill>
                <a:latin typeface="Arial"/>
                <a:cs typeface="Arial"/>
              </a:rPr>
              <a:t>COVERAGE</a:t>
            </a:r>
            <a:r>
              <a:rPr dirty="0" sz="950" spc="350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666666"/>
                </a:solidFill>
                <a:latin typeface="Arial"/>
                <a:cs typeface="Arial"/>
              </a:rPr>
              <a:t>START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86024" y="1047750"/>
            <a:ext cx="1666875" cy="1371600"/>
            <a:chOff x="2486024" y="1047750"/>
            <a:chExt cx="1666875" cy="1371600"/>
          </a:xfrm>
        </p:grpSpPr>
        <p:sp>
          <p:nvSpPr>
            <p:cNvPr id="11" name="object 11"/>
            <p:cNvSpPr/>
            <p:nvPr/>
          </p:nvSpPr>
          <p:spPr>
            <a:xfrm>
              <a:off x="2486024" y="1066799"/>
              <a:ext cx="1666875" cy="1352550"/>
            </a:xfrm>
            <a:custGeom>
              <a:avLst/>
              <a:gdLst/>
              <a:ahLst/>
              <a:cxnLst/>
              <a:rect l="l" t="t" r="r" b="b"/>
              <a:pathLst>
                <a:path w="1666875" h="1352550">
                  <a:moveTo>
                    <a:pt x="1595678" y="1352549"/>
                  </a:moveTo>
                  <a:lnTo>
                    <a:pt x="71196" y="1352549"/>
                  </a:lnTo>
                  <a:lnTo>
                    <a:pt x="66241" y="1352061"/>
                  </a:lnTo>
                  <a:lnTo>
                    <a:pt x="29705" y="1336927"/>
                  </a:lnTo>
                  <a:lnTo>
                    <a:pt x="3885" y="1300887"/>
                  </a:lnTo>
                  <a:lnTo>
                    <a:pt x="0" y="1281353"/>
                  </a:lnTo>
                  <a:lnTo>
                    <a:pt x="0" y="12763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1595678" y="0"/>
                  </a:lnTo>
                  <a:lnTo>
                    <a:pt x="1637169" y="11716"/>
                  </a:lnTo>
                  <a:lnTo>
                    <a:pt x="1664434" y="42320"/>
                  </a:lnTo>
                  <a:lnTo>
                    <a:pt x="1666875" y="53397"/>
                  </a:lnTo>
                  <a:lnTo>
                    <a:pt x="1666875" y="1281353"/>
                  </a:lnTo>
                  <a:lnTo>
                    <a:pt x="1651253" y="1322844"/>
                  </a:lnTo>
                  <a:lnTo>
                    <a:pt x="1615212" y="1348663"/>
                  </a:lnTo>
                  <a:lnTo>
                    <a:pt x="1600633" y="1352061"/>
                  </a:lnTo>
                  <a:lnTo>
                    <a:pt x="1595678" y="135254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86302" y="1047750"/>
              <a:ext cx="1666875" cy="70485"/>
            </a:xfrm>
            <a:custGeom>
              <a:avLst/>
              <a:gdLst/>
              <a:ahLst/>
              <a:cxnLst/>
              <a:rect l="l" t="t" r="r" b="b"/>
              <a:pathLst>
                <a:path w="1666875" h="70484">
                  <a:moveTo>
                    <a:pt x="0" y="70450"/>
                  </a:moveTo>
                  <a:lnTo>
                    <a:pt x="12551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1590397" y="0"/>
                  </a:lnTo>
                  <a:lnTo>
                    <a:pt x="1632739" y="12829"/>
                  </a:lnTo>
                  <a:lnTo>
                    <a:pt x="1656306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50"/>
                  </a:lnTo>
                  <a:close/>
                </a:path>
                <a:path w="1666875" h="70484">
                  <a:moveTo>
                    <a:pt x="1666319" y="70450"/>
                  </a:moveTo>
                  <a:lnTo>
                    <a:pt x="1632739" y="44514"/>
                  </a:lnTo>
                  <a:lnTo>
                    <a:pt x="1590397" y="38099"/>
                  </a:lnTo>
                  <a:lnTo>
                    <a:pt x="1656306" y="38099"/>
                  </a:lnTo>
                  <a:lnTo>
                    <a:pt x="1666234" y="68693"/>
                  </a:lnTo>
                  <a:lnTo>
                    <a:pt x="1666319" y="70450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933352" y="1052048"/>
            <a:ext cx="767715" cy="99568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59690">
              <a:lnSpc>
                <a:spcPct val="100000"/>
              </a:lnSpc>
              <a:spcBef>
                <a:spcPts val="1165"/>
              </a:spcBef>
            </a:pPr>
            <a:r>
              <a:rPr dirty="0" sz="3300" spc="-25" b="1">
                <a:solidFill>
                  <a:srgbClr val="C8A74B"/>
                </a:solidFill>
                <a:latin typeface="Arial"/>
                <a:cs typeface="Arial"/>
              </a:rPr>
              <a:t>68</a:t>
            </a:r>
            <a:r>
              <a:rPr dirty="0" sz="1650" spc="-25" b="1">
                <a:solidFill>
                  <a:srgbClr val="C8A74B"/>
                </a:solidFill>
                <a:latin typeface="Arial"/>
                <a:cs typeface="Arial"/>
              </a:rPr>
              <a:t>%</a:t>
            </a:r>
            <a:endParaRPr sz="1650">
              <a:latin typeface="Arial"/>
              <a:cs typeface="Arial"/>
            </a:endParaRPr>
          </a:p>
          <a:p>
            <a:pPr marL="46990" marR="5080" indent="-34925">
              <a:lnSpc>
                <a:spcPts val="1130"/>
              </a:lnSpc>
              <a:spcBef>
                <a:spcPts val="385"/>
              </a:spcBef>
            </a:pPr>
            <a:r>
              <a:rPr dirty="0" sz="950" spc="-10" b="1">
                <a:solidFill>
                  <a:srgbClr val="666666"/>
                </a:solidFill>
                <a:latin typeface="Arial"/>
                <a:cs typeface="Arial"/>
              </a:rPr>
              <a:t>COVERAGE ACHIEVED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43399" y="1047750"/>
            <a:ext cx="1666875" cy="1371600"/>
            <a:chOff x="4343399" y="1047750"/>
            <a:chExt cx="1666875" cy="1371600"/>
          </a:xfrm>
        </p:grpSpPr>
        <p:sp>
          <p:nvSpPr>
            <p:cNvPr id="15" name="object 15"/>
            <p:cNvSpPr/>
            <p:nvPr/>
          </p:nvSpPr>
          <p:spPr>
            <a:xfrm>
              <a:off x="4343399" y="1066799"/>
              <a:ext cx="1666875" cy="1352550"/>
            </a:xfrm>
            <a:custGeom>
              <a:avLst/>
              <a:gdLst/>
              <a:ahLst/>
              <a:cxnLst/>
              <a:rect l="l" t="t" r="r" b="b"/>
              <a:pathLst>
                <a:path w="1666875" h="1352550">
                  <a:moveTo>
                    <a:pt x="1595677" y="1352549"/>
                  </a:moveTo>
                  <a:lnTo>
                    <a:pt x="71196" y="1352549"/>
                  </a:lnTo>
                  <a:lnTo>
                    <a:pt x="66241" y="1352061"/>
                  </a:lnTo>
                  <a:lnTo>
                    <a:pt x="29705" y="1336927"/>
                  </a:lnTo>
                  <a:lnTo>
                    <a:pt x="3885" y="1300887"/>
                  </a:lnTo>
                  <a:lnTo>
                    <a:pt x="0" y="1281353"/>
                  </a:lnTo>
                  <a:lnTo>
                    <a:pt x="0" y="12763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1595677" y="0"/>
                  </a:lnTo>
                  <a:lnTo>
                    <a:pt x="1637169" y="11716"/>
                  </a:lnTo>
                  <a:lnTo>
                    <a:pt x="1664434" y="42320"/>
                  </a:lnTo>
                  <a:lnTo>
                    <a:pt x="1666875" y="53397"/>
                  </a:lnTo>
                  <a:lnTo>
                    <a:pt x="1666875" y="1281353"/>
                  </a:lnTo>
                  <a:lnTo>
                    <a:pt x="1651252" y="1322844"/>
                  </a:lnTo>
                  <a:lnTo>
                    <a:pt x="1615212" y="1348663"/>
                  </a:lnTo>
                  <a:lnTo>
                    <a:pt x="1600633" y="1352061"/>
                  </a:lnTo>
                  <a:lnTo>
                    <a:pt x="1595677" y="135254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43677" y="1047750"/>
              <a:ext cx="1666875" cy="70485"/>
            </a:xfrm>
            <a:custGeom>
              <a:avLst/>
              <a:gdLst/>
              <a:ahLst/>
              <a:cxnLst/>
              <a:rect l="l" t="t" r="r" b="b"/>
              <a:pathLst>
                <a:path w="1666875" h="70484">
                  <a:moveTo>
                    <a:pt x="0" y="70449"/>
                  </a:moveTo>
                  <a:lnTo>
                    <a:pt x="12551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1590397" y="0"/>
                  </a:lnTo>
                  <a:lnTo>
                    <a:pt x="1632738" y="12829"/>
                  </a:lnTo>
                  <a:lnTo>
                    <a:pt x="1656305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49"/>
                  </a:lnTo>
                  <a:close/>
                </a:path>
                <a:path w="1666875" h="70484">
                  <a:moveTo>
                    <a:pt x="1666319" y="70449"/>
                  </a:moveTo>
                  <a:lnTo>
                    <a:pt x="1632738" y="44514"/>
                  </a:lnTo>
                  <a:lnTo>
                    <a:pt x="1590397" y="38099"/>
                  </a:lnTo>
                  <a:lnTo>
                    <a:pt x="1656305" y="38099"/>
                  </a:lnTo>
                  <a:lnTo>
                    <a:pt x="1666234" y="68693"/>
                  </a:lnTo>
                  <a:lnTo>
                    <a:pt x="1666319" y="70449"/>
                  </a:lnTo>
                  <a:close/>
                </a:path>
              </a:pathLst>
            </a:custGeom>
            <a:solidFill>
              <a:srgbClr val="26AE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687291" y="1052048"/>
            <a:ext cx="974725" cy="852805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1165"/>
              </a:spcBef>
            </a:pPr>
            <a:r>
              <a:rPr dirty="0" sz="3300" spc="-50" b="1">
                <a:solidFill>
                  <a:srgbClr val="26AE60"/>
                </a:solidFill>
                <a:latin typeface="Arial"/>
                <a:cs typeface="Arial"/>
              </a:rPr>
              <a:t>6</a:t>
            </a:r>
            <a:endParaRPr sz="3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dirty="0" sz="950" b="1">
                <a:solidFill>
                  <a:srgbClr val="666666"/>
                </a:solidFill>
                <a:latin typeface="Arial"/>
                <a:cs typeface="Arial"/>
              </a:rPr>
              <a:t>GAPS</a:t>
            </a:r>
            <a:r>
              <a:rPr dirty="0" sz="950" spc="235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666666"/>
                </a:solidFill>
                <a:latin typeface="Arial"/>
                <a:cs typeface="Arial"/>
              </a:rPr>
              <a:t>CLOSED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00774" y="1047750"/>
            <a:ext cx="1666875" cy="1371600"/>
            <a:chOff x="6200774" y="1047750"/>
            <a:chExt cx="1666875" cy="1371600"/>
          </a:xfrm>
        </p:grpSpPr>
        <p:sp>
          <p:nvSpPr>
            <p:cNvPr id="19" name="object 19"/>
            <p:cNvSpPr/>
            <p:nvPr/>
          </p:nvSpPr>
          <p:spPr>
            <a:xfrm>
              <a:off x="6200774" y="1066799"/>
              <a:ext cx="1666875" cy="1352550"/>
            </a:xfrm>
            <a:custGeom>
              <a:avLst/>
              <a:gdLst/>
              <a:ahLst/>
              <a:cxnLst/>
              <a:rect l="l" t="t" r="r" b="b"/>
              <a:pathLst>
                <a:path w="1666875" h="1352550">
                  <a:moveTo>
                    <a:pt x="1595678" y="1352549"/>
                  </a:moveTo>
                  <a:lnTo>
                    <a:pt x="71196" y="1352549"/>
                  </a:lnTo>
                  <a:lnTo>
                    <a:pt x="66240" y="1352061"/>
                  </a:lnTo>
                  <a:lnTo>
                    <a:pt x="29705" y="1336927"/>
                  </a:lnTo>
                  <a:lnTo>
                    <a:pt x="3885" y="1300887"/>
                  </a:lnTo>
                  <a:lnTo>
                    <a:pt x="0" y="1281353"/>
                  </a:lnTo>
                  <a:lnTo>
                    <a:pt x="0" y="12763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1595678" y="0"/>
                  </a:lnTo>
                  <a:lnTo>
                    <a:pt x="1637167" y="11716"/>
                  </a:lnTo>
                  <a:lnTo>
                    <a:pt x="1664433" y="42320"/>
                  </a:lnTo>
                  <a:lnTo>
                    <a:pt x="1666874" y="53397"/>
                  </a:lnTo>
                  <a:lnTo>
                    <a:pt x="1666874" y="1281353"/>
                  </a:lnTo>
                  <a:lnTo>
                    <a:pt x="1651252" y="1322844"/>
                  </a:lnTo>
                  <a:lnTo>
                    <a:pt x="1615211" y="1348663"/>
                  </a:lnTo>
                  <a:lnTo>
                    <a:pt x="1600632" y="1352061"/>
                  </a:lnTo>
                  <a:lnTo>
                    <a:pt x="1595678" y="135254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201052" y="1047750"/>
              <a:ext cx="1666875" cy="70485"/>
            </a:xfrm>
            <a:custGeom>
              <a:avLst/>
              <a:gdLst/>
              <a:ahLst/>
              <a:cxnLst/>
              <a:rect l="l" t="t" r="r" b="b"/>
              <a:pathLst>
                <a:path w="1666875" h="70484">
                  <a:moveTo>
                    <a:pt x="0" y="70450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1590397" y="0"/>
                  </a:lnTo>
                  <a:lnTo>
                    <a:pt x="1632738" y="12829"/>
                  </a:lnTo>
                  <a:lnTo>
                    <a:pt x="1656305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50"/>
                  </a:lnTo>
                  <a:close/>
                </a:path>
                <a:path w="1666875" h="70484">
                  <a:moveTo>
                    <a:pt x="1666319" y="70450"/>
                  </a:moveTo>
                  <a:lnTo>
                    <a:pt x="1632738" y="44514"/>
                  </a:lnTo>
                  <a:lnTo>
                    <a:pt x="1590397" y="38099"/>
                  </a:lnTo>
                  <a:lnTo>
                    <a:pt x="1656305" y="38099"/>
                  </a:lnTo>
                  <a:lnTo>
                    <a:pt x="1666234" y="68693"/>
                  </a:lnTo>
                  <a:lnTo>
                    <a:pt x="1666319" y="70450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406554" y="1052048"/>
            <a:ext cx="1250315" cy="852805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1165"/>
              </a:spcBef>
            </a:pPr>
            <a:r>
              <a:rPr dirty="0" sz="3300" spc="-25" b="1">
                <a:solidFill>
                  <a:srgbClr val="1F2D59"/>
                </a:solidFill>
                <a:latin typeface="Arial"/>
                <a:cs typeface="Arial"/>
              </a:rPr>
              <a:t>28</a:t>
            </a:r>
            <a:endParaRPr sz="3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dirty="0" sz="950" b="1">
                <a:solidFill>
                  <a:srgbClr val="666666"/>
                </a:solidFill>
                <a:latin typeface="Arial"/>
                <a:cs typeface="Arial"/>
              </a:rPr>
              <a:t>AI</a:t>
            </a:r>
            <a:r>
              <a:rPr dirty="0" sz="950" spc="200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666666"/>
                </a:solidFill>
                <a:latin typeface="Arial"/>
                <a:cs typeface="Arial"/>
              </a:rPr>
              <a:t>AGENTS</a:t>
            </a:r>
            <a:r>
              <a:rPr dirty="0" sz="950" spc="204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666666"/>
                </a:solidFill>
                <a:latin typeface="Arial"/>
                <a:cs typeface="Arial"/>
              </a:rPr>
              <a:t>ACTIVE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058149" y="1047750"/>
            <a:ext cx="1666875" cy="1371600"/>
            <a:chOff x="8058149" y="1047750"/>
            <a:chExt cx="1666875" cy="1371600"/>
          </a:xfrm>
        </p:grpSpPr>
        <p:sp>
          <p:nvSpPr>
            <p:cNvPr id="23" name="object 23"/>
            <p:cNvSpPr/>
            <p:nvPr/>
          </p:nvSpPr>
          <p:spPr>
            <a:xfrm>
              <a:off x="8058149" y="1066799"/>
              <a:ext cx="1666875" cy="1352550"/>
            </a:xfrm>
            <a:custGeom>
              <a:avLst/>
              <a:gdLst/>
              <a:ahLst/>
              <a:cxnLst/>
              <a:rect l="l" t="t" r="r" b="b"/>
              <a:pathLst>
                <a:path w="1666875" h="1352550">
                  <a:moveTo>
                    <a:pt x="1595678" y="1352549"/>
                  </a:moveTo>
                  <a:lnTo>
                    <a:pt x="71196" y="1352549"/>
                  </a:lnTo>
                  <a:lnTo>
                    <a:pt x="66240" y="1352061"/>
                  </a:lnTo>
                  <a:lnTo>
                    <a:pt x="29705" y="1336927"/>
                  </a:lnTo>
                  <a:lnTo>
                    <a:pt x="3885" y="1300887"/>
                  </a:lnTo>
                  <a:lnTo>
                    <a:pt x="0" y="1281353"/>
                  </a:lnTo>
                  <a:lnTo>
                    <a:pt x="0" y="12763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1595678" y="0"/>
                  </a:lnTo>
                  <a:lnTo>
                    <a:pt x="1637168" y="11716"/>
                  </a:lnTo>
                  <a:lnTo>
                    <a:pt x="1664433" y="42320"/>
                  </a:lnTo>
                  <a:lnTo>
                    <a:pt x="1666874" y="53397"/>
                  </a:lnTo>
                  <a:lnTo>
                    <a:pt x="1666874" y="1281353"/>
                  </a:lnTo>
                  <a:lnTo>
                    <a:pt x="1651251" y="1322844"/>
                  </a:lnTo>
                  <a:lnTo>
                    <a:pt x="1615211" y="1348663"/>
                  </a:lnTo>
                  <a:lnTo>
                    <a:pt x="1600632" y="1352061"/>
                  </a:lnTo>
                  <a:lnTo>
                    <a:pt x="1595678" y="135254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058427" y="1047750"/>
              <a:ext cx="1666875" cy="70485"/>
            </a:xfrm>
            <a:custGeom>
              <a:avLst/>
              <a:gdLst/>
              <a:ahLst/>
              <a:cxnLst/>
              <a:rect l="l" t="t" r="r" b="b"/>
              <a:pathLst>
                <a:path w="1666875" h="70484">
                  <a:moveTo>
                    <a:pt x="0" y="70450"/>
                  </a:moveTo>
                  <a:lnTo>
                    <a:pt x="12551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1590397" y="0"/>
                  </a:lnTo>
                  <a:lnTo>
                    <a:pt x="1632738" y="12829"/>
                  </a:lnTo>
                  <a:lnTo>
                    <a:pt x="1656305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1666875" h="70484">
                  <a:moveTo>
                    <a:pt x="1666319" y="70450"/>
                  </a:moveTo>
                  <a:lnTo>
                    <a:pt x="1632738" y="44514"/>
                  </a:lnTo>
                  <a:lnTo>
                    <a:pt x="1590397" y="38099"/>
                  </a:lnTo>
                  <a:lnTo>
                    <a:pt x="1656305" y="38099"/>
                  </a:lnTo>
                  <a:lnTo>
                    <a:pt x="1666234" y="68693"/>
                  </a:lnTo>
                  <a:lnTo>
                    <a:pt x="1666319" y="70450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385819" y="1216025"/>
            <a:ext cx="1007110" cy="102171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ctr" marL="166370" marR="154305">
              <a:lnSpc>
                <a:spcPts val="2400"/>
              </a:lnSpc>
              <a:spcBef>
                <a:spcPts val="580"/>
              </a:spcBef>
            </a:pPr>
            <a:r>
              <a:rPr dirty="0" sz="2400" spc="-25" b="1">
                <a:solidFill>
                  <a:srgbClr val="1F2D59"/>
                </a:solidFill>
                <a:latin typeface="Arial"/>
                <a:cs typeface="Arial"/>
              </a:rPr>
              <a:t>THB </a:t>
            </a:r>
            <a:r>
              <a:rPr dirty="0" sz="2400" spc="-20" b="1">
                <a:solidFill>
                  <a:srgbClr val="1F2D59"/>
                </a:solidFill>
                <a:latin typeface="Arial"/>
                <a:cs typeface="Arial"/>
              </a:rPr>
              <a:t>5.2M</a:t>
            </a:r>
            <a:endParaRPr sz="2400">
              <a:latin typeface="Arial"/>
              <a:cs typeface="Arial"/>
            </a:endParaRPr>
          </a:p>
          <a:p>
            <a:pPr algn="ctr" marL="12700" marR="5080">
              <a:lnSpc>
                <a:spcPts val="1130"/>
              </a:lnSpc>
              <a:spcBef>
                <a:spcPts val="340"/>
              </a:spcBef>
            </a:pPr>
            <a:r>
              <a:rPr dirty="0" sz="950" spc="10" b="1">
                <a:solidFill>
                  <a:srgbClr val="666666"/>
                </a:solidFill>
                <a:latin typeface="Arial"/>
                <a:cs typeface="Arial"/>
              </a:rPr>
              <a:t>DELIVERED</a:t>
            </a:r>
            <a:r>
              <a:rPr dirty="0" sz="950" spc="385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35" b="1">
                <a:solidFill>
                  <a:srgbClr val="666666"/>
                </a:solidFill>
                <a:latin typeface="Arial"/>
                <a:cs typeface="Arial"/>
              </a:rPr>
              <a:t>ON </a:t>
            </a:r>
            <a:r>
              <a:rPr dirty="0" sz="950" spc="-10" b="1">
                <a:solidFill>
                  <a:srgbClr val="666666"/>
                </a:solidFill>
                <a:latin typeface="Arial"/>
                <a:cs typeface="Arial"/>
              </a:rPr>
              <a:t>BUDGET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915523" y="1047750"/>
            <a:ext cx="1666875" cy="1371600"/>
            <a:chOff x="9915523" y="1047750"/>
            <a:chExt cx="1666875" cy="1371600"/>
          </a:xfrm>
        </p:grpSpPr>
        <p:sp>
          <p:nvSpPr>
            <p:cNvPr id="27" name="object 27"/>
            <p:cNvSpPr/>
            <p:nvPr/>
          </p:nvSpPr>
          <p:spPr>
            <a:xfrm>
              <a:off x="9915523" y="1066799"/>
              <a:ext cx="1666875" cy="1352550"/>
            </a:xfrm>
            <a:custGeom>
              <a:avLst/>
              <a:gdLst/>
              <a:ahLst/>
              <a:cxnLst/>
              <a:rect l="l" t="t" r="r" b="b"/>
              <a:pathLst>
                <a:path w="1666875" h="1352550">
                  <a:moveTo>
                    <a:pt x="1595679" y="1352549"/>
                  </a:moveTo>
                  <a:lnTo>
                    <a:pt x="71197" y="1352549"/>
                  </a:lnTo>
                  <a:lnTo>
                    <a:pt x="66242" y="1352061"/>
                  </a:lnTo>
                  <a:lnTo>
                    <a:pt x="29705" y="1336927"/>
                  </a:lnTo>
                  <a:lnTo>
                    <a:pt x="3884" y="1300887"/>
                  </a:lnTo>
                  <a:lnTo>
                    <a:pt x="0" y="1281353"/>
                  </a:lnTo>
                  <a:lnTo>
                    <a:pt x="1" y="12763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7" y="0"/>
                  </a:lnTo>
                  <a:lnTo>
                    <a:pt x="1595679" y="0"/>
                  </a:lnTo>
                  <a:lnTo>
                    <a:pt x="1637168" y="11716"/>
                  </a:lnTo>
                  <a:lnTo>
                    <a:pt x="1664433" y="42320"/>
                  </a:lnTo>
                  <a:lnTo>
                    <a:pt x="1666874" y="53397"/>
                  </a:lnTo>
                  <a:lnTo>
                    <a:pt x="1666874" y="1281353"/>
                  </a:lnTo>
                  <a:lnTo>
                    <a:pt x="1651252" y="1322844"/>
                  </a:lnTo>
                  <a:lnTo>
                    <a:pt x="1615212" y="1348663"/>
                  </a:lnTo>
                  <a:lnTo>
                    <a:pt x="1600633" y="1352061"/>
                  </a:lnTo>
                  <a:lnTo>
                    <a:pt x="1595679" y="135254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915802" y="1047750"/>
              <a:ext cx="1666875" cy="70485"/>
            </a:xfrm>
            <a:custGeom>
              <a:avLst/>
              <a:gdLst/>
              <a:ahLst/>
              <a:cxnLst/>
              <a:rect l="l" t="t" r="r" b="b"/>
              <a:pathLst>
                <a:path w="1666875" h="70484">
                  <a:moveTo>
                    <a:pt x="0" y="70450"/>
                  </a:moveTo>
                  <a:lnTo>
                    <a:pt x="12550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1590397" y="0"/>
                  </a:lnTo>
                  <a:lnTo>
                    <a:pt x="1632738" y="12829"/>
                  </a:lnTo>
                  <a:lnTo>
                    <a:pt x="1656305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3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1666875" h="70484">
                  <a:moveTo>
                    <a:pt x="1666319" y="70450"/>
                  </a:moveTo>
                  <a:lnTo>
                    <a:pt x="1632738" y="44514"/>
                  </a:lnTo>
                  <a:lnTo>
                    <a:pt x="1590397" y="38099"/>
                  </a:lnTo>
                  <a:lnTo>
                    <a:pt x="1656305" y="38099"/>
                  </a:lnTo>
                  <a:lnTo>
                    <a:pt x="1666234" y="68693"/>
                  </a:lnTo>
                  <a:lnTo>
                    <a:pt x="1666319" y="70450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0244235" y="1052048"/>
            <a:ext cx="1004569" cy="852805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1165"/>
              </a:spcBef>
            </a:pPr>
            <a:r>
              <a:rPr dirty="0" sz="3300" spc="-25" b="1">
                <a:solidFill>
                  <a:srgbClr val="1F2D59"/>
                </a:solidFill>
                <a:latin typeface="Arial"/>
                <a:cs typeface="Arial"/>
              </a:rPr>
              <a:t>49</a:t>
            </a:r>
            <a:endParaRPr sz="3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dirty="0" sz="950" b="1">
                <a:solidFill>
                  <a:srgbClr val="666666"/>
                </a:solidFill>
                <a:latin typeface="Arial"/>
                <a:cs typeface="Arial"/>
              </a:rPr>
              <a:t>SOP</a:t>
            </a:r>
            <a:r>
              <a:rPr dirty="0" sz="950" spc="170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666666"/>
                </a:solidFill>
                <a:latin typeface="Arial"/>
                <a:cs typeface="Arial"/>
              </a:rPr>
              <a:t>SECTIONS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28649" y="2647949"/>
            <a:ext cx="1714500" cy="733425"/>
            <a:chOff x="628649" y="2647949"/>
            <a:chExt cx="1714500" cy="733425"/>
          </a:xfrm>
        </p:grpSpPr>
        <p:sp>
          <p:nvSpPr>
            <p:cNvPr id="31" name="object 31"/>
            <p:cNvSpPr/>
            <p:nvPr/>
          </p:nvSpPr>
          <p:spPr>
            <a:xfrm>
              <a:off x="633412" y="2652712"/>
              <a:ext cx="1704975" cy="723900"/>
            </a:xfrm>
            <a:custGeom>
              <a:avLst/>
              <a:gdLst/>
              <a:ahLst/>
              <a:cxnLst/>
              <a:rect l="l" t="t" r="r" b="b"/>
              <a:pathLst>
                <a:path w="1704975" h="723900">
                  <a:moveTo>
                    <a:pt x="1656027" y="723899"/>
                  </a:moveTo>
                  <a:lnTo>
                    <a:pt x="48947" y="723899"/>
                  </a:lnTo>
                  <a:lnTo>
                    <a:pt x="45540" y="723564"/>
                  </a:lnTo>
                  <a:lnTo>
                    <a:pt x="10739" y="703477"/>
                  </a:lnTo>
                  <a:lnTo>
                    <a:pt x="0" y="674952"/>
                  </a:lnTo>
                  <a:lnTo>
                    <a:pt x="0" y="6715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656027" y="0"/>
                  </a:lnTo>
                  <a:lnTo>
                    <a:pt x="1692063" y="17775"/>
                  </a:lnTo>
                  <a:lnTo>
                    <a:pt x="1704974" y="48947"/>
                  </a:lnTo>
                  <a:lnTo>
                    <a:pt x="1704974" y="674952"/>
                  </a:lnTo>
                  <a:lnTo>
                    <a:pt x="1687198" y="710987"/>
                  </a:lnTo>
                  <a:lnTo>
                    <a:pt x="1659433" y="723563"/>
                  </a:lnTo>
                  <a:lnTo>
                    <a:pt x="1656027" y="723899"/>
                  </a:lnTo>
                  <a:close/>
                </a:path>
              </a:pathLst>
            </a:custGeom>
            <a:solidFill>
              <a:srgbClr val="E7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33412" y="2652712"/>
              <a:ext cx="1704975" cy="723900"/>
            </a:xfrm>
            <a:custGeom>
              <a:avLst/>
              <a:gdLst/>
              <a:ahLst/>
              <a:cxnLst/>
              <a:rect l="l" t="t" r="r" b="b"/>
              <a:pathLst>
                <a:path w="1704975" h="723900">
                  <a:moveTo>
                    <a:pt x="0" y="6715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652587" y="0"/>
                  </a:lnTo>
                  <a:lnTo>
                    <a:pt x="1656027" y="0"/>
                  </a:lnTo>
                  <a:lnTo>
                    <a:pt x="1659433" y="335"/>
                  </a:lnTo>
                  <a:lnTo>
                    <a:pt x="1681692" y="8828"/>
                  </a:lnTo>
                  <a:lnTo>
                    <a:pt x="1684552" y="10739"/>
                  </a:lnTo>
                  <a:lnTo>
                    <a:pt x="1687198" y="12911"/>
                  </a:lnTo>
                  <a:lnTo>
                    <a:pt x="1689630" y="15343"/>
                  </a:lnTo>
                  <a:lnTo>
                    <a:pt x="1692063" y="17775"/>
                  </a:lnTo>
                  <a:lnTo>
                    <a:pt x="1694234" y="20422"/>
                  </a:lnTo>
                  <a:lnTo>
                    <a:pt x="1696145" y="23282"/>
                  </a:lnTo>
                  <a:lnTo>
                    <a:pt x="1698056" y="26142"/>
                  </a:lnTo>
                  <a:lnTo>
                    <a:pt x="1699670" y="29161"/>
                  </a:lnTo>
                  <a:lnTo>
                    <a:pt x="1700986" y="32339"/>
                  </a:lnTo>
                  <a:lnTo>
                    <a:pt x="1702303" y="35517"/>
                  </a:lnTo>
                  <a:lnTo>
                    <a:pt x="1704974" y="52387"/>
                  </a:lnTo>
                  <a:lnTo>
                    <a:pt x="1704974" y="671512"/>
                  </a:lnTo>
                  <a:lnTo>
                    <a:pt x="1689630" y="708555"/>
                  </a:lnTo>
                  <a:lnTo>
                    <a:pt x="1681692" y="715070"/>
                  </a:lnTo>
                  <a:lnTo>
                    <a:pt x="1678832" y="716981"/>
                  </a:lnTo>
                  <a:lnTo>
                    <a:pt x="1652587" y="723899"/>
                  </a:lnTo>
                  <a:lnTo>
                    <a:pt x="52387" y="723899"/>
                  </a:lnTo>
                  <a:lnTo>
                    <a:pt x="23282" y="715070"/>
                  </a:lnTo>
                  <a:lnTo>
                    <a:pt x="20422" y="713159"/>
                  </a:lnTo>
                  <a:lnTo>
                    <a:pt x="17776" y="710987"/>
                  </a:lnTo>
                  <a:lnTo>
                    <a:pt x="15343" y="708555"/>
                  </a:lnTo>
                  <a:lnTo>
                    <a:pt x="12911" y="706123"/>
                  </a:lnTo>
                  <a:lnTo>
                    <a:pt x="3987" y="691559"/>
                  </a:lnTo>
                  <a:lnTo>
                    <a:pt x="2671" y="688381"/>
                  </a:lnTo>
                  <a:lnTo>
                    <a:pt x="1677" y="685105"/>
                  </a:lnTo>
                  <a:lnTo>
                    <a:pt x="1006" y="681732"/>
                  </a:lnTo>
                  <a:lnTo>
                    <a:pt x="335" y="678358"/>
                  </a:lnTo>
                  <a:lnTo>
                    <a:pt x="0" y="674952"/>
                  </a:lnTo>
                  <a:lnTo>
                    <a:pt x="0" y="671512"/>
                  </a:lnTo>
                  <a:close/>
                </a:path>
              </a:pathLst>
            </a:custGeom>
            <a:ln w="9524">
              <a:solidFill>
                <a:srgbClr val="26AE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066452" y="2672397"/>
            <a:ext cx="838835" cy="60198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1350" b="1">
                <a:solidFill>
                  <a:srgbClr val="26AE60"/>
                </a:solidFill>
                <a:latin typeface="Arial"/>
                <a:cs typeface="Arial"/>
              </a:rPr>
              <a:t>GAP-</a:t>
            </a:r>
            <a:r>
              <a:rPr dirty="0" sz="1350" spc="-25" b="1">
                <a:solidFill>
                  <a:srgbClr val="26AE60"/>
                </a:solidFill>
                <a:latin typeface="Arial"/>
                <a:cs typeface="Arial"/>
              </a:rPr>
              <a:t>01</a:t>
            </a:r>
            <a:endParaRPr sz="1350">
              <a:latin typeface="Arial"/>
              <a:cs typeface="Arial"/>
            </a:endParaRPr>
          </a:p>
          <a:p>
            <a:pPr algn="ctr" marL="12700" marR="5080">
              <a:lnSpc>
                <a:spcPct val="111100"/>
              </a:lnSpc>
              <a:spcBef>
                <a:spcPts val="135"/>
              </a:spcBef>
            </a:pPr>
            <a:r>
              <a:rPr dirty="0" sz="900">
                <a:solidFill>
                  <a:srgbClr val="444444"/>
                </a:solidFill>
                <a:latin typeface="Arial"/>
                <a:cs typeface="Arial"/>
              </a:rPr>
              <a:t>Biophilic </a:t>
            </a:r>
            <a:r>
              <a:rPr dirty="0" sz="900" spc="-10">
                <a:solidFill>
                  <a:srgbClr val="444444"/>
                </a:solidFill>
                <a:latin typeface="Arial"/>
                <a:cs typeface="Arial"/>
              </a:rPr>
              <a:t>Design </a:t>
            </a:r>
            <a:r>
              <a:rPr dirty="0" sz="900">
                <a:solidFill>
                  <a:srgbClr val="444444"/>
                </a:solidFill>
                <a:latin typeface="Arial"/>
                <a:cs typeface="Arial"/>
              </a:rPr>
              <a:t>Pillar </a:t>
            </a:r>
            <a:r>
              <a:rPr dirty="0" sz="900" spc="-50">
                <a:solidFill>
                  <a:srgbClr val="444444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476499" y="2647949"/>
            <a:ext cx="1714500" cy="733425"/>
            <a:chOff x="2476499" y="2647949"/>
            <a:chExt cx="1714500" cy="733425"/>
          </a:xfrm>
        </p:grpSpPr>
        <p:sp>
          <p:nvSpPr>
            <p:cNvPr id="35" name="object 35"/>
            <p:cNvSpPr/>
            <p:nvPr/>
          </p:nvSpPr>
          <p:spPr>
            <a:xfrm>
              <a:off x="2481262" y="2652712"/>
              <a:ext cx="1704975" cy="723900"/>
            </a:xfrm>
            <a:custGeom>
              <a:avLst/>
              <a:gdLst/>
              <a:ahLst/>
              <a:cxnLst/>
              <a:rect l="l" t="t" r="r" b="b"/>
              <a:pathLst>
                <a:path w="1704975" h="723900">
                  <a:moveTo>
                    <a:pt x="1656027" y="723899"/>
                  </a:moveTo>
                  <a:lnTo>
                    <a:pt x="48947" y="723899"/>
                  </a:lnTo>
                  <a:lnTo>
                    <a:pt x="45541" y="723564"/>
                  </a:lnTo>
                  <a:lnTo>
                    <a:pt x="10739" y="703477"/>
                  </a:lnTo>
                  <a:lnTo>
                    <a:pt x="0" y="674952"/>
                  </a:lnTo>
                  <a:lnTo>
                    <a:pt x="0" y="6715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656027" y="0"/>
                  </a:lnTo>
                  <a:lnTo>
                    <a:pt x="1692063" y="17775"/>
                  </a:lnTo>
                  <a:lnTo>
                    <a:pt x="1704974" y="48947"/>
                  </a:lnTo>
                  <a:lnTo>
                    <a:pt x="1704974" y="674952"/>
                  </a:lnTo>
                  <a:lnTo>
                    <a:pt x="1687198" y="710987"/>
                  </a:lnTo>
                  <a:lnTo>
                    <a:pt x="1659434" y="723563"/>
                  </a:lnTo>
                  <a:lnTo>
                    <a:pt x="1656027" y="723899"/>
                  </a:lnTo>
                  <a:close/>
                </a:path>
              </a:pathLst>
            </a:custGeom>
            <a:solidFill>
              <a:srgbClr val="E7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481262" y="2652712"/>
              <a:ext cx="1704975" cy="723900"/>
            </a:xfrm>
            <a:custGeom>
              <a:avLst/>
              <a:gdLst/>
              <a:ahLst/>
              <a:cxnLst/>
              <a:rect l="l" t="t" r="r" b="b"/>
              <a:pathLst>
                <a:path w="1704975" h="723900">
                  <a:moveTo>
                    <a:pt x="0" y="6715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652587" y="0"/>
                  </a:lnTo>
                  <a:lnTo>
                    <a:pt x="1656027" y="0"/>
                  </a:lnTo>
                  <a:lnTo>
                    <a:pt x="1659434" y="335"/>
                  </a:lnTo>
                  <a:lnTo>
                    <a:pt x="1681691" y="8828"/>
                  </a:lnTo>
                  <a:lnTo>
                    <a:pt x="1684552" y="10739"/>
                  </a:lnTo>
                  <a:lnTo>
                    <a:pt x="1687198" y="12911"/>
                  </a:lnTo>
                  <a:lnTo>
                    <a:pt x="1689631" y="15343"/>
                  </a:lnTo>
                  <a:lnTo>
                    <a:pt x="1692063" y="17775"/>
                  </a:lnTo>
                  <a:lnTo>
                    <a:pt x="1704975" y="52387"/>
                  </a:lnTo>
                  <a:lnTo>
                    <a:pt x="1704975" y="671512"/>
                  </a:lnTo>
                  <a:lnTo>
                    <a:pt x="1689631" y="708555"/>
                  </a:lnTo>
                  <a:lnTo>
                    <a:pt x="1681692" y="715070"/>
                  </a:lnTo>
                  <a:lnTo>
                    <a:pt x="1678831" y="716981"/>
                  </a:lnTo>
                  <a:lnTo>
                    <a:pt x="1652587" y="723899"/>
                  </a:lnTo>
                  <a:lnTo>
                    <a:pt x="52387" y="723899"/>
                  </a:lnTo>
                  <a:lnTo>
                    <a:pt x="23282" y="715070"/>
                  </a:lnTo>
                  <a:lnTo>
                    <a:pt x="20422" y="713159"/>
                  </a:lnTo>
                  <a:lnTo>
                    <a:pt x="8828" y="700617"/>
                  </a:lnTo>
                  <a:lnTo>
                    <a:pt x="6917" y="697756"/>
                  </a:lnTo>
                  <a:lnTo>
                    <a:pt x="1006" y="681732"/>
                  </a:lnTo>
                  <a:lnTo>
                    <a:pt x="335" y="678358"/>
                  </a:lnTo>
                  <a:lnTo>
                    <a:pt x="0" y="674952"/>
                  </a:lnTo>
                  <a:lnTo>
                    <a:pt x="0" y="671512"/>
                  </a:lnTo>
                  <a:close/>
                </a:path>
              </a:pathLst>
            </a:custGeom>
            <a:ln w="9524">
              <a:solidFill>
                <a:srgbClr val="26AE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2949277" y="2672397"/>
            <a:ext cx="768985" cy="60198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1350" b="1">
                <a:solidFill>
                  <a:srgbClr val="26AE60"/>
                </a:solidFill>
                <a:latin typeface="Arial"/>
                <a:cs typeface="Arial"/>
              </a:rPr>
              <a:t>GAP-</a:t>
            </a:r>
            <a:r>
              <a:rPr dirty="0" sz="1350" spc="-25" b="1">
                <a:solidFill>
                  <a:srgbClr val="26AE60"/>
                </a:solidFill>
                <a:latin typeface="Arial"/>
                <a:cs typeface="Arial"/>
              </a:rPr>
              <a:t>02</a:t>
            </a:r>
            <a:endParaRPr sz="1350">
              <a:latin typeface="Arial"/>
              <a:cs typeface="Arial"/>
            </a:endParaRPr>
          </a:p>
          <a:p>
            <a:pPr algn="ctr" marL="12700" marR="5080">
              <a:lnSpc>
                <a:spcPct val="111100"/>
              </a:lnSpc>
              <a:spcBef>
                <a:spcPts val="135"/>
              </a:spcBef>
            </a:pPr>
            <a:r>
              <a:rPr dirty="0" sz="900">
                <a:solidFill>
                  <a:srgbClr val="444444"/>
                </a:solidFill>
                <a:latin typeface="Arial"/>
                <a:cs typeface="Arial"/>
              </a:rPr>
              <a:t>Design </a:t>
            </a:r>
            <a:r>
              <a:rPr dirty="0" sz="900" spc="-10">
                <a:solidFill>
                  <a:srgbClr val="444444"/>
                </a:solidFill>
                <a:latin typeface="Arial"/>
                <a:cs typeface="Arial"/>
              </a:rPr>
              <a:t>Freeze </a:t>
            </a:r>
            <a:r>
              <a:rPr dirty="0" sz="900" spc="-20">
                <a:solidFill>
                  <a:srgbClr val="444444"/>
                </a:solidFill>
                <a:latin typeface="Arial"/>
                <a:cs typeface="Arial"/>
              </a:rPr>
              <a:t>Gate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324349" y="2647949"/>
            <a:ext cx="1714500" cy="733425"/>
            <a:chOff x="4324349" y="2647949"/>
            <a:chExt cx="1714500" cy="733425"/>
          </a:xfrm>
        </p:grpSpPr>
        <p:sp>
          <p:nvSpPr>
            <p:cNvPr id="39" name="object 39"/>
            <p:cNvSpPr/>
            <p:nvPr/>
          </p:nvSpPr>
          <p:spPr>
            <a:xfrm>
              <a:off x="4329111" y="2652712"/>
              <a:ext cx="1704975" cy="723900"/>
            </a:xfrm>
            <a:custGeom>
              <a:avLst/>
              <a:gdLst/>
              <a:ahLst/>
              <a:cxnLst/>
              <a:rect l="l" t="t" r="r" b="b"/>
              <a:pathLst>
                <a:path w="1704975" h="723900">
                  <a:moveTo>
                    <a:pt x="1656027" y="723899"/>
                  </a:moveTo>
                  <a:lnTo>
                    <a:pt x="48947" y="723899"/>
                  </a:lnTo>
                  <a:lnTo>
                    <a:pt x="45540" y="723564"/>
                  </a:lnTo>
                  <a:lnTo>
                    <a:pt x="10739" y="703477"/>
                  </a:lnTo>
                  <a:lnTo>
                    <a:pt x="0" y="674952"/>
                  </a:lnTo>
                  <a:lnTo>
                    <a:pt x="0" y="671512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1656027" y="0"/>
                  </a:lnTo>
                  <a:lnTo>
                    <a:pt x="1692063" y="17775"/>
                  </a:lnTo>
                  <a:lnTo>
                    <a:pt x="1704974" y="48947"/>
                  </a:lnTo>
                  <a:lnTo>
                    <a:pt x="1704974" y="674952"/>
                  </a:lnTo>
                  <a:lnTo>
                    <a:pt x="1687197" y="710987"/>
                  </a:lnTo>
                  <a:lnTo>
                    <a:pt x="1659433" y="723563"/>
                  </a:lnTo>
                  <a:lnTo>
                    <a:pt x="1656027" y="723899"/>
                  </a:lnTo>
                  <a:close/>
                </a:path>
              </a:pathLst>
            </a:custGeom>
            <a:solidFill>
              <a:srgbClr val="E7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329111" y="2652712"/>
              <a:ext cx="1704975" cy="723900"/>
            </a:xfrm>
            <a:custGeom>
              <a:avLst/>
              <a:gdLst/>
              <a:ahLst/>
              <a:cxnLst/>
              <a:rect l="l" t="t" r="r" b="b"/>
              <a:pathLst>
                <a:path w="1704975" h="723900">
                  <a:moveTo>
                    <a:pt x="0" y="6715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0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20421" y="10739"/>
                  </a:lnTo>
                  <a:lnTo>
                    <a:pt x="23281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652587" y="0"/>
                  </a:lnTo>
                  <a:lnTo>
                    <a:pt x="1656027" y="0"/>
                  </a:lnTo>
                  <a:lnTo>
                    <a:pt x="1659433" y="335"/>
                  </a:lnTo>
                  <a:lnTo>
                    <a:pt x="1694234" y="20422"/>
                  </a:lnTo>
                  <a:lnTo>
                    <a:pt x="1696145" y="23282"/>
                  </a:lnTo>
                  <a:lnTo>
                    <a:pt x="1698056" y="26142"/>
                  </a:lnTo>
                  <a:lnTo>
                    <a:pt x="1699670" y="29161"/>
                  </a:lnTo>
                  <a:lnTo>
                    <a:pt x="1700986" y="32339"/>
                  </a:lnTo>
                  <a:lnTo>
                    <a:pt x="1702303" y="35517"/>
                  </a:lnTo>
                  <a:lnTo>
                    <a:pt x="1703296" y="38793"/>
                  </a:lnTo>
                  <a:lnTo>
                    <a:pt x="1703967" y="42166"/>
                  </a:lnTo>
                  <a:lnTo>
                    <a:pt x="1704639" y="45540"/>
                  </a:lnTo>
                  <a:lnTo>
                    <a:pt x="1704974" y="48947"/>
                  </a:lnTo>
                  <a:lnTo>
                    <a:pt x="1704975" y="52387"/>
                  </a:lnTo>
                  <a:lnTo>
                    <a:pt x="1704975" y="671512"/>
                  </a:lnTo>
                  <a:lnTo>
                    <a:pt x="1704974" y="674952"/>
                  </a:lnTo>
                  <a:lnTo>
                    <a:pt x="1704639" y="678358"/>
                  </a:lnTo>
                  <a:lnTo>
                    <a:pt x="1703967" y="681732"/>
                  </a:lnTo>
                  <a:lnTo>
                    <a:pt x="1703296" y="685105"/>
                  </a:lnTo>
                  <a:lnTo>
                    <a:pt x="1702303" y="688381"/>
                  </a:lnTo>
                  <a:lnTo>
                    <a:pt x="1700986" y="691559"/>
                  </a:lnTo>
                  <a:lnTo>
                    <a:pt x="1699670" y="694737"/>
                  </a:lnTo>
                  <a:lnTo>
                    <a:pt x="1698056" y="697756"/>
                  </a:lnTo>
                  <a:lnTo>
                    <a:pt x="1696144" y="700617"/>
                  </a:lnTo>
                  <a:lnTo>
                    <a:pt x="1694234" y="703477"/>
                  </a:lnTo>
                  <a:lnTo>
                    <a:pt x="1659433" y="723563"/>
                  </a:lnTo>
                  <a:lnTo>
                    <a:pt x="1652587" y="723899"/>
                  </a:lnTo>
                  <a:lnTo>
                    <a:pt x="52387" y="723899"/>
                  </a:lnTo>
                  <a:lnTo>
                    <a:pt x="23281" y="715070"/>
                  </a:lnTo>
                  <a:lnTo>
                    <a:pt x="20421" y="713159"/>
                  </a:lnTo>
                  <a:lnTo>
                    <a:pt x="17775" y="710987"/>
                  </a:lnTo>
                  <a:lnTo>
                    <a:pt x="15343" y="708555"/>
                  </a:lnTo>
                  <a:lnTo>
                    <a:pt x="12911" y="706123"/>
                  </a:lnTo>
                  <a:lnTo>
                    <a:pt x="1006" y="681732"/>
                  </a:lnTo>
                  <a:lnTo>
                    <a:pt x="335" y="678358"/>
                  </a:lnTo>
                  <a:lnTo>
                    <a:pt x="0" y="674952"/>
                  </a:lnTo>
                  <a:lnTo>
                    <a:pt x="0" y="671512"/>
                  </a:lnTo>
                  <a:close/>
                </a:path>
              </a:pathLst>
            </a:custGeom>
            <a:ln w="9524">
              <a:solidFill>
                <a:srgbClr val="26AE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4778226" y="2672397"/>
            <a:ext cx="807085" cy="60198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1350" b="1">
                <a:solidFill>
                  <a:srgbClr val="26AE60"/>
                </a:solidFill>
                <a:latin typeface="Arial"/>
                <a:cs typeface="Arial"/>
              </a:rPr>
              <a:t>GAP-</a:t>
            </a:r>
            <a:r>
              <a:rPr dirty="0" sz="1350" spc="-25" b="1">
                <a:solidFill>
                  <a:srgbClr val="26AE60"/>
                </a:solidFill>
                <a:latin typeface="Arial"/>
                <a:cs typeface="Arial"/>
              </a:rPr>
              <a:t>03</a:t>
            </a:r>
            <a:endParaRPr sz="1350">
              <a:latin typeface="Arial"/>
              <a:cs typeface="Arial"/>
            </a:endParaRPr>
          </a:p>
          <a:p>
            <a:pPr algn="ctr" marL="12700" marR="5080" indent="-635">
              <a:lnSpc>
                <a:spcPct val="111100"/>
              </a:lnSpc>
              <a:spcBef>
                <a:spcPts val="135"/>
              </a:spcBef>
            </a:pPr>
            <a:r>
              <a:rPr dirty="0" sz="900" spc="-10">
                <a:solidFill>
                  <a:srgbClr val="444444"/>
                </a:solidFill>
                <a:latin typeface="Arial"/>
                <a:cs typeface="Arial"/>
              </a:rPr>
              <a:t>Sensory Commissioning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172198" y="2647949"/>
            <a:ext cx="1714500" cy="733425"/>
            <a:chOff x="6172198" y="2647949"/>
            <a:chExt cx="1714500" cy="733425"/>
          </a:xfrm>
        </p:grpSpPr>
        <p:sp>
          <p:nvSpPr>
            <p:cNvPr id="43" name="object 43"/>
            <p:cNvSpPr/>
            <p:nvPr/>
          </p:nvSpPr>
          <p:spPr>
            <a:xfrm>
              <a:off x="6176961" y="2652712"/>
              <a:ext cx="1704975" cy="723900"/>
            </a:xfrm>
            <a:custGeom>
              <a:avLst/>
              <a:gdLst/>
              <a:ahLst/>
              <a:cxnLst/>
              <a:rect l="l" t="t" r="r" b="b"/>
              <a:pathLst>
                <a:path w="1704975" h="723900">
                  <a:moveTo>
                    <a:pt x="1656027" y="723899"/>
                  </a:moveTo>
                  <a:lnTo>
                    <a:pt x="48948" y="723899"/>
                  </a:lnTo>
                  <a:lnTo>
                    <a:pt x="45540" y="723564"/>
                  </a:lnTo>
                  <a:lnTo>
                    <a:pt x="10739" y="703477"/>
                  </a:lnTo>
                  <a:lnTo>
                    <a:pt x="0" y="674952"/>
                  </a:lnTo>
                  <a:lnTo>
                    <a:pt x="0" y="6715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8" y="0"/>
                  </a:lnTo>
                  <a:lnTo>
                    <a:pt x="1656027" y="0"/>
                  </a:lnTo>
                  <a:lnTo>
                    <a:pt x="1692062" y="17775"/>
                  </a:lnTo>
                  <a:lnTo>
                    <a:pt x="1704974" y="48947"/>
                  </a:lnTo>
                  <a:lnTo>
                    <a:pt x="1704974" y="674952"/>
                  </a:lnTo>
                  <a:lnTo>
                    <a:pt x="1687198" y="710987"/>
                  </a:lnTo>
                  <a:lnTo>
                    <a:pt x="1659434" y="723563"/>
                  </a:lnTo>
                  <a:lnTo>
                    <a:pt x="1656027" y="723899"/>
                  </a:lnTo>
                  <a:close/>
                </a:path>
              </a:pathLst>
            </a:custGeom>
            <a:solidFill>
              <a:srgbClr val="E7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176961" y="2652712"/>
              <a:ext cx="1704975" cy="723900"/>
            </a:xfrm>
            <a:custGeom>
              <a:avLst/>
              <a:gdLst/>
              <a:ahLst/>
              <a:cxnLst/>
              <a:rect l="l" t="t" r="r" b="b"/>
              <a:pathLst>
                <a:path w="1704975" h="723900">
                  <a:moveTo>
                    <a:pt x="0" y="6715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0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0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0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2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1652587" y="0"/>
                  </a:lnTo>
                  <a:lnTo>
                    <a:pt x="1656027" y="0"/>
                  </a:lnTo>
                  <a:lnTo>
                    <a:pt x="1659434" y="335"/>
                  </a:lnTo>
                  <a:lnTo>
                    <a:pt x="1694234" y="20422"/>
                  </a:lnTo>
                  <a:lnTo>
                    <a:pt x="1704975" y="52387"/>
                  </a:lnTo>
                  <a:lnTo>
                    <a:pt x="1704975" y="671512"/>
                  </a:lnTo>
                  <a:lnTo>
                    <a:pt x="1689631" y="708555"/>
                  </a:lnTo>
                  <a:lnTo>
                    <a:pt x="1681691" y="715070"/>
                  </a:lnTo>
                  <a:lnTo>
                    <a:pt x="1678831" y="716981"/>
                  </a:lnTo>
                  <a:lnTo>
                    <a:pt x="1652587" y="723899"/>
                  </a:lnTo>
                  <a:lnTo>
                    <a:pt x="52388" y="723899"/>
                  </a:lnTo>
                  <a:lnTo>
                    <a:pt x="48948" y="723899"/>
                  </a:lnTo>
                  <a:lnTo>
                    <a:pt x="45540" y="723564"/>
                  </a:lnTo>
                  <a:lnTo>
                    <a:pt x="42167" y="722893"/>
                  </a:lnTo>
                  <a:lnTo>
                    <a:pt x="38792" y="722221"/>
                  </a:lnTo>
                  <a:lnTo>
                    <a:pt x="35517" y="721227"/>
                  </a:lnTo>
                  <a:lnTo>
                    <a:pt x="32339" y="719911"/>
                  </a:lnTo>
                  <a:lnTo>
                    <a:pt x="29160" y="718594"/>
                  </a:lnTo>
                  <a:lnTo>
                    <a:pt x="26142" y="716981"/>
                  </a:lnTo>
                  <a:lnTo>
                    <a:pt x="23282" y="715070"/>
                  </a:lnTo>
                  <a:lnTo>
                    <a:pt x="20422" y="713159"/>
                  </a:lnTo>
                  <a:lnTo>
                    <a:pt x="17776" y="710987"/>
                  </a:lnTo>
                  <a:lnTo>
                    <a:pt x="15343" y="708555"/>
                  </a:lnTo>
                  <a:lnTo>
                    <a:pt x="12910" y="706123"/>
                  </a:lnTo>
                  <a:lnTo>
                    <a:pt x="3987" y="691559"/>
                  </a:lnTo>
                  <a:lnTo>
                    <a:pt x="2670" y="688381"/>
                  </a:lnTo>
                  <a:lnTo>
                    <a:pt x="1677" y="685105"/>
                  </a:lnTo>
                  <a:lnTo>
                    <a:pt x="1006" y="681732"/>
                  </a:lnTo>
                  <a:lnTo>
                    <a:pt x="335" y="678358"/>
                  </a:lnTo>
                  <a:lnTo>
                    <a:pt x="0" y="674952"/>
                  </a:lnTo>
                  <a:lnTo>
                    <a:pt x="0" y="671512"/>
                  </a:lnTo>
                  <a:close/>
                </a:path>
              </a:pathLst>
            </a:custGeom>
            <a:ln w="9524">
              <a:solidFill>
                <a:srgbClr val="26AE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6597352" y="2672397"/>
            <a:ext cx="864235" cy="60198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1350" b="1">
                <a:solidFill>
                  <a:srgbClr val="26AE60"/>
                </a:solidFill>
                <a:latin typeface="Arial"/>
                <a:cs typeface="Arial"/>
              </a:rPr>
              <a:t>GAP-</a:t>
            </a:r>
            <a:r>
              <a:rPr dirty="0" sz="1350" spc="-25" b="1">
                <a:solidFill>
                  <a:srgbClr val="26AE60"/>
                </a:solidFill>
                <a:latin typeface="Arial"/>
                <a:cs typeface="Arial"/>
              </a:rPr>
              <a:t>04</a:t>
            </a:r>
            <a:endParaRPr sz="1350">
              <a:latin typeface="Arial"/>
              <a:cs typeface="Arial"/>
            </a:endParaRPr>
          </a:p>
          <a:p>
            <a:pPr algn="ctr" marL="12700" marR="5080">
              <a:lnSpc>
                <a:spcPct val="111100"/>
              </a:lnSpc>
              <a:spcBef>
                <a:spcPts val="135"/>
              </a:spcBef>
            </a:pPr>
            <a:r>
              <a:rPr dirty="0" sz="900">
                <a:solidFill>
                  <a:srgbClr val="444444"/>
                </a:solidFill>
                <a:latin typeface="Arial"/>
                <a:cs typeface="Arial"/>
              </a:rPr>
              <a:t>Post-</a:t>
            </a:r>
            <a:r>
              <a:rPr dirty="0" sz="900" spc="-10">
                <a:solidFill>
                  <a:srgbClr val="444444"/>
                </a:solidFill>
                <a:latin typeface="Arial"/>
                <a:cs typeface="Arial"/>
              </a:rPr>
              <a:t>Occupancy Evaluation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020048" y="2647949"/>
            <a:ext cx="1714500" cy="733425"/>
            <a:chOff x="8020048" y="2647949"/>
            <a:chExt cx="1714500" cy="733425"/>
          </a:xfrm>
        </p:grpSpPr>
        <p:sp>
          <p:nvSpPr>
            <p:cNvPr id="47" name="object 47"/>
            <p:cNvSpPr/>
            <p:nvPr/>
          </p:nvSpPr>
          <p:spPr>
            <a:xfrm>
              <a:off x="8024810" y="2652712"/>
              <a:ext cx="1704975" cy="723900"/>
            </a:xfrm>
            <a:custGeom>
              <a:avLst/>
              <a:gdLst/>
              <a:ahLst/>
              <a:cxnLst/>
              <a:rect l="l" t="t" r="r" b="b"/>
              <a:pathLst>
                <a:path w="1704975" h="723900">
                  <a:moveTo>
                    <a:pt x="1656027" y="723899"/>
                  </a:moveTo>
                  <a:lnTo>
                    <a:pt x="48948" y="723899"/>
                  </a:lnTo>
                  <a:lnTo>
                    <a:pt x="45540" y="723564"/>
                  </a:lnTo>
                  <a:lnTo>
                    <a:pt x="10738" y="703477"/>
                  </a:lnTo>
                  <a:lnTo>
                    <a:pt x="0" y="674952"/>
                  </a:lnTo>
                  <a:lnTo>
                    <a:pt x="0" y="671512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8" y="0"/>
                  </a:lnTo>
                  <a:lnTo>
                    <a:pt x="1656027" y="0"/>
                  </a:lnTo>
                  <a:lnTo>
                    <a:pt x="1692063" y="17775"/>
                  </a:lnTo>
                  <a:lnTo>
                    <a:pt x="1704974" y="48947"/>
                  </a:lnTo>
                  <a:lnTo>
                    <a:pt x="1704974" y="674952"/>
                  </a:lnTo>
                  <a:lnTo>
                    <a:pt x="1687198" y="710987"/>
                  </a:lnTo>
                  <a:lnTo>
                    <a:pt x="1659434" y="723563"/>
                  </a:lnTo>
                  <a:lnTo>
                    <a:pt x="1656027" y="723899"/>
                  </a:lnTo>
                  <a:close/>
                </a:path>
              </a:pathLst>
            </a:custGeom>
            <a:solidFill>
              <a:srgbClr val="E7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024810" y="2652712"/>
              <a:ext cx="1704975" cy="723900"/>
            </a:xfrm>
            <a:custGeom>
              <a:avLst/>
              <a:gdLst/>
              <a:ahLst/>
              <a:cxnLst/>
              <a:rect l="l" t="t" r="r" b="b"/>
              <a:pathLst>
                <a:path w="1704975" h="723900">
                  <a:moveTo>
                    <a:pt x="0" y="6715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6" y="38793"/>
                  </a:lnTo>
                  <a:lnTo>
                    <a:pt x="2670" y="35517"/>
                  </a:lnTo>
                  <a:lnTo>
                    <a:pt x="3986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7" y="23282"/>
                  </a:lnTo>
                  <a:lnTo>
                    <a:pt x="10738" y="20422"/>
                  </a:lnTo>
                  <a:lnTo>
                    <a:pt x="12910" y="17775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20421" y="10739"/>
                  </a:lnTo>
                  <a:lnTo>
                    <a:pt x="23281" y="8828"/>
                  </a:lnTo>
                  <a:lnTo>
                    <a:pt x="26141" y="6917"/>
                  </a:lnTo>
                  <a:lnTo>
                    <a:pt x="29160" y="5303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1652587" y="0"/>
                  </a:lnTo>
                  <a:lnTo>
                    <a:pt x="1656027" y="0"/>
                  </a:lnTo>
                  <a:lnTo>
                    <a:pt x="1659434" y="335"/>
                  </a:lnTo>
                  <a:lnTo>
                    <a:pt x="1694234" y="20422"/>
                  </a:lnTo>
                  <a:lnTo>
                    <a:pt x="1696145" y="23282"/>
                  </a:lnTo>
                  <a:lnTo>
                    <a:pt x="1698056" y="26142"/>
                  </a:lnTo>
                  <a:lnTo>
                    <a:pt x="1703967" y="42166"/>
                  </a:lnTo>
                  <a:lnTo>
                    <a:pt x="1704639" y="45540"/>
                  </a:lnTo>
                  <a:lnTo>
                    <a:pt x="1704974" y="48947"/>
                  </a:lnTo>
                  <a:lnTo>
                    <a:pt x="1704975" y="52387"/>
                  </a:lnTo>
                  <a:lnTo>
                    <a:pt x="1704975" y="671512"/>
                  </a:lnTo>
                  <a:lnTo>
                    <a:pt x="1704974" y="674952"/>
                  </a:lnTo>
                  <a:lnTo>
                    <a:pt x="1704639" y="678358"/>
                  </a:lnTo>
                  <a:lnTo>
                    <a:pt x="1703967" y="681732"/>
                  </a:lnTo>
                  <a:lnTo>
                    <a:pt x="1703297" y="685105"/>
                  </a:lnTo>
                  <a:lnTo>
                    <a:pt x="1696145" y="700617"/>
                  </a:lnTo>
                  <a:lnTo>
                    <a:pt x="1694234" y="703477"/>
                  </a:lnTo>
                  <a:lnTo>
                    <a:pt x="1659434" y="723563"/>
                  </a:lnTo>
                  <a:lnTo>
                    <a:pt x="1652587" y="723899"/>
                  </a:lnTo>
                  <a:lnTo>
                    <a:pt x="52388" y="723899"/>
                  </a:lnTo>
                  <a:lnTo>
                    <a:pt x="32338" y="719911"/>
                  </a:lnTo>
                  <a:lnTo>
                    <a:pt x="29160" y="718594"/>
                  </a:lnTo>
                  <a:lnTo>
                    <a:pt x="26141" y="716981"/>
                  </a:lnTo>
                  <a:lnTo>
                    <a:pt x="23281" y="715070"/>
                  </a:lnTo>
                  <a:lnTo>
                    <a:pt x="20421" y="713159"/>
                  </a:lnTo>
                  <a:lnTo>
                    <a:pt x="17775" y="710987"/>
                  </a:lnTo>
                  <a:lnTo>
                    <a:pt x="15343" y="708555"/>
                  </a:lnTo>
                  <a:lnTo>
                    <a:pt x="12910" y="706123"/>
                  </a:lnTo>
                  <a:lnTo>
                    <a:pt x="3986" y="691559"/>
                  </a:lnTo>
                  <a:lnTo>
                    <a:pt x="2670" y="688381"/>
                  </a:lnTo>
                  <a:lnTo>
                    <a:pt x="1676" y="685105"/>
                  </a:lnTo>
                  <a:lnTo>
                    <a:pt x="1006" y="681732"/>
                  </a:lnTo>
                  <a:lnTo>
                    <a:pt x="335" y="678358"/>
                  </a:lnTo>
                  <a:lnTo>
                    <a:pt x="0" y="674952"/>
                  </a:lnTo>
                  <a:lnTo>
                    <a:pt x="0" y="671512"/>
                  </a:lnTo>
                  <a:close/>
                </a:path>
              </a:pathLst>
            </a:custGeom>
            <a:ln w="9524">
              <a:solidFill>
                <a:srgbClr val="26AE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457852" y="2672397"/>
            <a:ext cx="838835" cy="60198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1350" b="1">
                <a:solidFill>
                  <a:srgbClr val="26AE60"/>
                </a:solidFill>
                <a:latin typeface="Arial"/>
                <a:cs typeface="Arial"/>
              </a:rPr>
              <a:t>GAP-</a:t>
            </a:r>
            <a:r>
              <a:rPr dirty="0" sz="1350" spc="-25" b="1">
                <a:solidFill>
                  <a:srgbClr val="26AE60"/>
                </a:solidFill>
                <a:latin typeface="Arial"/>
                <a:cs typeface="Arial"/>
              </a:rPr>
              <a:t>07</a:t>
            </a:r>
            <a:endParaRPr sz="1350">
              <a:latin typeface="Arial"/>
              <a:cs typeface="Arial"/>
            </a:endParaRPr>
          </a:p>
          <a:p>
            <a:pPr algn="ctr" marL="12700" marR="5080">
              <a:lnSpc>
                <a:spcPct val="111100"/>
              </a:lnSpc>
              <a:spcBef>
                <a:spcPts val="135"/>
              </a:spcBef>
            </a:pPr>
            <a:r>
              <a:rPr dirty="0" sz="900">
                <a:solidFill>
                  <a:srgbClr val="444444"/>
                </a:solidFill>
                <a:latin typeface="Arial"/>
                <a:cs typeface="Arial"/>
              </a:rPr>
              <a:t>SC </a:t>
            </a:r>
            <a:r>
              <a:rPr dirty="0" sz="900" spc="-10">
                <a:solidFill>
                  <a:srgbClr val="444444"/>
                </a:solidFill>
                <a:latin typeface="Arial"/>
                <a:cs typeface="Arial"/>
              </a:rPr>
              <a:t>Governance Module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9867899" y="2647949"/>
            <a:ext cx="1714500" cy="733425"/>
            <a:chOff x="9867899" y="2647949"/>
            <a:chExt cx="1714500" cy="733425"/>
          </a:xfrm>
        </p:grpSpPr>
        <p:sp>
          <p:nvSpPr>
            <p:cNvPr id="51" name="object 51"/>
            <p:cNvSpPr/>
            <p:nvPr/>
          </p:nvSpPr>
          <p:spPr>
            <a:xfrm>
              <a:off x="9872661" y="2652712"/>
              <a:ext cx="1704975" cy="723900"/>
            </a:xfrm>
            <a:custGeom>
              <a:avLst/>
              <a:gdLst/>
              <a:ahLst/>
              <a:cxnLst/>
              <a:rect l="l" t="t" r="r" b="b"/>
              <a:pathLst>
                <a:path w="1704975" h="723900">
                  <a:moveTo>
                    <a:pt x="1656027" y="723899"/>
                  </a:moveTo>
                  <a:lnTo>
                    <a:pt x="48946" y="723899"/>
                  </a:lnTo>
                  <a:lnTo>
                    <a:pt x="45540" y="723564"/>
                  </a:lnTo>
                  <a:lnTo>
                    <a:pt x="10738" y="703477"/>
                  </a:lnTo>
                  <a:lnTo>
                    <a:pt x="0" y="674952"/>
                  </a:lnTo>
                  <a:lnTo>
                    <a:pt x="0" y="671512"/>
                  </a:lnTo>
                  <a:lnTo>
                    <a:pt x="0" y="48947"/>
                  </a:lnTo>
                  <a:lnTo>
                    <a:pt x="17774" y="12911"/>
                  </a:lnTo>
                  <a:lnTo>
                    <a:pt x="48946" y="0"/>
                  </a:lnTo>
                  <a:lnTo>
                    <a:pt x="1656027" y="0"/>
                  </a:lnTo>
                  <a:lnTo>
                    <a:pt x="1692061" y="17775"/>
                  </a:lnTo>
                  <a:lnTo>
                    <a:pt x="1704974" y="48947"/>
                  </a:lnTo>
                  <a:lnTo>
                    <a:pt x="1704974" y="674952"/>
                  </a:lnTo>
                  <a:lnTo>
                    <a:pt x="1687198" y="710987"/>
                  </a:lnTo>
                  <a:lnTo>
                    <a:pt x="1659433" y="723563"/>
                  </a:lnTo>
                  <a:lnTo>
                    <a:pt x="1656027" y="723899"/>
                  </a:lnTo>
                  <a:close/>
                </a:path>
              </a:pathLst>
            </a:custGeom>
            <a:solidFill>
              <a:srgbClr val="E7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9872661" y="2652712"/>
              <a:ext cx="1704975" cy="723900"/>
            </a:xfrm>
            <a:custGeom>
              <a:avLst/>
              <a:gdLst/>
              <a:ahLst/>
              <a:cxnLst/>
              <a:rect l="l" t="t" r="r" b="b"/>
              <a:pathLst>
                <a:path w="1704975" h="723900">
                  <a:moveTo>
                    <a:pt x="0" y="6715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4" y="45540"/>
                  </a:lnTo>
                  <a:lnTo>
                    <a:pt x="1005" y="42166"/>
                  </a:lnTo>
                  <a:lnTo>
                    <a:pt x="1676" y="38793"/>
                  </a:lnTo>
                  <a:lnTo>
                    <a:pt x="2670" y="35517"/>
                  </a:lnTo>
                  <a:lnTo>
                    <a:pt x="3986" y="32339"/>
                  </a:lnTo>
                  <a:lnTo>
                    <a:pt x="5303" y="29161"/>
                  </a:lnTo>
                  <a:lnTo>
                    <a:pt x="15343" y="15343"/>
                  </a:lnTo>
                  <a:lnTo>
                    <a:pt x="17774" y="12911"/>
                  </a:lnTo>
                  <a:lnTo>
                    <a:pt x="48946" y="0"/>
                  </a:lnTo>
                  <a:lnTo>
                    <a:pt x="52387" y="0"/>
                  </a:lnTo>
                  <a:lnTo>
                    <a:pt x="1652587" y="0"/>
                  </a:lnTo>
                  <a:lnTo>
                    <a:pt x="1656027" y="0"/>
                  </a:lnTo>
                  <a:lnTo>
                    <a:pt x="1659433" y="335"/>
                  </a:lnTo>
                  <a:lnTo>
                    <a:pt x="1694233" y="20422"/>
                  </a:lnTo>
                  <a:lnTo>
                    <a:pt x="1696144" y="23282"/>
                  </a:lnTo>
                  <a:lnTo>
                    <a:pt x="1698055" y="26142"/>
                  </a:lnTo>
                  <a:lnTo>
                    <a:pt x="1704974" y="48947"/>
                  </a:lnTo>
                  <a:lnTo>
                    <a:pt x="1704974" y="52387"/>
                  </a:lnTo>
                  <a:lnTo>
                    <a:pt x="1704974" y="671512"/>
                  </a:lnTo>
                  <a:lnTo>
                    <a:pt x="1704974" y="674952"/>
                  </a:lnTo>
                  <a:lnTo>
                    <a:pt x="1704638" y="678358"/>
                  </a:lnTo>
                  <a:lnTo>
                    <a:pt x="1684551" y="713159"/>
                  </a:lnTo>
                  <a:lnTo>
                    <a:pt x="1652587" y="723899"/>
                  </a:lnTo>
                  <a:lnTo>
                    <a:pt x="52387" y="723899"/>
                  </a:lnTo>
                  <a:lnTo>
                    <a:pt x="15343" y="708555"/>
                  </a:lnTo>
                  <a:lnTo>
                    <a:pt x="12910" y="706123"/>
                  </a:lnTo>
                  <a:lnTo>
                    <a:pt x="0" y="674952"/>
                  </a:lnTo>
                  <a:lnTo>
                    <a:pt x="0" y="671512"/>
                  </a:lnTo>
                  <a:close/>
                </a:path>
              </a:pathLst>
            </a:custGeom>
            <a:ln w="9524">
              <a:solidFill>
                <a:srgbClr val="26AE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10359876" y="2672397"/>
            <a:ext cx="730885" cy="60198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480"/>
              </a:spcBef>
            </a:pPr>
            <a:r>
              <a:rPr dirty="0" sz="1350" b="1">
                <a:solidFill>
                  <a:srgbClr val="26AE60"/>
                </a:solidFill>
                <a:latin typeface="Arial"/>
                <a:cs typeface="Arial"/>
              </a:rPr>
              <a:t>GAP-</a:t>
            </a:r>
            <a:r>
              <a:rPr dirty="0" sz="1350" spc="-25" b="1">
                <a:solidFill>
                  <a:srgbClr val="26AE60"/>
                </a:solidFill>
                <a:latin typeface="Arial"/>
                <a:cs typeface="Arial"/>
              </a:rPr>
              <a:t>08</a:t>
            </a:r>
            <a:endParaRPr sz="1350">
              <a:latin typeface="Arial"/>
              <a:cs typeface="Arial"/>
            </a:endParaRPr>
          </a:p>
          <a:p>
            <a:pPr marL="85090" marR="5080" indent="-73025">
              <a:lnSpc>
                <a:spcPct val="111100"/>
              </a:lnSpc>
              <a:spcBef>
                <a:spcPts val="135"/>
              </a:spcBef>
            </a:pPr>
            <a:r>
              <a:rPr dirty="0" sz="900">
                <a:solidFill>
                  <a:srgbClr val="444444"/>
                </a:solidFill>
                <a:latin typeface="Arial"/>
                <a:cs typeface="Arial"/>
              </a:rPr>
              <a:t>Real-time </a:t>
            </a:r>
            <a:r>
              <a:rPr dirty="0" sz="900" spc="-25">
                <a:solidFill>
                  <a:srgbClr val="444444"/>
                </a:solidFill>
                <a:latin typeface="Arial"/>
                <a:cs typeface="Arial"/>
              </a:rPr>
              <a:t>KPI </a:t>
            </a:r>
            <a:r>
              <a:rPr dirty="0" sz="900" spc="-10">
                <a:solidFill>
                  <a:srgbClr val="444444"/>
                </a:solidFill>
                <a:latin typeface="Arial"/>
                <a:cs typeface="Arial"/>
              </a:rPr>
              <a:t>Dashboard</a:t>
            </a:r>
            <a:endParaRPr sz="9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7149" y="6581774"/>
            <a:ext cx="12096750" cy="9525"/>
          </a:xfrm>
          <a:custGeom>
            <a:avLst/>
            <a:gdLst/>
            <a:ahLst/>
            <a:cxnLst/>
            <a:rect l="l" t="t" r="r" b="b"/>
            <a:pathLst>
              <a:path w="12096750" h="9525">
                <a:moveTo>
                  <a:pt x="12096749" y="9524"/>
                </a:moveTo>
                <a:lnTo>
                  <a:pt x="0" y="9524"/>
                </a:lnTo>
                <a:lnTo>
                  <a:pt x="0" y="0"/>
                </a:lnTo>
                <a:lnTo>
                  <a:pt x="12096749" y="0"/>
                </a:lnTo>
                <a:lnTo>
                  <a:pt x="12096749" y="9524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615949" y="6635750"/>
            <a:ext cx="506857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MONOLITH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DAPH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Decor AI</a:t>
            </a:r>
            <a:r>
              <a:rPr dirty="0" sz="800" spc="-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Agent</a:t>
            </a:r>
            <a:r>
              <a:rPr dirty="0" sz="800" spc="5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Programme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 spc="5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SC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Review</a:t>
            </a:r>
            <a:r>
              <a:rPr dirty="0" sz="800" spc="5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2569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 spc="-4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 AMD-004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Phase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1</a:t>
            </a:r>
            <a:r>
              <a:rPr dirty="0" sz="800" spc="5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Completion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8B8B8B"/>
                </a:solidFill>
                <a:latin typeface="Arial"/>
                <a:cs typeface="Arial"/>
              </a:rPr>
              <a:t>Certificate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53898" y="0"/>
            <a:ext cx="50800" cy="6858000"/>
          </a:xfrm>
          <a:custGeom>
            <a:avLst/>
            <a:gdLst/>
            <a:ahLst/>
            <a:cxnLst/>
            <a:rect l="l" t="t" r="r" b="b"/>
            <a:pathLst>
              <a:path w="50800" h="6858000">
                <a:moveTo>
                  <a:pt x="50292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50292" y="0"/>
                </a:lnTo>
                <a:lnTo>
                  <a:pt x="50292" y="68579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1"/>
            <a:ext cx="12153900" cy="6858000"/>
          </a:xfrm>
          <a:custGeom>
            <a:avLst/>
            <a:gdLst/>
            <a:ahLst/>
            <a:cxnLst/>
            <a:rect l="l" t="t" r="r" b="b"/>
            <a:pathLst>
              <a:path w="12153900" h="6858000">
                <a:moveTo>
                  <a:pt x="12153887" y="0"/>
                </a:moveTo>
                <a:lnTo>
                  <a:pt x="57137" y="0"/>
                </a:lnTo>
                <a:lnTo>
                  <a:pt x="0" y="0"/>
                </a:lnTo>
                <a:lnTo>
                  <a:pt x="0" y="6857987"/>
                </a:lnTo>
                <a:lnTo>
                  <a:pt x="57137" y="6857987"/>
                </a:lnTo>
                <a:lnTo>
                  <a:pt x="57137" y="781050"/>
                </a:lnTo>
                <a:lnTo>
                  <a:pt x="12153887" y="781050"/>
                </a:lnTo>
                <a:lnTo>
                  <a:pt x="12153887" y="0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15949" y="168275"/>
            <a:ext cx="492379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AMD-004 Programme </a:t>
            </a:r>
            <a:r>
              <a:rPr dirty="0" spc="-10"/>
              <a:t>Delivery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85333" y="358775"/>
            <a:ext cx="37979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5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Workstreams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·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Q3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2030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Q2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2032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·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THB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5.2M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Total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8649" y="3038474"/>
            <a:ext cx="10953750" cy="1114425"/>
            <a:chOff x="628649" y="3038474"/>
            <a:chExt cx="10953750" cy="1114425"/>
          </a:xfrm>
        </p:grpSpPr>
        <p:sp>
          <p:nvSpPr>
            <p:cNvPr id="7" name="object 7"/>
            <p:cNvSpPr/>
            <p:nvPr/>
          </p:nvSpPr>
          <p:spPr>
            <a:xfrm>
              <a:off x="633412" y="3043237"/>
              <a:ext cx="10944225" cy="1104900"/>
            </a:xfrm>
            <a:custGeom>
              <a:avLst/>
              <a:gdLst/>
              <a:ahLst/>
              <a:cxnLst/>
              <a:rect l="l" t="t" r="r" b="b"/>
              <a:pathLst>
                <a:path w="10944225" h="1104900">
                  <a:moveTo>
                    <a:pt x="10877477" y="1104899"/>
                  </a:moveTo>
                  <a:lnTo>
                    <a:pt x="66746" y="1104899"/>
                  </a:lnTo>
                  <a:lnTo>
                    <a:pt x="62101" y="1104442"/>
                  </a:lnTo>
                  <a:lnTo>
                    <a:pt x="24240" y="1087292"/>
                  </a:lnTo>
                  <a:lnTo>
                    <a:pt x="2287" y="1051999"/>
                  </a:lnTo>
                  <a:lnTo>
                    <a:pt x="0" y="1038153"/>
                  </a:lnTo>
                  <a:lnTo>
                    <a:pt x="0" y="10334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0877477" y="0"/>
                  </a:lnTo>
                  <a:lnTo>
                    <a:pt x="10916373" y="14645"/>
                  </a:lnTo>
                  <a:lnTo>
                    <a:pt x="10940579" y="48432"/>
                  </a:lnTo>
                  <a:lnTo>
                    <a:pt x="10944224" y="66746"/>
                  </a:lnTo>
                  <a:lnTo>
                    <a:pt x="10944224" y="1038153"/>
                  </a:lnTo>
                  <a:lnTo>
                    <a:pt x="10929577" y="1077050"/>
                  </a:lnTo>
                  <a:lnTo>
                    <a:pt x="10895791" y="1101256"/>
                  </a:lnTo>
                  <a:lnTo>
                    <a:pt x="10882122" y="1104442"/>
                  </a:lnTo>
                  <a:lnTo>
                    <a:pt x="10877477" y="110489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3412" y="3043237"/>
              <a:ext cx="10944225" cy="1104900"/>
            </a:xfrm>
            <a:custGeom>
              <a:avLst/>
              <a:gdLst/>
              <a:ahLst/>
              <a:cxnLst/>
              <a:rect l="l" t="t" r="r" b="b"/>
              <a:pathLst>
                <a:path w="10944225" h="1104900">
                  <a:moveTo>
                    <a:pt x="0" y="10334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9"/>
                  </a:lnTo>
                  <a:lnTo>
                    <a:pt x="35649" y="943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0872786" y="0"/>
                  </a:lnTo>
                  <a:lnTo>
                    <a:pt x="10877477" y="0"/>
                  </a:lnTo>
                  <a:lnTo>
                    <a:pt x="10882122" y="457"/>
                  </a:lnTo>
                  <a:lnTo>
                    <a:pt x="10886723" y="1372"/>
                  </a:lnTo>
                  <a:lnTo>
                    <a:pt x="10891323" y="2287"/>
                  </a:lnTo>
                  <a:lnTo>
                    <a:pt x="10926616" y="24239"/>
                  </a:lnTo>
                  <a:lnTo>
                    <a:pt x="10938783" y="44099"/>
                  </a:lnTo>
                  <a:lnTo>
                    <a:pt x="10940579" y="48432"/>
                  </a:lnTo>
                  <a:lnTo>
                    <a:pt x="10941934" y="52899"/>
                  </a:lnTo>
                  <a:lnTo>
                    <a:pt x="10942850" y="57500"/>
                  </a:lnTo>
                  <a:lnTo>
                    <a:pt x="10943766" y="62100"/>
                  </a:lnTo>
                  <a:lnTo>
                    <a:pt x="10944224" y="66746"/>
                  </a:lnTo>
                  <a:lnTo>
                    <a:pt x="10944224" y="71437"/>
                  </a:lnTo>
                  <a:lnTo>
                    <a:pt x="10944224" y="1033462"/>
                  </a:lnTo>
                  <a:lnTo>
                    <a:pt x="10944224" y="1038153"/>
                  </a:lnTo>
                  <a:lnTo>
                    <a:pt x="10943766" y="1042798"/>
                  </a:lnTo>
                  <a:lnTo>
                    <a:pt x="10942850" y="1047399"/>
                  </a:lnTo>
                  <a:lnTo>
                    <a:pt x="10941934" y="1051999"/>
                  </a:lnTo>
                  <a:lnTo>
                    <a:pt x="10940579" y="1056465"/>
                  </a:lnTo>
                  <a:lnTo>
                    <a:pt x="10938783" y="1060799"/>
                  </a:lnTo>
                  <a:lnTo>
                    <a:pt x="10936989" y="1065133"/>
                  </a:lnTo>
                  <a:lnTo>
                    <a:pt x="10908574" y="1095465"/>
                  </a:lnTo>
                  <a:lnTo>
                    <a:pt x="10872786" y="1104899"/>
                  </a:lnTo>
                  <a:lnTo>
                    <a:pt x="71437" y="1104899"/>
                  </a:lnTo>
                  <a:lnTo>
                    <a:pt x="66746" y="1104899"/>
                  </a:lnTo>
                  <a:lnTo>
                    <a:pt x="62101" y="1104442"/>
                  </a:lnTo>
                  <a:lnTo>
                    <a:pt x="57500" y="1103526"/>
                  </a:lnTo>
                  <a:lnTo>
                    <a:pt x="52900" y="1102611"/>
                  </a:lnTo>
                  <a:lnTo>
                    <a:pt x="31748" y="1092859"/>
                  </a:lnTo>
                  <a:lnTo>
                    <a:pt x="27848" y="1090253"/>
                  </a:lnTo>
                  <a:lnTo>
                    <a:pt x="3642" y="1056466"/>
                  </a:lnTo>
                  <a:lnTo>
                    <a:pt x="1372" y="1047398"/>
                  </a:lnTo>
                  <a:lnTo>
                    <a:pt x="457" y="1042798"/>
                  </a:lnTo>
                  <a:lnTo>
                    <a:pt x="0" y="1038153"/>
                  </a:lnTo>
                  <a:lnTo>
                    <a:pt x="0" y="1033462"/>
                  </a:lnTo>
                  <a:close/>
                </a:path>
              </a:pathLst>
            </a:custGeom>
            <a:ln w="9524">
              <a:solidFill>
                <a:srgbClr val="DDDF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15975" y="3178175"/>
            <a:ext cx="137223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60" b="1">
                <a:solidFill>
                  <a:srgbClr val="999999"/>
                </a:solidFill>
                <a:latin typeface="Arial"/>
                <a:cs typeface="Arial"/>
              </a:rPr>
              <a:t>DELIVERY</a:t>
            </a:r>
            <a:r>
              <a:rPr dirty="0" sz="950" spc="105" b="1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dirty="0" sz="950" spc="55" b="1">
                <a:solidFill>
                  <a:srgbClr val="999999"/>
                </a:solidFill>
                <a:latin typeface="Arial"/>
                <a:cs typeface="Arial"/>
              </a:rPr>
              <a:t>TIMELINE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8674" y="3457574"/>
            <a:ext cx="1600200" cy="342900"/>
          </a:xfrm>
          <a:custGeom>
            <a:avLst/>
            <a:gdLst/>
            <a:ahLst/>
            <a:cxnLst/>
            <a:rect l="l" t="t" r="r" b="b"/>
            <a:pathLst>
              <a:path w="1600200" h="342900">
                <a:moveTo>
                  <a:pt x="1567152" y="342899"/>
                </a:moveTo>
                <a:lnTo>
                  <a:pt x="33047" y="342899"/>
                </a:lnTo>
                <a:lnTo>
                  <a:pt x="28187" y="341932"/>
                </a:lnTo>
                <a:lnTo>
                  <a:pt x="966" y="314711"/>
                </a:lnTo>
                <a:lnTo>
                  <a:pt x="0" y="309852"/>
                </a:lnTo>
                <a:lnTo>
                  <a:pt x="0" y="3047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567152" y="0"/>
                </a:lnTo>
                <a:lnTo>
                  <a:pt x="1599232" y="28187"/>
                </a:lnTo>
                <a:lnTo>
                  <a:pt x="1600199" y="33047"/>
                </a:lnTo>
                <a:lnTo>
                  <a:pt x="1600199" y="309852"/>
                </a:lnTo>
                <a:lnTo>
                  <a:pt x="1572012" y="341932"/>
                </a:lnTo>
                <a:lnTo>
                  <a:pt x="1567152" y="3428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22560" y="3540125"/>
            <a:ext cx="10121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WS-</a:t>
            </a: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9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Q3–Q4</a:t>
            </a:r>
            <a:r>
              <a:rPr dirty="0" sz="9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FFFFFF"/>
                </a:solidFill>
                <a:latin typeface="Arial"/>
                <a:cs typeface="Arial"/>
              </a:rPr>
              <a:t>2030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66974" y="3457574"/>
            <a:ext cx="2400300" cy="342900"/>
          </a:xfrm>
          <a:custGeom>
            <a:avLst/>
            <a:gdLst/>
            <a:ahLst/>
            <a:cxnLst/>
            <a:rect l="l" t="t" r="r" b="b"/>
            <a:pathLst>
              <a:path w="2400300" h="342900">
                <a:moveTo>
                  <a:pt x="2367252" y="342899"/>
                </a:moveTo>
                <a:lnTo>
                  <a:pt x="33047" y="342899"/>
                </a:lnTo>
                <a:lnTo>
                  <a:pt x="28187" y="341932"/>
                </a:lnTo>
                <a:lnTo>
                  <a:pt x="966" y="314711"/>
                </a:lnTo>
                <a:lnTo>
                  <a:pt x="0" y="309852"/>
                </a:lnTo>
                <a:lnTo>
                  <a:pt x="0" y="3047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367252" y="0"/>
                </a:lnTo>
                <a:lnTo>
                  <a:pt x="2399332" y="28187"/>
                </a:lnTo>
                <a:lnTo>
                  <a:pt x="2400299" y="33047"/>
                </a:lnTo>
                <a:lnTo>
                  <a:pt x="2400299" y="309852"/>
                </a:lnTo>
                <a:lnTo>
                  <a:pt x="2372112" y="341932"/>
                </a:lnTo>
                <a:lnTo>
                  <a:pt x="2367252" y="342899"/>
                </a:lnTo>
                <a:close/>
              </a:path>
            </a:pathLst>
          </a:custGeom>
          <a:solidFill>
            <a:srgbClr val="2E74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158827" y="3540125"/>
            <a:ext cx="10166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WS-</a:t>
            </a: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B Q1–Q3</a:t>
            </a:r>
            <a:r>
              <a:rPr dirty="0" sz="9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FFFFFF"/>
                </a:solidFill>
                <a:latin typeface="Arial"/>
                <a:cs typeface="Arial"/>
              </a:rPr>
              <a:t>2031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05374" y="3457574"/>
            <a:ext cx="2400300" cy="342900"/>
          </a:xfrm>
          <a:custGeom>
            <a:avLst/>
            <a:gdLst/>
            <a:ahLst/>
            <a:cxnLst/>
            <a:rect l="l" t="t" r="r" b="b"/>
            <a:pathLst>
              <a:path w="2400300" h="342900">
                <a:moveTo>
                  <a:pt x="2367251" y="342899"/>
                </a:moveTo>
                <a:lnTo>
                  <a:pt x="33047" y="342899"/>
                </a:lnTo>
                <a:lnTo>
                  <a:pt x="28187" y="341932"/>
                </a:lnTo>
                <a:lnTo>
                  <a:pt x="966" y="314711"/>
                </a:lnTo>
                <a:lnTo>
                  <a:pt x="0" y="309852"/>
                </a:lnTo>
                <a:lnTo>
                  <a:pt x="0" y="3047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367251" y="0"/>
                </a:lnTo>
                <a:lnTo>
                  <a:pt x="2399332" y="28187"/>
                </a:lnTo>
                <a:lnTo>
                  <a:pt x="2400299" y="33047"/>
                </a:lnTo>
                <a:lnTo>
                  <a:pt x="2400299" y="309852"/>
                </a:lnTo>
                <a:lnTo>
                  <a:pt x="2372112" y="341932"/>
                </a:lnTo>
                <a:lnTo>
                  <a:pt x="2367251" y="342899"/>
                </a:lnTo>
                <a:close/>
              </a:path>
            </a:pathLst>
          </a:custGeom>
          <a:solidFill>
            <a:srgbClr val="3A8F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597226" y="3540125"/>
            <a:ext cx="10166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WS-</a:t>
            </a: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C Q2–Q4</a:t>
            </a:r>
            <a:r>
              <a:rPr dirty="0" sz="9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FFFFFF"/>
                </a:solidFill>
                <a:latin typeface="Arial"/>
                <a:cs typeface="Arial"/>
              </a:rPr>
              <a:t>2031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43774" y="3457574"/>
            <a:ext cx="2400300" cy="342900"/>
          </a:xfrm>
          <a:custGeom>
            <a:avLst/>
            <a:gdLst/>
            <a:ahLst/>
            <a:cxnLst/>
            <a:rect l="l" t="t" r="r" b="b"/>
            <a:pathLst>
              <a:path w="2400300" h="342900">
                <a:moveTo>
                  <a:pt x="2367251" y="342899"/>
                </a:moveTo>
                <a:lnTo>
                  <a:pt x="33047" y="342899"/>
                </a:lnTo>
                <a:lnTo>
                  <a:pt x="28186" y="341932"/>
                </a:lnTo>
                <a:lnTo>
                  <a:pt x="966" y="314711"/>
                </a:lnTo>
                <a:lnTo>
                  <a:pt x="0" y="309852"/>
                </a:lnTo>
                <a:lnTo>
                  <a:pt x="0" y="3047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367251" y="0"/>
                </a:lnTo>
                <a:lnTo>
                  <a:pt x="2399332" y="28187"/>
                </a:lnTo>
                <a:lnTo>
                  <a:pt x="2400299" y="33047"/>
                </a:lnTo>
                <a:lnTo>
                  <a:pt x="2400299" y="309852"/>
                </a:lnTo>
                <a:lnTo>
                  <a:pt x="2372112" y="341932"/>
                </a:lnTo>
                <a:lnTo>
                  <a:pt x="2367251" y="3428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860903" y="3540125"/>
            <a:ext cx="13665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WS-</a:t>
            </a: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D Q3 2030 – Q4</a:t>
            </a:r>
            <a:r>
              <a:rPr dirty="0" sz="9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FFFFFF"/>
                </a:solidFill>
                <a:latin typeface="Arial"/>
                <a:cs typeface="Arial"/>
              </a:rPr>
              <a:t>2031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2174" y="3457574"/>
            <a:ext cx="1600200" cy="342900"/>
          </a:xfrm>
          <a:custGeom>
            <a:avLst/>
            <a:gdLst/>
            <a:ahLst/>
            <a:cxnLst/>
            <a:rect l="l" t="t" r="r" b="b"/>
            <a:pathLst>
              <a:path w="1600200" h="342900">
                <a:moveTo>
                  <a:pt x="1567151" y="342899"/>
                </a:moveTo>
                <a:lnTo>
                  <a:pt x="33046" y="342899"/>
                </a:lnTo>
                <a:lnTo>
                  <a:pt x="28186" y="341932"/>
                </a:lnTo>
                <a:lnTo>
                  <a:pt x="966" y="314711"/>
                </a:lnTo>
                <a:lnTo>
                  <a:pt x="0" y="309852"/>
                </a:lnTo>
                <a:lnTo>
                  <a:pt x="0" y="304799"/>
                </a:lnTo>
                <a:lnTo>
                  <a:pt x="0" y="33047"/>
                </a:lnTo>
                <a:lnTo>
                  <a:pt x="28186" y="966"/>
                </a:lnTo>
                <a:lnTo>
                  <a:pt x="33046" y="0"/>
                </a:lnTo>
                <a:lnTo>
                  <a:pt x="1567151" y="0"/>
                </a:lnTo>
                <a:lnTo>
                  <a:pt x="1599232" y="28187"/>
                </a:lnTo>
                <a:lnTo>
                  <a:pt x="1600199" y="33047"/>
                </a:lnTo>
                <a:lnTo>
                  <a:pt x="1600199" y="309852"/>
                </a:lnTo>
                <a:lnTo>
                  <a:pt x="1572012" y="341932"/>
                </a:lnTo>
                <a:lnTo>
                  <a:pt x="1567151" y="342899"/>
                </a:lnTo>
                <a:close/>
              </a:path>
            </a:pathLst>
          </a:custGeom>
          <a:solidFill>
            <a:srgbClr val="26A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077102" y="3540125"/>
            <a:ext cx="10102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WS-</a:t>
            </a: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E Q1–Q2</a:t>
            </a:r>
            <a:r>
              <a:rPr dirty="0" sz="9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FFFFFF"/>
                </a:solidFill>
                <a:latin typeface="Arial"/>
                <a:cs typeface="Arial"/>
              </a:rPr>
              <a:t>2032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5975" y="3835400"/>
            <a:ext cx="4641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999999"/>
                </a:solidFill>
                <a:latin typeface="Arial"/>
                <a:cs typeface="Arial"/>
              </a:rPr>
              <a:t>Q3 </a:t>
            </a:r>
            <a:r>
              <a:rPr dirty="0" sz="900" spc="-20">
                <a:solidFill>
                  <a:srgbClr val="999999"/>
                </a:solidFill>
                <a:latin typeface="Arial"/>
                <a:cs typeface="Arial"/>
              </a:rPr>
              <a:t>2030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44713" y="3835400"/>
            <a:ext cx="4641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999999"/>
                </a:solidFill>
                <a:latin typeface="Arial"/>
                <a:cs typeface="Arial"/>
              </a:rPr>
              <a:t>Q1 </a:t>
            </a:r>
            <a:r>
              <a:rPr dirty="0" sz="900" spc="-20">
                <a:solidFill>
                  <a:srgbClr val="999999"/>
                </a:solidFill>
                <a:latin typeface="Arial"/>
                <a:cs typeface="Arial"/>
              </a:rPr>
              <a:t>2031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73600" y="3835400"/>
            <a:ext cx="4641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999999"/>
                </a:solidFill>
                <a:latin typeface="Arial"/>
                <a:cs typeface="Arial"/>
              </a:rPr>
              <a:t>Q3 </a:t>
            </a:r>
            <a:r>
              <a:rPr dirty="0" sz="900" spc="-20">
                <a:solidFill>
                  <a:srgbClr val="999999"/>
                </a:solidFill>
                <a:latin typeface="Arial"/>
                <a:cs typeface="Arial"/>
              </a:rPr>
              <a:t>2031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02339" y="3835400"/>
            <a:ext cx="4641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999999"/>
                </a:solidFill>
                <a:latin typeface="Arial"/>
                <a:cs typeface="Arial"/>
              </a:rPr>
              <a:t>Q1 </a:t>
            </a:r>
            <a:r>
              <a:rPr dirty="0" sz="900" spc="-20">
                <a:solidFill>
                  <a:srgbClr val="999999"/>
                </a:solidFill>
                <a:latin typeface="Arial"/>
                <a:cs typeface="Arial"/>
              </a:rPr>
              <a:t>2032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931077" y="3835400"/>
            <a:ext cx="4641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999999"/>
                </a:solidFill>
                <a:latin typeface="Arial"/>
                <a:cs typeface="Arial"/>
              </a:rPr>
              <a:t>Q2 </a:t>
            </a:r>
            <a:r>
              <a:rPr dirty="0" sz="900" spc="-20">
                <a:solidFill>
                  <a:srgbClr val="999999"/>
                </a:solidFill>
                <a:latin typeface="Arial"/>
                <a:cs typeface="Arial"/>
              </a:rPr>
              <a:t>2032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28649" y="4286249"/>
            <a:ext cx="10953750" cy="533400"/>
          </a:xfrm>
          <a:custGeom>
            <a:avLst/>
            <a:gdLst/>
            <a:ahLst/>
            <a:cxnLst/>
            <a:rect l="l" t="t" r="r" b="b"/>
            <a:pathLst>
              <a:path w="10953750" h="533400">
                <a:moveTo>
                  <a:pt x="10882552" y="533399"/>
                </a:moveTo>
                <a:lnTo>
                  <a:pt x="71196" y="533399"/>
                </a:lnTo>
                <a:lnTo>
                  <a:pt x="66241" y="532911"/>
                </a:lnTo>
                <a:lnTo>
                  <a:pt x="29705" y="517777"/>
                </a:lnTo>
                <a:lnTo>
                  <a:pt x="3885" y="481737"/>
                </a:lnTo>
                <a:lnTo>
                  <a:pt x="0" y="462203"/>
                </a:lnTo>
                <a:lnTo>
                  <a:pt x="0" y="4571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10882552" y="0"/>
                </a:lnTo>
                <a:lnTo>
                  <a:pt x="10924041" y="15621"/>
                </a:lnTo>
                <a:lnTo>
                  <a:pt x="10949861" y="51661"/>
                </a:lnTo>
                <a:lnTo>
                  <a:pt x="10953747" y="71196"/>
                </a:lnTo>
                <a:lnTo>
                  <a:pt x="10953747" y="462203"/>
                </a:lnTo>
                <a:lnTo>
                  <a:pt x="10938125" y="503694"/>
                </a:lnTo>
                <a:lnTo>
                  <a:pt x="10902086" y="529513"/>
                </a:lnTo>
                <a:lnTo>
                  <a:pt x="10887506" y="532911"/>
                </a:lnTo>
                <a:lnTo>
                  <a:pt x="10882552" y="5333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44550" y="4359275"/>
            <a:ext cx="29425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dirty="0" sz="12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AMD-004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Budget:</a:t>
            </a:r>
            <a:r>
              <a:rPr dirty="0" sz="12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C8A74B"/>
                </a:solidFill>
                <a:latin typeface="Arial"/>
                <a:cs typeface="Arial"/>
              </a:rPr>
              <a:t>THB</a:t>
            </a:r>
            <a:r>
              <a:rPr dirty="0" sz="2100" spc="-1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C8A74B"/>
                </a:solidFill>
                <a:latin typeface="Arial"/>
                <a:cs typeface="Arial"/>
              </a:rPr>
              <a:t>5.2M</a:t>
            </a:r>
            <a:endParaRPr sz="2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13981" y="4425950"/>
            <a:ext cx="51758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645" algn="l"/>
              </a:tabLst>
            </a:pPr>
            <a:r>
              <a:rPr dirty="0" sz="1200" spc="-50" b="1">
                <a:solidFill>
                  <a:srgbClr val="FEFEFE"/>
                </a:solidFill>
                <a:latin typeface="Arial"/>
                <a:cs typeface="Arial"/>
              </a:rPr>
              <a:t>|</a:t>
            </a:r>
            <a:r>
              <a:rPr dirty="0" sz="1200" b="1">
                <a:solidFill>
                  <a:srgbClr val="FEFEFE"/>
                </a:solidFill>
                <a:latin typeface="Arial"/>
                <a:cs typeface="Arial"/>
              </a:rPr>
              <a:t>	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Workstreams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·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49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SOP</a:t>
            </a:r>
            <a:r>
              <a:rPr dirty="0" sz="12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Sections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·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Gaps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Closed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·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28</a:t>
            </a:r>
            <a:r>
              <a:rPr dirty="0" sz="12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Agents</a:t>
            </a:r>
            <a:r>
              <a:rPr dirty="0" sz="12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Active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7149" y="1009649"/>
            <a:ext cx="12096750" cy="5581650"/>
            <a:chOff x="57149" y="1009649"/>
            <a:chExt cx="12096750" cy="5581650"/>
          </a:xfrm>
        </p:grpSpPr>
        <p:sp>
          <p:nvSpPr>
            <p:cNvPr id="29" name="object 29"/>
            <p:cNvSpPr/>
            <p:nvPr/>
          </p:nvSpPr>
          <p:spPr>
            <a:xfrm>
              <a:off x="57149" y="6581774"/>
              <a:ext cx="12096750" cy="9525"/>
            </a:xfrm>
            <a:custGeom>
              <a:avLst/>
              <a:gdLst/>
              <a:ahLst/>
              <a:cxnLst/>
              <a:rect l="l" t="t" r="r" b="b"/>
              <a:pathLst>
                <a:path w="12096750" h="9525">
                  <a:moveTo>
                    <a:pt x="120967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096749" y="0"/>
                  </a:lnTo>
                  <a:lnTo>
                    <a:pt x="12096749" y="952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33412" y="1014412"/>
              <a:ext cx="2085975" cy="1809750"/>
            </a:xfrm>
            <a:custGeom>
              <a:avLst/>
              <a:gdLst/>
              <a:ahLst/>
              <a:cxnLst/>
              <a:rect l="l" t="t" r="r" b="b"/>
              <a:pathLst>
                <a:path w="2085975" h="1809750">
                  <a:moveTo>
                    <a:pt x="2019228" y="1809749"/>
                  </a:moveTo>
                  <a:lnTo>
                    <a:pt x="66746" y="1809749"/>
                  </a:lnTo>
                  <a:lnTo>
                    <a:pt x="62101" y="1809292"/>
                  </a:lnTo>
                  <a:lnTo>
                    <a:pt x="24240" y="1792142"/>
                  </a:lnTo>
                  <a:lnTo>
                    <a:pt x="2287" y="1756849"/>
                  </a:lnTo>
                  <a:lnTo>
                    <a:pt x="0" y="1743003"/>
                  </a:lnTo>
                  <a:lnTo>
                    <a:pt x="0" y="17383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2019228" y="0"/>
                  </a:lnTo>
                  <a:lnTo>
                    <a:pt x="2058125" y="14645"/>
                  </a:lnTo>
                  <a:lnTo>
                    <a:pt x="2082331" y="48433"/>
                  </a:lnTo>
                  <a:lnTo>
                    <a:pt x="2085974" y="66746"/>
                  </a:lnTo>
                  <a:lnTo>
                    <a:pt x="2085974" y="1743003"/>
                  </a:lnTo>
                  <a:lnTo>
                    <a:pt x="2071329" y="1781900"/>
                  </a:lnTo>
                  <a:lnTo>
                    <a:pt x="2037541" y="1806106"/>
                  </a:lnTo>
                  <a:lnTo>
                    <a:pt x="2023873" y="1809292"/>
                  </a:lnTo>
                  <a:lnTo>
                    <a:pt x="2019228" y="180974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33412" y="1014412"/>
              <a:ext cx="2085975" cy="1809750"/>
            </a:xfrm>
            <a:custGeom>
              <a:avLst/>
              <a:gdLst/>
              <a:ahLst/>
              <a:cxnLst/>
              <a:rect l="l" t="t" r="r" b="b"/>
              <a:pathLst>
                <a:path w="2085975" h="1809750">
                  <a:moveTo>
                    <a:pt x="0" y="17383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9"/>
                  </a:lnTo>
                  <a:lnTo>
                    <a:pt x="35649" y="943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2014537" y="0"/>
                  </a:lnTo>
                  <a:lnTo>
                    <a:pt x="2019228" y="0"/>
                  </a:lnTo>
                  <a:lnTo>
                    <a:pt x="2023873" y="457"/>
                  </a:lnTo>
                  <a:lnTo>
                    <a:pt x="2028474" y="1372"/>
                  </a:lnTo>
                  <a:lnTo>
                    <a:pt x="2033074" y="2287"/>
                  </a:lnTo>
                  <a:lnTo>
                    <a:pt x="2068367" y="24240"/>
                  </a:lnTo>
                  <a:lnTo>
                    <a:pt x="2073934" y="31748"/>
                  </a:lnTo>
                  <a:lnTo>
                    <a:pt x="2076540" y="35648"/>
                  </a:lnTo>
                  <a:lnTo>
                    <a:pt x="2085974" y="71437"/>
                  </a:lnTo>
                  <a:lnTo>
                    <a:pt x="2085974" y="1738312"/>
                  </a:lnTo>
                  <a:lnTo>
                    <a:pt x="2073935" y="1778000"/>
                  </a:lnTo>
                  <a:lnTo>
                    <a:pt x="2071329" y="1781900"/>
                  </a:lnTo>
                  <a:lnTo>
                    <a:pt x="2037541" y="1806106"/>
                  </a:lnTo>
                  <a:lnTo>
                    <a:pt x="2019228" y="1809749"/>
                  </a:lnTo>
                  <a:lnTo>
                    <a:pt x="2014537" y="1809749"/>
                  </a:lnTo>
                  <a:lnTo>
                    <a:pt x="71437" y="1809749"/>
                  </a:lnTo>
                  <a:lnTo>
                    <a:pt x="66746" y="1809749"/>
                  </a:lnTo>
                  <a:lnTo>
                    <a:pt x="62101" y="1809292"/>
                  </a:lnTo>
                  <a:lnTo>
                    <a:pt x="31748" y="1797709"/>
                  </a:lnTo>
                  <a:lnTo>
                    <a:pt x="27848" y="1795103"/>
                  </a:lnTo>
                  <a:lnTo>
                    <a:pt x="3642" y="1761316"/>
                  </a:lnTo>
                  <a:lnTo>
                    <a:pt x="1372" y="1752249"/>
                  </a:lnTo>
                  <a:lnTo>
                    <a:pt x="457" y="1747648"/>
                  </a:lnTo>
                  <a:lnTo>
                    <a:pt x="0" y="1743003"/>
                  </a:lnTo>
                  <a:lnTo>
                    <a:pt x="0" y="1738312"/>
                  </a:lnTo>
                  <a:close/>
                </a:path>
              </a:pathLst>
            </a:custGeom>
            <a:ln w="9524">
              <a:solidFill>
                <a:srgbClr val="DD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71524" y="1171574"/>
              <a:ext cx="542925" cy="228600"/>
            </a:xfrm>
            <a:custGeom>
              <a:avLst/>
              <a:gdLst/>
              <a:ahLst/>
              <a:cxnLst/>
              <a:rect l="l" t="t" r="r" b="b"/>
              <a:pathLst>
                <a:path w="542925" h="228600">
                  <a:moveTo>
                    <a:pt x="509877" y="228599"/>
                  </a:moveTo>
                  <a:lnTo>
                    <a:pt x="33047" y="228599"/>
                  </a:lnTo>
                  <a:lnTo>
                    <a:pt x="28187" y="227633"/>
                  </a:lnTo>
                  <a:lnTo>
                    <a:pt x="966" y="200412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09877" y="0"/>
                  </a:lnTo>
                  <a:lnTo>
                    <a:pt x="541958" y="28187"/>
                  </a:lnTo>
                  <a:lnTo>
                    <a:pt x="542924" y="33047"/>
                  </a:lnTo>
                  <a:lnTo>
                    <a:pt x="542924" y="195552"/>
                  </a:lnTo>
                  <a:lnTo>
                    <a:pt x="514737" y="227633"/>
                  </a:lnTo>
                  <a:lnTo>
                    <a:pt x="509877" y="228599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854075" y="1187450"/>
            <a:ext cx="37020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WS-</a:t>
            </a:r>
            <a:r>
              <a:rPr dirty="0" sz="950" spc="-50" b="1">
                <a:solidFill>
                  <a:srgbClr val="545454"/>
                </a:solidFill>
                <a:latin typeface="Arial"/>
                <a:cs typeface="Arial"/>
              </a:rPr>
              <a:t>A</a:t>
            </a:r>
            <a:endParaRPr sz="9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58824" y="1366226"/>
            <a:ext cx="1661795" cy="110045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Corporate</a:t>
            </a:r>
            <a:r>
              <a:rPr dirty="0" sz="1100" spc="11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F2D59"/>
                </a:solidFill>
                <a:latin typeface="Arial"/>
                <a:cs typeface="Arial"/>
              </a:rPr>
              <a:t>Governance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8400"/>
              </a:lnSpc>
              <a:spcBef>
                <a:spcPts val="420"/>
              </a:spcBef>
            </a:pP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S1–S38</a:t>
            </a:r>
            <a:r>
              <a:rPr dirty="0" sz="950" spc="8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SOP</a:t>
            </a:r>
            <a:r>
              <a:rPr dirty="0" sz="950" spc="6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framework,</a:t>
            </a:r>
            <a:r>
              <a:rPr dirty="0" sz="950" spc="9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545454"/>
                </a:solidFill>
                <a:latin typeface="Arial"/>
                <a:cs typeface="Arial"/>
              </a:rPr>
              <a:t>SC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governance</a:t>
            </a:r>
            <a:r>
              <a:rPr dirty="0" sz="950" spc="11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registry,</a:t>
            </a:r>
            <a:r>
              <a:rPr dirty="0" sz="950" spc="11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28-</a:t>
            </a:r>
            <a:r>
              <a:rPr dirty="0" sz="950" spc="-10">
                <a:solidFill>
                  <a:srgbClr val="545454"/>
                </a:solidFill>
                <a:latin typeface="Arial"/>
                <a:cs typeface="Arial"/>
              </a:rPr>
              <a:t>agent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SLA</a:t>
            </a:r>
            <a:r>
              <a:rPr dirty="0" sz="950" spc="-1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545454"/>
                </a:solidFill>
                <a:latin typeface="Arial"/>
                <a:cs typeface="Arial"/>
              </a:rPr>
              <a:t>framework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THB</a:t>
            </a:r>
            <a:r>
              <a:rPr dirty="0" sz="950" spc="4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545454"/>
                </a:solidFill>
                <a:latin typeface="Arial"/>
                <a:cs typeface="Arial"/>
              </a:rPr>
              <a:t>0.8M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838449" y="1009649"/>
            <a:ext cx="2105025" cy="1819275"/>
            <a:chOff x="2838449" y="1009649"/>
            <a:chExt cx="2105025" cy="1819275"/>
          </a:xfrm>
        </p:grpSpPr>
        <p:sp>
          <p:nvSpPr>
            <p:cNvPr id="37" name="object 37"/>
            <p:cNvSpPr/>
            <p:nvPr/>
          </p:nvSpPr>
          <p:spPr>
            <a:xfrm>
              <a:off x="2843212" y="1014412"/>
              <a:ext cx="2095500" cy="1809750"/>
            </a:xfrm>
            <a:custGeom>
              <a:avLst/>
              <a:gdLst/>
              <a:ahLst/>
              <a:cxnLst/>
              <a:rect l="l" t="t" r="r" b="b"/>
              <a:pathLst>
                <a:path w="2095500" h="1809750">
                  <a:moveTo>
                    <a:pt x="2028752" y="1809749"/>
                  </a:moveTo>
                  <a:lnTo>
                    <a:pt x="66746" y="1809749"/>
                  </a:lnTo>
                  <a:lnTo>
                    <a:pt x="62101" y="1809292"/>
                  </a:lnTo>
                  <a:lnTo>
                    <a:pt x="24240" y="1792142"/>
                  </a:lnTo>
                  <a:lnTo>
                    <a:pt x="2287" y="1756849"/>
                  </a:lnTo>
                  <a:lnTo>
                    <a:pt x="0" y="1743003"/>
                  </a:lnTo>
                  <a:lnTo>
                    <a:pt x="0" y="1738312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2028752" y="0"/>
                  </a:lnTo>
                  <a:lnTo>
                    <a:pt x="2067650" y="14645"/>
                  </a:lnTo>
                  <a:lnTo>
                    <a:pt x="2091856" y="48433"/>
                  </a:lnTo>
                  <a:lnTo>
                    <a:pt x="2095499" y="66746"/>
                  </a:lnTo>
                  <a:lnTo>
                    <a:pt x="2095499" y="1743003"/>
                  </a:lnTo>
                  <a:lnTo>
                    <a:pt x="2080854" y="1781900"/>
                  </a:lnTo>
                  <a:lnTo>
                    <a:pt x="2047065" y="1806106"/>
                  </a:lnTo>
                  <a:lnTo>
                    <a:pt x="2033398" y="1809292"/>
                  </a:lnTo>
                  <a:lnTo>
                    <a:pt x="2028752" y="180974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843212" y="1014412"/>
              <a:ext cx="2095500" cy="1809750"/>
            </a:xfrm>
            <a:custGeom>
              <a:avLst/>
              <a:gdLst/>
              <a:ahLst/>
              <a:cxnLst/>
              <a:rect l="l" t="t" r="r" b="b"/>
              <a:pathLst>
                <a:path w="2095500" h="1809750">
                  <a:moveTo>
                    <a:pt x="0" y="17383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2" y="35648"/>
                  </a:lnTo>
                  <a:lnTo>
                    <a:pt x="12038" y="31748"/>
                  </a:lnTo>
                  <a:lnTo>
                    <a:pt x="14644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2024062" y="0"/>
                  </a:lnTo>
                  <a:lnTo>
                    <a:pt x="2028752" y="0"/>
                  </a:lnTo>
                  <a:lnTo>
                    <a:pt x="2033398" y="457"/>
                  </a:lnTo>
                  <a:lnTo>
                    <a:pt x="2037998" y="1372"/>
                  </a:lnTo>
                  <a:lnTo>
                    <a:pt x="2042599" y="2287"/>
                  </a:lnTo>
                  <a:lnTo>
                    <a:pt x="2074576" y="20923"/>
                  </a:lnTo>
                  <a:lnTo>
                    <a:pt x="2077892" y="24240"/>
                  </a:lnTo>
                  <a:lnTo>
                    <a:pt x="2080854" y="27848"/>
                  </a:lnTo>
                  <a:lnTo>
                    <a:pt x="2083459" y="31748"/>
                  </a:lnTo>
                  <a:lnTo>
                    <a:pt x="2086066" y="35648"/>
                  </a:lnTo>
                  <a:lnTo>
                    <a:pt x="2095499" y="71437"/>
                  </a:lnTo>
                  <a:lnTo>
                    <a:pt x="2095499" y="1738312"/>
                  </a:lnTo>
                  <a:lnTo>
                    <a:pt x="2083459" y="1778000"/>
                  </a:lnTo>
                  <a:lnTo>
                    <a:pt x="2080854" y="1781900"/>
                  </a:lnTo>
                  <a:lnTo>
                    <a:pt x="2047065" y="1806106"/>
                  </a:lnTo>
                  <a:lnTo>
                    <a:pt x="2028752" y="1809749"/>
                  </a:lnTo>
                  <a:lnTo>
                    <a:pt x="2024062" y="1809749"/>
                  </a:lnTo>
                  <a:lnTo>
                    <a:pt x="71437" y="1809749"/>
                  </a:lnTo>
                  <a:lnTo>
                    <a:pt x="66746" y="1809749"/>
                  </a:lnTo>
                  <a:lnTo>
                    <a:pt x="62101" y="1809292"/>
                  </a:lnTo>
                  <a:lnTo>
                    <a:pt x="31748" y="1797709"/>
                  </a:lnTo>
                  <a:lnTo>
                    <a:pt x="27848" y="1795103"/>
                  </a:lnTo>
                  <a:lnTo>
                    <a:pt x="5437" y="1765649"/>
                  </a:lnTo>
                  <a:lnTo>
                    <a:pt x="3642" y="1761316"/>
                  </a:lnTo>
                  <a:lnTo>
                    <a:pt x="2287" y="1756849"/>
                  </a:lnTo>
                  <a:lnTo>
                    <a:pt x="1372" y="1752249"/>
                  </a:lnTo>
                  <a:lnTo>
                    <a:pt x="457" y="1747648"/>
                  </a:lnTo>
                  <a:lnTo>
                    <a:pt x="0" y="1743003"/>
                  </a:lnTo>
                  <a:lnTo>
                    <a:pt x="0" y="1738312"/>
                  </a:lnTo>
                  <a:close/>
                </a:path>
              </a:pathLst>
            </a:custGeom>
            <a:ln w="9524">
              <a:solidFill>
                <a:srgbClr val="DD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981324" y="1171574"/>
              <a:ext cx="542925" cy="228600"/>
            </a:xfrm>
            <a:custGeom>
              <a:avLst/>
              <a:gdLst/>
              <a:ahLst/>
              <a:cxnLst/>
              <a:rect l="l" t="t" r="r" b="b"/>
              <a:pathLst>
                <a:path w="542925" h="228600">
                  <a:moveTo>
                    <a:pt x="509877" y="228599"/>
                  </a:moveTo>
                  <a:lnTo>
                    <a:pt x="33047" y="228599"/>
                  </a:lnTo>
                  <a:lnTo>
                    <a:pt x="28187" y="227633"/>
                  </a:lnTo>
                  <a:lnTo>
                    <a:pt x="966" y="200412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09877" y="0"/>
                  </a:lnTo>
                  <a:lnTo>
                    <a:pt x="541957" y="28187"/>
                  </a:lnTo>
                  <a:lnTo>
                    <a:pt x="542924" y="33047"/>
                  </a:lnTo>
                  <a:lnTo>
                    <a:pt x="542924" y="195552"/>
                  </a:lnTo>
                  <a:lnTo>
                    <a:pt x="514737" y="227633"/>
                  </a:lnTo>
                  <a:lnTo>
                    <a:pt x="509877" y="228599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3067595" y="1187450"/>
            <a:ext cx="37020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WS-</a:t>
            </a:r>
            <a:r>
              <a:rPr dirty="0" sz="950" spc="-50" b="1">
                <a:solidFill>
                  <a:srgbClr val="545454"/>
                </a:solidFill>
                <a:latin typeface="Arial"/>
                <a:cs typeface="Arial"/>
              </a:rPr>
              <a:t>B</a:t>
            </a:r>
            <a:endParaRPr sz="9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972345" y="1366226"/>
            <a:ext cx="1785620" cy="110045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Technology</a:t>
            </a:r>
            <a:r>
              <a:rPr dirty="0" sz="1100" spc="3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F2D59"/>
                </a:solidFill>
                <a:latin typeface="Arial"/>
                <a:cs typeface="Arial"/>
              </a:rPr>
              <a:t>Infrastructure</a:t>
            </a:r>
            <a:endParaRPr sz="1100">
              <a:latin typeface="Arial"/>
              <a:cs typeface="Arial"/>
            </a:endParaRPr>
          </a:p>
          <a:p>
            <a:pPr marL="12700" marR="250190">
              <a:lnSpc>
                <a:spcPct val="118400"/>
              </a:lnSpc>
              <a:spcBef>
                <a:spcPts val="420"/>
              </a:spcBef>
            </a:pP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src/</a:t>
            </a:r>
            <a:r>
              <a:rPr dirty="0" sz="950" spc="5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repo</a:t>
            </a:r>
            <a:r>
              <a:rPr dirty="0" sz="950" spc="5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build,</a:t>
            </a:r>
            <a:r>
              <a:rPr dirty="0" sz="950" spc="6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545454"/>
                </a:solidFill>
                <a:latin typeface="Arial"/>
                <a:cs typeface="Arial"/>
              </a:rPr>
              <a:t>Supabase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schema,</a:t>
            </a:r>
            <a:r>
              <a:rPr dirty="0" sz="950" spc="9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event</a:t>
            </a:r>
            <a:r>
              <a:rPr dirty="0" sz="950" spc="9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545454"/>
                </a:solidFill>
                <a:latin typeface="Arial"/>
                <a:cs typeface="Arial"/>
              </a:rPr>
              <a:t>integrations,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CI/CD</a:t>
            </a:r>
            <a:r>
              <a:rPr dirty="0" sz="950" spc="5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545454"/>
                </a:solidFill>
                <a:latin typeface="Arial"/>
                <a:cs typeface="Arial"/>
              </a:rPr>
              <a:t>pipeline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THB</a:t>
            </a:r>
            <a:r>
              <a:rPr dirty="0" sz="950" spc="4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545454"/>
                </a:solidFill>
                <a:latin typeface="Arial"/>
                <a:cs typeface="Arial"/>
              </a:rPr>
              <a:t>1.1M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057774" y="1009649"/>
            <a:ext cx="2095500" cy="1819275"/>
            <a:chOff x="5057774" y="1009649"/>
            <a:chExt cx="2095500" cy="1819275"/>
          </a:xfrm>
        </p:grpSpPr>
        <p:sp>
          <p:nvSpPr>
            <p:cNvPr id="43" name="object 43"/>
            <p:cNvSpPr/>
            <p:nvPr/>
          </p:nvSpPr>
          <p:spPr>
            <a:xfrm>
              <a:off x="5062537" y="1014412"/>
              <a:ext cx="2085975" cy="1809750"/>
            </a:xfrm>
            <a:custGeom>
              <a:avLst/>
              <a:gdLst/>
              <a:ahLst/>
              <a:cxnLst/>
              <a:rect l="l" t="t" r="r" b="b"/>
              <a:pathLst>
                <a:path w="2085975" h="1809750">
                  <a:moveTo>
                    <a:pt x="2019227" y="1809749"/>
                  </a:moveTo>
                  <a:lnTo>
                    <a:pt x="66746" y="1809749"/>
                  </a:lnTo>
                  <a:lnTo>
                    <a:pt x="62100" y="1809292"/>
                  </a:lnTo>
                  <a:lnTo>
                    <a:pt x="24239" y="1792142"/>
                  </a:lnTo>
                  <a:lnTo>
                    <a:pt x="2287" y="1756849"/>
                  </a:lnTo>
                  <a:lnTo>
                    <a:pt x="0" y="1743003"/>
                  </a:lnTo>
                  <a:lnTo>
                    <a:pt x="0" y="1738312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2019227" y="0"/>
                  </a:lnTo>
                  <a:lnTo>
                    <a:pt x="2058124" y="14645"/>
                  </a:lnTo>
                  <a:lnTo>
                    <a:pt x="2082330" y="48433"/>
                  </a:lnTo>
                  <a:lnTo>
                    <a:pt x="2085974" y="66746"/>
                  </a:lnTo>
                  <a:lnTo>
                    <a:pt x="2085974" y="1743003"/>
                  </a:lnTo>
                  <a:lnTo>
                    <a:pt x="2071328" y="1781900"/>
                  </a:lnTo>
                  <a:lnTo>
                    <a:pt x="2037540" y="1806106"/>
                  </a:lnTo>
                  <a:lnTo>
                    <a:pt x="2023872" y="1809292"/>
                  </a:lnTo>
                  <a:lnTo>
                    <a:pt x="2019227" y="180974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062537" y="1014412"/>
              <a:ext cx="2085975" cy="1809750"/>
            </a:xfrm>
            <a:custGeom>
              <a:avLst/>
              <a:gdLst/>
              <a:ahLst/>
              <a:cxnLst/>
              <a:rect l="l" t="t" r="r" b="b"/>
              <a:pathLst>
                <a:path w="2085975" h="1809750">
                  <a:moveTo>
                    <a:pt x="0" y="17383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1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4" y="27848"/>
                  </a:lnTo>
                  <a:lnTo>
                    <a:pt x="17605" y="24240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62100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2014537" y="0"/>
                  </a:lnTo>
                  <a:lnTo>
                    <a:pt x="2019227" y="0"/>
                  </a:lnTo>
                  <a:lnTo>
                    <a:pt x="2023872" y="457"/>
                  </a:lnTo>
                  <a:lnTo>
                    <a:pt x="2028473" y="1372"/>
                  </a:lnTo>
                  <a:lnTo>
                    <a:pt x="2033073" y="2287"/>
                  </a:lnTo>
                  <a:lnTo>
                    <a:pt x="2065050" y="20923"/>
                  </a:lnTo>
                  <a:lnTo>
                    <a:pt x="2068367" y="24240"/>
                  </a:lnTo>
                  <a:lnTo>
                    <a:pt x="2084601" y="57500"/>
                  </a:lnTo>
                  <a:lnTo>
                    <a:pt x="2085517" y="62101"/>
                  </a:lnTo>
                  <a:lnTo>
                    <a:pt x="2085974" y="66746"/>
                  </a:lnTo>
                  <a:lnTo>
                    <a:pt x="2085974" y="71437"/>
                  </a:lnTo>
                  <a:lnTo>
                    <a:pt x="2085974" y="1738312"/>
                  </a:lnTo>
                  <a:lnTo>
                    <a:pt x="2085974" y="1743003"/>
                  </a:lnTo>
                  <a:lnTo>
                    <a:pt x="2085517" y="1747648"/>
                  </a:lnTo>
                  <a:lnTo>
                    <a:pt x="2084601" y="1752249"/>
                  </a:lnTo>
                  <a:lnTo>
                    <a:pt x="2083685" y="1756849"/>
                  </a:lnTo>
                  <a:lnTo>
                    <a:pt x="2061733" y="1792142"/>
                  </a:lnTo>
                  <a:lnTo>
                    <a:pt x="2028473" y="1808377"/>
                  </a:lnTo>
                  <a:lnTo>
                    <a:pt x="2023872" y="1809292"/>
                  </a:lnTo>
                  <a:lnTo>
                    <a:pt x="2019227" y="1809749"/>
                  </a:lnTo>
                  <a:lnTo>
                    <a:pt x="2014537" y="1809749"/>
                  </a:lnTo>
                  <a:lnTo>
                    <a:pt x="71437" y="1809749"/>
                  </a:lnTo>
                  <a:lnTo>
                    <a:pt x="66746" y="1809749"/>
                  </a:lnTo>
                  <a:lnTo>
                    <a:pt x="62100" y="1809292"/>
                  </a:lnTo>
                  <a:lnTo>
                    <a:pt x="24239" y="1792142"/>
                  </a:lnTo>
                  <a:lnTo>
                    <a:pt x="20923" y="1788826"/>
                  </a:lnTo>
                  <a:lnTo>
                    <a:pt x="17605" y="1785509"/>
                  </a:lnTo>
                  <a:lnTo>
                    <a:pt x="14644" y="1781900"/>
                  </a:lnTo>
                  <a:lnTo>
                    <a:pt x="12038" y="1778000"/>
                  </a:lnTo>
                  <a:lnTo>
                    <a:pt x="9432" y="1774100"/>
                  </a:lnTo>
                  <a:lnTo>
                    <a:pt x="7232" y="1769983"/>
                  </a:lnTo>
                  <a:lnTo>
                    <a:pt x="5437" y="1765649"/>
                  </a:lnTo>
                  <a:lnTo>
                    <a:pt x="3642" y="1761316"/>
                  </a:lnTo>
                  <a:lnTo>
                    <a:pt x="2287" y="1756849"/>
                  </a:lnTo>
                  <a:lnTo>
                    <a:pt x="1371" y="1752249"/>
                  </a:lnTo>
                  <a:lnTo>
                    <a:pt x="457" y="1747648"/>
                  </a:lnTo>
                  <a:lnTo>
                    <a:pt x="0" y="1743003"/>
                  </a:lnTo>
                  <a:lnTo>
                    <a:pt x="0" y="1738312"/>
                  </a:lnTo>
                  <a:close/>
                </a:path>
              </a:pathLst>
            </a:custGeom>
            <a:ln w="9524">
              <a:solidFill>
                <a:srgbClr val="DD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200649" y="1171574"/>
              <a:ext cx="533400" cy="228600"/>
            </a:xfrm>
            <a:custGeom>
              <a:avLst/>
              <a:gdLst/>
              <a:ahLst/>
              <a:cxnLst/>
              <a:rect l="l" t="t" r="r" b="b"/>
              <a:pathLst>
                <a:path w="533400" h="228600">
                  <a:moveTo>
                    <a:pt x="500352" y="228599"/>
                  </a:moveTo>
                  <a:lnTo>
                    <a:pt x="33047" y="228599"/>
                  </a:lnTo>
                  <a:lnTo>
                    <a:pt x="28187" y="227633"/>
                  </a:lnTo>
                  <a:lnTo>
                    <a:pt x="966" y="200412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00352" y="0"/>
                  </a:lnTo>
                  <a:lnTo>
                    <a:pt x="532433" y="28187"/>
                  </a:lnTo>
                  <a:lnTo>
                    <a:pt x="533399" y="33047"/>
                  </a:lnTo>
                  <a:lnTo>
                    <a:pt x="533399" y="195552"/>
                  </a:lnTo>
                  <a:lnTo>
                    <a:pt x="505212" y="227633"/>
                  </a:lnTo>
                  <a:lnTo>
                    <a:pt x="500352" y="228599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5281265" y="1187450"/>
            <a:ext cx="37020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WS-</a:t>
            </a:r>
            <a:r>
              <a:rPr dirty="0" sz="950" spc="-50" b="1">
                <a:solidFill>
                  <a:srgbClr val="545454"/>
                </a:solidFill>
                <a:latin typeface="Arial"/>
                <a:cs typeface="Arial"/>
              </a:rPr>
              <a:t>C</a:t>
            </a:r>
            <a:endParaRPr sz="9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86015" y="1366226"/>
            <a:ext cx="1805939" cy="110045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Client</a:t>
            </a:r>
            <a:r>
              <a:rPr dirty="0" sz="1100" spc="7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Service</a:t>
            </a:r>
            <a:r>
              <a:rPr dirty="0" sz="1100" spc="7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F2D59"/>
                </a:solidFill>
                <a:latin typeface="Arial"/>
                <a:cs typeface="Arial"/>
              </a:rPr>
              <a:t>Innovation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8400"/>
              </a:lnSpc>
              <a:spcBef>
                <a:spcPts val="420"/>
              </a:spcBef>
            </a:pP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6-Pillar client delivery, design-</a:t>
            </a:r>
            <a:r>
              <a:rPr dirty="0" sz="950" spc="-25">
                <a:solidFill>
                  <a:srgbClr val="545454"/>
                </a:solidFill>
                <a:latin typeface="Arial"/>
                <a:cs typeface="Arial"/>
              </a:rPr>
              <a:t>to-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handover</a:t>
            </a:r>
            <a:r>
              <a:rPr dirty="0" sz="950" spc="10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workflow,</a:t>
            </a:r>
            <a:r>
              <a:rPr dirty="0" sz="950" spc="10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GAP-</a:t>
            </a:r>
            <a:r>
              <a:rPr dirty="0" sz="950" spc="-10">
                <a:solidFill>
                  <a:srgbClr val="545454"/>
                </a:solidFill>
                <a:latin typeface="Arial"/>
                <a:cs typeface="Arial"/>
              </a:rPr>
              <a:t>01/02 closure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THB</a:t>
            </a:r>
            <a:r>
              <a:rPr dirty="0" sz="950" spc="4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545454"/>
                </a:solidFill>
                <a:latin typeface="Arial"/>
                <a:cs typeface="Arial"/>
              </a:rPr>
              <a:t>1.2M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267574" y="1009649"/>
            <a:ext cx="2105025" cy="1819275"/>
            <a:chOff x="7267574" y="1009649"/>
            <a:chExt cx="2105025" cy="1819275"/>
          </a:xfrm>
        </p:grpSpPr>
        <p:sp>
          <p:nvSpPr>
            <p:cNvPr id="49" name="object 49"/>
            <p:cNvSpPr/>
            <p:nvPr/>
          </p:nvSpPr>
          <p:spPr>
            <a:xfrm>
              <a:off x="7272336" y="1014412"/>
              <a:ext cx="2095500" cy="1809750"/>
            </a:xfrm>
            <a:custGeom>
              <a:avLst/>
              <a:gdLst/>
              <a:ahLst/>
              <a:cxnLst/>
              <a:rect l="l" t="t" r="r" b="b"/>
              <a:pathLst>
                <a:path w="2095500" h="1809750">
                  <a:moveTo>
                    <a:pt x="2028752" y="1809749"/>
                  </a:moveTo>
                  <a:lnTo>
                    <a:pt x="66746" y="1809749"/>
                  </a:lnTo>
                  <a:lnTo>
                    <a:pt x="62100" y="1809292"/>
                  </a:lnTo>
                  <a:lnTo>
                    <a:pt x="24239" y="1792142"/>
                  </a:lnTo>
                  <a:lnTo>
                    <a:pt x="2287" y="1756849"/>
                  </a:lnTo>
                  <a:lnTo>
                    <a:pt x="0" y="1743003"/>
                  </a:lnTo>
                  <a:lnTo>
                    <a:pt x="0" y="1738312"/>
                  </a:lnTo>
                  <a:lnTo>
                    <a:pt x="0" y="66746"/>
                  </a:lnTo>
                  <a:lnTo>
                    <a:pt x="14643" y="27848"/>
                  </a:lnTo>
                  <a:lnTo>
                    <a:pt x="48431" y="3642"/>
                  </a:lnTo>
                  <a:lnTo>
                    <a:pt x="66746" y="0"/>
                  </a:lnTo>
                  <a:lnTo>
                    <a:pt x="2028752" y="0"/>
                  </a:lnTo>
                  <a:lnTo>
                    <a:pt x="2067649" y="14645"/>
                  </a:lnTo>
                  <a:lnTo>
                    <a:pt x="2091855" y="48433"/>
                  </a:lnTo>
                  <a:lnTo>
                    <a:pt x="2095499" y="66746"/>
                  </a:lnTo>
                  <a:lnTo>
                    <a:pt x="2095499" y="1743003"/>
                  </a:lnTo>
                  <a:lnTo>
                    <a:pt x="2080853" y="1781900"/>
                  </a:lnTo>
                  <a:lnTo>
                    <a:pt x="2047064" y="1806106"/>
                  </a:lnTo>
                  <a:lnTo>
                    <a:pt x="2033397" y="1809292"/>
                  </a:lnTo>
                  <a:lnTo>
                    <a:pt x="2028752" y="180974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7272336" y="1014412"/>
              <a:ext cx="2095500" cy="1809750"/>
            </a:xfrm>
            <a:custGeom>
              <a:avLst/>
              <a:gdLst/>
              <a:ahLst/>
              <a:cxnLst/>
              <a:rect l="l" t="t" r="r" b="b"/>
              <a:pathLst>
                <a:path w="2095500" h="1809750">
                  <a:moveTo>
                    <a:pt x="0" y="17383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27847" y="14645"/>
                  </a:lnTo>
                  <a:lnTo>
                    <a:pt x="31747" y="12039"/>
                  </a:lnTo>
                  <a:lnTo>
                    <a:pt x="35647" y="9433"/>
                  </a:lnTo>
                  <a:lnTo>
                    <a:pt x="39763" y="7232"/>
                  </a:lnTo>
                  <a:lnTo>
                    <a:pt x="44097" y="5437"/>
                  </a:lnTo>
                  <a:lnTo>
                    <a:pt x="48431" y="3642"/>
                  </a:lnTo>
                  <a:lnTo>
                    <a:pt x="52898" y="2287"/>
                  </a:lnTo>
                  <a:lnTo>
                    <a:pt x="57499" y="1372"/>
                  </a:lnTo>
                  <a:lnTo>
                    <a:pt x="62100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2024062" y="0"/>
                  </a:lnTo>
                  <a:lnTo>
                    <a:pt x="2028752" y="0"/>
                  </a:lnTo>
                  <a:lnTo>
                    <a:pt x="2033397" y="457"/>
                  </a:lnTo>
                  <a:lnTo>
                    <a:pt x="2037997" y="1372"/>
                  </a:lnTo>
                  <a:lnTo>
                    <a:pt x="2042597" y="2287"/>
                  </a:lnTo>
                  <a:lnTo>
                    <a:pt x="2077892" y="24240"/>
                  </a:lnTo>
                  <a:lnTo>
                    <a:pt x="2083458" y="31748"/>
                  </a:lnTo>
                  <a:lnTo>
                    <a:pt x="2086064" y="35648"/>
                  </a:lnTo>
                  <a:lnTo>
                    <a:pt x="2094126" y="57500"/>
                  </a:lnTo>
                  <a:lnTo>
                    <a:pt x="2095041" y="62101"/>
                  </a:lnTo>
                  <a:lnTo>
                    <a:pt x="2095499" y="66746"/>
                  </a:lnTo>
                  <a:lnTo>
                    <a:pt x="2095499" y="71437"/>
                  </a:lnTo>
                  <a:lnTo>
                    <a:pt x="2095499" y="1738312"/>
                  </a:lnTo>
                  <a:lnTo>
                    <a:pt x="2083458" y="1778000"/>
                  </a:lnTo>
                  <a:lnTo>
                    <a:pt x="2080853" y="1781900"/>
                  </a:lnTo>
                  <a:lnTo>
                    <a:pt x="2047064" y="1806106"/>
                  </a:lnTo>
                  <a:lnTo>
                    <a:pt x="2037997" y="1808377"/>
                  </a:lnTo>
                  <a:lnTo>
                    <a:pt x="2033397" y="1809292"/>
                  </a:lnTo>
                  <a:lnTo>
                    <a:pt x="2028752" y="1809749"/>
                  </a:lnTo>
                  <a:lnTo>
                    <a:pt x="2024062" y="1809749"/>
                  </a:lnTo>
                  <a:lnTo>
                    <a:pt x="71437" y="1809749"/>
                  </a:lnTo>
                  <a:lnTo>
                    <a:pt x="66746" y="1809749"/>
                  </a:lnTo>
                  <a:lnTo>
                    <a:pt x="62100" y="1809292"/>
                  </a:lnTo>
                  <a:lnTo>
                    <a:pt x="57499" y="1808377"/>
                  </a:lnTo>
                  <a:lnTo>
                    <a:pt x="52898" y="1807461"/>
                  </a:lnTo>
                  <a:lnTo>
                    <a:pt x="48431" y="1806106"/>
                  </a:lnTo>
                  <a:lnTo>
                    <a:pt x="44097" y="1804311"/>
                  </a:lnTo>
                  <a:lnTo>
                    <a:pt x="39763" y="1802516"/>
                  </a:lnTo>
                  <a:lnTo>
                    <a:pt x="35647" y="1800315"/>
                  </a:lnTo>
                  <a:lnTo>
                    <a:pt x="31747" y="1797709"/>
                  </a:lnTo>
                  <a:lnTo>
                    <a:pt x="27847" y="1795103"/>
                  </a:lnTo>
                  <a:lnTo>
                    <a:pt x="3642" y="1761316"/>
                  </a:lnTo>
                  <a:lnTo>
                    <a:pt x="1372" y="1752249"/>
                  </a:lnTo>
                  <a:lnTo>
                    <a:pt x="457" y="1747648"/>
                  </a:lnTo>
                  <a:lnTo>
                    <a:pt x="0" y="1743003"/>
                  </a:lnTo>
                  <a:lnTo>
                    <a:pt x="0" y="1738312"/>
                  </a:lnTo>
                  <a:close/>
                </a:path>
              </a:pathLst>
            </a:custGeom>
            <a:ln w="9524">
              <a:solidFill>
                <a:srgbClr val="DD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7410448" y="1171574"/>
              <a:ext cx="542925" cy="228600"/>
            </a:xfrm>
            <a:custGeom>
              <a:avLst/>
              <a:gdLst/>
              <a:ahLst/>
              <a:cxnLst/>
              <a:rect l="l" t="t" r="r" b="b"/>
              <a:pathLst>
                <a:path w="542925" h="228600">
                  <a:moveTo>
                    <a:pt x="509876" y="228599"/>
                  </a:moveTo>
                  <a:lnTo>
                    <a:pt x="33047" y="228599"/>
                  </a:lnTo>
                  <a:lnTo>
                    <a:pt x="28187" y="227633"/>
                  </a:lnTo>
                  <a:lnTo>
                    <a:pt x="966" y="200412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09876" y="0"/>
                  </a:lnTo>
                  <a:lnTo>
                    <a:pt x="541957" y="28187"/>
                  </a:lnTo>
                  <a:lnTo>
                    <a:pt x="542924" y="33047"/>
                  </a:lnTo>
                  <a:lnTo>
                    <a:pt x="542924" y="195552"/>
                  </a:lnTo>
                  <a:lnTo>
                    <a:pt x="514736" y="227633"/>
                  </a:lnTo>
                  <a:lnTo>
                    <a:pt x="509876" y="228599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7494785" y="1187450"/>
            <a:ext cx="37020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WS-</a:t>
            </a:r>
            <a:r>
              <a:rPr dirty="0" sz="950" spc="-50" b="1">
                <a:solidFill>
                  <a:srgbClr val="545454"/>
                </a:solidFill>
                <a:latin typeface="Arial"/>
                <a:cs typeface="Arial"/>
              </a:rPr>
              <a:t>D</a:t>
            </a:r>
            <a:endParaRPr sz="9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399535" y="1435100"/>
            <a:ext cx="1650364" cy="1221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73405">
              <a:lnSpc>
                <a:spcPct val="113599"/>
              </a:lnSpc>
              <a:spcBef>
                <a:spcPts val="95"/>
              </a:spcBef>
            </a:pP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Analytics</a:t>
            </a:r>
            <a:r>
              <a:rPr dirty="0" sz="1100" spc="5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&amp;</a:t>
            </a:r>
            <a:r>
              <a:rPr dirty="0" sz="1100" spc="6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1F2D59"/>
                </a:solidFill>
                <a:latin typeface="Arial"/>
                <a:cs typeface="Arial"/>
              </a:rPr>
              <a:t>KPI </a:t>
            </a:r>
            <a:r>
              <a:rPr dirty="0" sz="1100" spc="-10" b="1">
                <a:solidFill>
                  <a:srgbClr val="1F2D59"/>
                </a:solidFill>
                <a:latin typeface="Arial"/>
                <a:cs typeface="Arial"/>
              </a:rPr>
              <a:t>Dashboard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21700"/>
              </a:lnSpc>
              <a:spcBef>
                <a:spcPts val="305"/>
              </a:spcBef>
            </a:pP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KPI-001–024</a:t>
            </a:r>
            <a:r>
              <a:rPr dirty="0" sz="950" spc="17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545454"/>
                </a:solidFill>
                <a:latin typeface="Arial"/>
                <a:cs typeface="Arial"/>
              </a:rPr>
              <a:t>framework,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src/dashboard/</a:t>
            </a:r>
            <a:r>
              <a:rPr dirty="0" sz="950" spc="15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build,</a:t>
            </a:r>
            <a:r>
              <a:rPr dirty="0" sz="950" spc="15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GAP-</a:t>
            </a:r>
            <a:r>
              <a:rPr dirty="0" sz="950" spc="-25">
                <a:solidFill>
                  <a:srgbClr val="545454"/>
                </a:solidFill>
                <a:latin typeface="Arial"/>
                <a:cs typeface="Arial"/>
              </a:rPr>
              <a:t>08 </a:t>
            </a:r>
            <a:r>
              <a:rPr dirty="0" sz="950" spc="-10">
                <a:solidFill>
                  <a:srgbClr val="545454"/>
                </a:solidFill>
                <a:latin typeface="Arial"/>
                <a:cs typeface="Arial"/>
              </a:rPr>
              <a:t>closure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THB</a:t>
            </a:r>
            <a:r>
              <a:rPr dirty="0" sz="950" spc="4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545454"/>
                </a:solidFill>
                <a:latin typeface="Arial"/>
                <a:cs typeface="Arial"/>
              </a:rPr>
              <a:t>0.9M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9486898" y="1009649"/>
            <a:ext cx="2095500" cy="1819275"/>
            <a:chOff x="9486898" y="1009649"/>
            <a:chExt cx="2095500" cy="1819275"/>
          </a:xfrm>
        </p:grpSpPr>
        <p:sp>
          <p:nvSpPr>
            <p:cNvPr id="55" name="object 55"/>
            <p:cNvSpPr/>
            <p:nvPr/>
          </p:nvSpPr>
          <p:spPr>
            <a:xfrm>
              <a:off x="9491660" y="1014412"/>
              <a:ext cx="2085975" cy="1809750"/>
            </a:xfrm>
            <a:custGeom>
              <a:avLst/>
              <a:gdLst/>
              <a:ahLst/>
              <a:cxnLst/>
              <a:rect l="l" t="t" r="r" b="b"/>
              <a:pathLst>
                <a:path w="2085975" h="1809750">
                  <a:moveTo>
                    <a:pt x="2019228" y="1809749"/>
                  </a:moveTo>
                  <a:lnTo>
                    <a:pt x="66747" y="1809749"/>
                  </a:lnTo>
                  <a:lnTo>
                    <a:pt x="62100" y="1809292"/>
                  </a:lnTo>
                  <a:lnTo>
                    <a:pt x="24239" y="1792142"/>
                  </a:lnTo>
                  <a:lnTo>
                    <a:pt x="2286" y="1756849"/>
                  </a:lnTo>
                  <a:lnTo>
                    <a:pt x="0" y="1743003"/>
                  </a:lnTo>
                  <a:lnTo>
                    <a:pt x="0" y="17383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2019228" y="0"/>
                  </a:lnTo>
                  <a:lnTo>
                    <a:pt x="2058124" y="14645"/>
                  </a:lnTo>
                  <a:lnTo>
                    <a:pt x="2082330" y="48433"/>
                  </a:lnTo>
                  <a:lnTo>
                    <a:pt x="2085975" y="66746"/>
                  </a:lnTo>
                  <a:lnTo>
                    <a:pt x="2085975" y="1743003"/>
                  </a:lnTo>
                  <a:lnTo>
                    <a:pt x="2071328" y="1781900"/>
                  </a:lnTo>
                  <a:lnTo>
                    <a:pt x="2037542" y="1806106"/>
                  </a:lnTo>
                  <a:lnTo>
                    <a:pt x="2023873" y="1809292"/>
                  </a:lnTo>
                  <a:lnTo>
                    <a:pt x="2019228" y="180974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9491660" y="1014412"/>
              <a:ext cx="2085975" cy="1809750"/>
            </a:xfrm>
            <a:custGeom>
              <a:avLst/>
              <a:gdLst/>
              <a:ahLst/>
              <a:cxnLst/>
              <a:rect l="l" t="t" r="r" b="b"/>
              <a:pathLst>
                <a:path w="2085975" h="1809750">
                  <a:moveTo>
                    <a:pt x="0" y="17383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1" y="57500"/>
                  </a:lnTo>
                  <a:lnTo>
                    <a:pt x="2286" y="52900"/>
                  </a:lnTo>
                  <a:lnTo>
                    <a:pt x="3641" y="48433"/>
                  </a:lnTo>
                  <a:lnTo>
                    <a:pt x="5436" y="44099"/>
                  </a:lnTo>
                  <a:lnTo>
                    <a:pt x="7231" y="39765"/>
                  </a:lnTo>
                  <a:lnTo>
                    <a:pt x="35648" y="9433"/>
                  </a:lnTo>
                  <a:lnTo>
                    <a:pt x="57500" y="1372"/>
                  </a:lnTo>
                  <a:lnTo>
                    <a:pt x="62100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2014537" y="0"/>
                  </a:lnTo>
                  <a:lnTo>
                    <a:pt x="2019228" y="0"/>
                  </a:lnTo>
                  <a:lnTo>
                    <a:pt x="2023873" y="457"/>
                  </a:lnTo>
                  <a:lnTo>
                    <a:pt x="2028474" y="1372"/>
                  </a:lnTo>
                  <a:lnTo>
                    <a:pt x="2033075" y="2287"/>
                  </a:lnTo>
                  <a:lnTo>
                    <a:pt x="2068367" y="24240"/>
                  </a:lnTo>
                  <a:lnTo>
                    <a:pt x="2073934" y="31748"/>
                  </a:lnTo>
                  <a:lnTo>
                    <a:pt x="2076539" y="35648"/>
                  </a:lnTo>
                  <a:lnTo>
                    <a:pt x="2078740" y="39765"/>
                  </a:lnTo>
                  <a:lnTo>
                    <a:pt x="2080535" y="44099"/>
                  </a:lnTo>
                  <a:lnTo>
                    <a:pt x="2082330" y="48433"/>
                  </a:lnTo>
                  <a:lnTo>
                    <a:pt x="2083685" y="52900"/>
                  </a:lnTo>
                  <a:lnTo>
                    <a:pt x="2084602" y="57500"/>
                  </a:lnTo>
                  <a:lnTo>
                    <a:pt x="2085517" y="62101"/>
                  </a:lnTo>
                  <a:lnTo>
                    <a:pt x="2085975" y="66746"/>
                  </a:lnTo>
                  <a:lnTo>
                    <a:pt x="2085975" y="71437"/>
                  </a:lnTo>
                  <a:lnTo>
                    <a:pt x="2085975" y="1738312"/>
                  </a:lnTo>
                  <a:lnTo>
                    <a:pt x="2085975" y="1743003"/>
                  </a:lnTo>
                  <a:lnTo>
                    <a:pt x="2085517" y="1747648"/>
                  </a:lnTo>
                  <a:lnTo>
                    <a:pt x="2084602" y="1752249"/>
                  </a:lnTo>
                  <a:lnTo>
                    <a:pt x="2083685" y="1756849"/>
                  </a:lnTo>
                  <a:lnTo>
                    <a:pt x="2082330" y="1761316"/>
                  </a:lnTo>
                  <a:lnTo>
                    <a:pt x="2080535" y="1765649"/>
                  </a:lnTo>
                  <a:lnTo>
                    <a:pt x="2078740" y="1769983"/>
                  </a:lnTo>
                  <a:lnTo>
                    <a:pt x="2076539" y="1774100"/>
                  </a:lnTo>
                  <a:lnTo>
                    <a:pt x="2073934" y="1778000"/>
                  </a:lnTo>
                  <a:lnTo>
                    <a:pt x="2071328" y="1781900"/>
                  </a:lnTo>
                  <a:lnTo>
                    <a:pt x="2037542" y="1806106"/>
                  </a:lnTo>
                  <a:lnTo>
                    <a:pt x="2028474" y="1808377"/>
                  </a:lnTo>
                  <a:lnTo>
                    <a:pt x="2023873" y="1809292"/>
                  </a:lnTo>
                  <a:lnTo>
                    <a:pt x="2019228" y="1809749"/>
                  </a:lnTo>
                  <a:lnTo>
                    <a:pt x="2014537" y="1809749"/>
                  </a:lnTo>
                  <a:lnTo>
                    <a:pt x="71438" y="1809749"/>
                  </a:lnTo>
                  <a:lnTo>
                    <a:pt x="66747" y="1809749"/>
                  </a:lnTo>
                  <a:lnTo>
                    <a:pt x="62100" y="1809292"/>
                  </a:lnTo>
                  <a:lnTo>
                    <a:pt x="57499" y="1808377"/>
                  </a:lnTo>
                  <a:lnTo>
                    <a:pt x="52899" y="1807461"/>
                  </a:lnTo>
                  <a:lnTo>
                    <a:pt x="17606" y="1785509"/>
                  </a:lnTo>
                  <a:lnTo>
                    <a:pt x="5436" y="1765649"/>
                  </a:lnTo>
                  <a:lnTo>
                    <a:pt x="3641" y="1761316"/>
                  </a:lnTo>
                  <a:lnTo>
                    <a:pt x="2286" y="1756849"/>
                  </a:lnTo>
                  <a:lnTo>
                    <a:pt x="1371" y="1752249"/>
                  </a:lnTo>
                  <a:lnTo>
                    <a:pt x="457" y="1747648"/>
                  </a:lnTo>
                  <a:lnTo>
                    <a:pt x="0" y="1743003"/>
                  </a:lnTo>
                  <a:lnTo>
                    <a:pt x="0" y="1738312"/>
                  </a:lnTo>
                  <a:close/>
                </a:path>
              </a:pathLst>
            </a:custGeom>
            <a:ln w="9524">
              <a:solidFill>
                <a:srgbClr val="DD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9629773" y="1171574"/>
              <a:ext cx="533400" cy="228600"/>
            </a:xfrm>
            <a:custGeom>
              <a:avLst/>
              <a:gdLst/>
              <a:ahLst/>
              <a:cxnLst/>
              <a:rect l="l" t="t" r="r" b="b"/>
              <a:pathLst>
                <a:path w="533400" h="228600">
                  <a:moveTo>
                    <a:pt x="500352" y="228599"/>
                  </a:moveTo>
                  <a:lnTo>
                    <a:pt x="33047" y="228599"/>
                  </a:lnTo>
                  <a:lnTo>
                    <a:pt x="28187" y="227633"/>
                  </a:lnTo>
                  <a:lnTo>
                    <a:pt x="966" y="200412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00352" y="0"/>
                  </a:lnTo>
                  <a:lnTo>
                    <a:pt x="532433" y="28187"/>
                  </a:lnTo>
                  <a:lnTo>
                    <a:pt x="533399" y="33047"/>
                  </a:lnTo>
                  <a:lnTo>
                    <a:pt x="533399" y="195552"/>
                  </a:lnTo>
                  <a:lnTo>
                    <a:pt x="505211" y="227633"/>
                  </a:lnTo>
                  <a:lnTo>
                    <a:pt x="500352" y="228599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9708454" y="1187450"/>
            <a:ext cx="36322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WS-</a:t>
            </a:r>
            <a:r>
              <a:rPr dirty="0" sz="950" spc="-50" b="1">
                <a:solidFill>
                  <a:srgbClr val="545454"/>
                </a:solidFill>
                <a:latin typeface="Arial"/>
                <a:cs typeface="Arial"/>
              </a:rPr>
              <a:t>E</a:t>
            </a:r>
            <a:endParaRPr sz="9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613204" y="1366226"/>
            <a:ext cx="1739900" cy="110045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Human</a:t>
            </a:r>
            <a:r>
              <a:rPr dirty="0" sz="1100" spc="5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Capital</a:t>
            </a:r>
            <a:r>
              <a:rPr dirty="0" sz="1100" spc="5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&amp;</a:t>
            </a:r>
            <a:r>
              <a:rPr dirty="0" sz="1100" spc="6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F2D59"/>
                </a:solidFill>
                <a:latin typeface="Arial"/>
                <a:cs typeface="Arial"/>
              </a:rPr>
              <a:t>Change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8400"/>
              </a:lnSpc>
              <a:spcBef>
                <a:spcPts val="420"/>
              </a:spcBef>
            </a:pP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TRN-001–004 training, </a:t>
            </a:r>
            <a:r>
              <a:rPr dirty="0" sz="950" spc="-20">
                <a:solidFill>
                  <a:srgbClr val="545454"/>
                </a:solidFill>
                <a:latin typeface="Arial"/>
                <a:cs typeface="Arial"/>
              </a:rPr>
              <a:t>CHG-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001–004</a:t>
            </a:r>
            <a:r>
              <a:rPr dirty="0" sz="950" spc="10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change</a:t>
            </a:r>
            <a:r>
              <a:rPr dirty="0" sz="950" spc="10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545454"/>
                </a:solidFill>
                <a:latin typeface="Arial"/>
                <a:cs typeface="Arial"/>
              </a:rPr>
              <a:t>management, </a:t>
            </a:r>
            <a:r>
              <a:rPr dirty="0" sz="950">
                <a:solidFill>
                  <a:srgbClr val="545454"/>
                </a:solidFill>
                <a:latin typeface="Arial"/>
                <a:cs typeface="Arial"/>
              </a:rPr>
              <a:t>AMD4-</a:t>
            </a:r>
            <a:r>
              <a:rPr dirty="0" sz="950" spc="-10">
                <a:solidFill>
                  <a:srgbClr val="545454"/>
                </a:solidFill>
                <a:latin typeface="Arial"/>
                <a:cs typeface="Arial"/>
              </a:rPr>
              <a:t>CLOSE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THB</a:t>
            </a:r>
            <a:r>
              <a:rPr dirty="0" sz="950" spc="4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545454"/>
                </a:solidFill>
                <a:latin typeface="Arial"/>
                <a:cs typeface="Arial"/>
              </a:rPr>
              <a:t>0.6M</a:t>
            </a:r>
            <a:endParaRPr sz="9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5949" y="6635750"/>
            <a:ext cx="50742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MONOLITH</a:t>
            </a:r>
            <a:r>
              <a:rPr dirty="0" sz="800" spc="5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DAPH</a:t>
            </a:r>
            <a:r>
              <a:rPr dirty="0" sz="800" spc="6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Decor AI</a:t>
            </a:r>
            <a:r>
              <a:rPr dirty="0" sz="800" spc="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Agent</a:t>
            </a:r>
            <a:r>
              <a:rPr dirty="0" sz="800" spc="5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Programme</a:t>
            </a:r>
            <a:r>
              <a:rPr dirty="0" sz="800" spc="6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 spc="6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SC</a:t>
            </a:r>
            <a:r>
              <a:rPr dirty="0" sz="800" spc="5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Review</a:t>
            </a:r>
            <a:r>
              <a:rPr dirty="0" sz="800" spc="6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2569</a:t>
            </a:r>
            <a:r>
              <a:rPr dirty="0" sz="800" spc="6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 spc="-4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 AMD-004</a:t>
            </a:r>
            <a:r>
              <a:rPr dirty="0" sz="800" spc="6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Programme</a:t>
            </a:r>
            <a:r>
              <a:rPr dirty="0" sz="800" spc="5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Completion</a:t>
            </a:r>
            <a:r>
              <a:rPr dirty="0" sz="800" spc="6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8B8B8B"/>
                </a:solidFill>
                <a:latin typeface="Arial"/>
                <a:cs typeface="Arial"/>
              </a:rPr>
              <a:t>Report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49" y="0"/>
            <a:ext cx="12147550" cy="6858000"/>
          </a:xfrm>
          <a:custGeom>
            <a:avLst/>
            <a:gdLst/>
            <a:ahLst/>
            <a:cxnLst/>
            <a:rect l="l" t="t" r="r" b="b"/>
            <a:pathLst>
              <a:path w="12147550" h="6858000">
                <a:moveTo>
                  <a:pt x="0" y="6857999"/>
                </a:moveTo>
                <a:lnTo>
                  <a:pt x="12147040" y="6857999"/>
                </a:lnTo>
                <a:lnTo>
                  <a:pt x="1214704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153898" y="0"/>
            <a:ext cx="50800" cy="6858000"/>
          </a:xfrm>
          <a:custGeom>
            <a:avLst/>
            <a:gdLst/>
            <a:ahLst/>
            <a:cxnLst/>
            <a:rect l="l" t="t" r="r" b="b"/>
            <a:pathLst>
              <a:path w="50800" h="6858000">
                <a:moveTo>
                  <a:pt x="50292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50292" y="0"/>
                </a:lnTo>
                <a:lnTo>
                  <a:pt x="50292" y="68579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53900" cy="6858000"/>
            <a:chOff x="0" y="0"/>
            <a:chExt cx="12153900" cy="68580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150" cy="6858000"/>
            </a:xfrm>
            <a:custGeom>
              <a:avLst/>
              <a:gdLst/>
              <a:ahLst/>
              <a:cxnLst/>
              <a:rect l="l" t="t" r="r" b="b"/>
              <a:pathLst>
                <a:path w="57150" h="6858000">
                  <a:moveTo>
                    <a:pt x="5714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6857999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7149" y="0"/>
              <a:ext cx="12096750" cy="781050"/>
            </a:xfrm>
            <a:custGeom>
              <a:avLst/>
              <a:gdLst/>
              <a:ahLst/>
              <a:cxnLst/>
              <a:rect l="l" t="t" r="r" b="b"/>
              <a:pathLst>
                <a:path w="12096750" h="781050">
                  <a:moveTo>
                    <a:pt x="1209674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12096749" y="0"/>
                  </a:lnTo>
                  <a:lnTo>
                    <a:pt x="12096749" y="781049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15949" y="168275"/>
            <a:ext cx="358902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ROI</a:t>
            </a:r>
            <a:r>
              <a:rPr dirty="0" spc="-10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Business</a:t>
            </a:r>
            <a:r>
              <a:rPr dirty="0" spc="-5"/>
              <a:t> </a:t>
            </a:r>
            <a:r>
              <a:rPr dirty="0" spc="-20"/>
              <a:t>Value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51089" y="358775"/>
            <a:ext cx="43370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Phase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1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Outcome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Metrics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·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KPI-001–024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Dashboard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Results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8649" y="1009649"/>
            <a:ext cx="6762750" cy="704850"/>
            <a:chOff x="628649" y="1009649"/>
            <a:chExt cx="6762750" cy="704850"/>
          </a:xfrm>
        </p:grpSpPr>
        <p:sp>
          <p:nvSpPr>
            <p:cNvPr id="10" name="object 10"/>
            <p:cNvSpPr/>
            <p:nvPr/>
          </p:nvSpPr>
          <p:spPr>
            <a:xfrm>
              <a:off x="652462" y="1009649"/>
              <a:ext cx="6739255" cy="704850"/>
            </a:xfrm>
            <a:custGeom>
              <a:avLst/>
              <a:gdLst/>
              <a:ahLst/>
              <a:cxnLst/>
              <a:rect l="l" t="t" r="r" b="b"/>
              <a:pathLst>
                <a:path w="6739255" h="704850">
                  <a:moveTo>
                    <a:pt x="6667739" y="704849"/>
                  </a:moveTo>
                  <a:lnTo>
                    <a:pt x="48947" y="704849"/>
                  </a:lnTo>
                  <a:lnTo>
                    <a:pt x="45540" y="704361"/>
                  </a:lnTo>
                  <a:lnTo>
                    <a:pt x="12911" y="678993"/>
                  </a:lnTo>
                  <a:lnTo>
                    <a:pt x="335" y="638608"/>
                  </a:lnTo>
                  <a:lnTo>
                    <a:pt x="0" y="633653"/>
                  </a:lnTo>
                  <a:lnTo>
                    <a:pt x="0" y="628649"/>
                  </a:lnTo>
                  <a:lnTo>
                    <a:pt x="0" y="71196"/>
                  </a:lnTo>
                  <a:lnTo>
                    <a:pt x="10739" y="29705"/>
                  </a:lnTo>
                  <a:lnTo>
                    <a:pt x="38793" y="2440"/>
                  </a:lnTo>
                  <a:lnTo>
                    <a:pt x="48947" y="0"/>
                  </a:lnTo>
                  <a:lnTo>
                    <a:pt x="6667739" y="0"/>
                  </a:lnTo>
                  <a:lnTo>
                    <a:pt x="6709231" y="15621"/>
                  </a:lnTo>
                  <a:lnTo>
                    <a:pt x="6735050" y="51661"/>
                  </a:lnTo>
                  <a:lnTo>
                    <a:pt x="6738937" y="71196"/>
                  </a:lnTo>
                  <a:lnTo>
                    <a:pt x="6738937" y="633653"/>
                  </a:lnTo>
                  <a:lnTo>
                    <a:pt x="6723314" y="675144"/>
                  </a:lnTo>
                  <a:lnTo>
                    <a:pt x="6687274" y="700964"/>
                  </a:lnTo>
                  <a:lnTo>
                    <a:pt x="6672695" y="704361"/>
                  </a:lnTo>
                  <a:lnTo>
                    <a:pt x="6667739" y="704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8649" y="1009851"/>
              <a:ext cx="72390" cy="704850"/>
            </a:xfrm>
            <a:custGeom>
              <a:avLst/>
              <a:gdLst/>
              <a:ahLst/>
              <a:cxnLst/>
              <a:rect l="l" t="t" r="r" b="b"/>
              <a:pathLst>
                <a:path w="72390" h="704850">
                  <a:moveTo>
                    <a:pt x="72031" y="704447"/>
                  </a:moveTo>
                  <a:lnTo>
                    <a:pt x="33857" y="691818"/>
                  </a:lnTo>
                  <a:lnTo>
                    <a:pt x="5800" y="657609"/>
                  </a:lnTo>
                  <a:lnTo>
                    <a:pt x="0" y="628448"/>
                  </a:lnTo>
                  <a:lnTo>
                    <a:pt x="0" y="75998"/>
                  </a:lnTo>
                  <a:lnTo>
                    <a:pt x="12830" y="33656"/>
                  </a:lnTo>
                  <a:lnTo>
                    <a:pt x="47039" y="5598"/>
                  </a:lnTo>
                  <a:lnTo>
                    <a:pt x="72031" y="0"/>
                  </a:lnTo>
                  <a:lnTo>
                    <a:pt x="68765" y="1732"/>
                  </a:lnTo>
                  <a:lnTo>
                    <a:pt x="61763" y="9465"/>
                  </a:lnTo>
                  <a:lnTo>
                    <a:pt x="49800" y="46838"/>
                  </a:lnTo>
                  <a:lnTo>
                    <a:pt x="47625" y="75998"/>
                  </a:lnTo>
                  <a:lnTo>
                    <a:pt x="47625" y="628448"/>
                  </a:lnTo>
                  <a:lnTo>
                    <a:pt x="52436" y="670790"/>
                  </a:lnTo>
                  <a:lnTo>
                    <a:pt x="68765" y="702714"/>
                  </a:lnTo>
                  <a:lnTo>
                    <a:pt x="72031" y="704447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54075" y="1120775"/>
            <a:ext cx="912494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0" b="1">
                <a:solidFill>
                  <a:srgbClr val="1F2D59"/>
                </a:solidFill>
                <a:latin typeface="Arial"/>
                <a:cs typeface="Arial"/>
              </a:rPr>
              <a:t>+12%</a:t>
            </a:r>
            <a:endParaRPr sz="2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93044" y="1078048"/>
            <a:ext cx="4095115" cy="46672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SOP</a:t>
            </a:r>
            <a:r>
              <a:rPr dirty="0" sz="1200" spc="-4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Coverage</a:t>
            </a:r>
            <a:r>
              <a:rPr dirty="0" sz="1200" spc="-1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2D59"/>
                </a:solidFill>
                <a:latin typeface="Arial"/>
                <a:cs typeface="Arial"/>
              </a:rPr>
              <a:t>Improvement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dirty="0" sz="105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56%</a:t>
            </a:r>
            <a:r>
              <a:rPr dirty="0" sz="10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dirty="0" sz="10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68%</a:t>
            </a:r>
            <a:r>
              <a:rPr dirty="0" sz="10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—</a:t>
            </a:r>
            <a:r>
              <a:rPr dirty="0" sz="10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12</a:t>
            </a:r>
            <a:r>
              <a:rPr dirty="0" sz="10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percentage</a:t>
            </a:r>
            <a:r>
              <a:rPr dirty="0" sz="105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points</a:t>
            </a:r>
            <a:r>
              <a:rPr dirty="0" sz="10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gained</a:t>
            </a:r>
            <a:r>
              <a:rPr dirty="0" sz="10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across</a:t>
            </a:r>
            <a:r>
              <a:rPr dirty="0" sz="10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all</a:t>
            </a:r>
            <a:r>
              <a:rPr dirty="0" sz="10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6</a:t>
            </a:r>
            <a:r>
              <a:rPr dirty="0" sz="10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66666"/>
                </a:solidFill>
                <a:latin typeface="Arial"/>
                <a:cs typeface="Arial"/>
              </a:rPr>
              <a:t>Pillars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8649" y="1847849"/>
            <a:ext cx="6762750" cy="704850"/>
            <a:chOff x="628649" y="1847849"/>
            <a:chExt cx="6762750" cy="704850"/>
          </a:xfrm>
        </p:grpSpPr>
        <p:sp>
          <p:nvSpPr>
            <p:cNvPr id="15" name="object 15"/>
            <p:cNvSpPr/>
            <p:nvPr/>
          </p:nvSpPr>
          <p:spPr>
            <a:xfrm>
              <a:off x="652462" y="1847849"/>
              <a:ext cx="6739255" cy="704850"/>
            </a:xfrm>
            <a:custGeom>
              <a:avLst/>
              <a:gdLst/>
              <a:ahLst/>
              <a:cxnLst/>
              <a:rect l="l" t="t" r="r" b="b"/>
              <a:pathLst>
                <a:path w="6739255" h="704850">
                  <a:moveTo>
                    <a:pt x="6667739" y="704849"/>
                  </a:moveTo>
                  <a:lnTo>
                    <a:pt x="48947" y="704849"/>
                  </a:lnTo>
                  <a:lnTo>
                    <a:pt x="45540" y="704361"/>
                  </a:lnTo>
                  <a:lnTo>
                    <a:pt x="12911" y="678993"/>
                  </a:lnTo>
                  <a:lnTo>
                    <a:pt x="335" y="638608"/>
                  </a:lnTo>
                  <a:lnTo>
                    <a:pt x="0" y="633653"/>
                  </a:lnTo>
                  <a:lnTo>
                    <a:pt x="0" y="628649"/>
                  </a:lnTo>
                  <a:lnTo>
                    <a:pt x="0" y="71196"/>
                  </a:lnTo>
                  <a:lnTo>
                    <a:pt x="10739" y="29705"/>
                  </a:lnTo>
                  <a:lnTo>
                    <a:pt x="38793" y="2440"/>
                  </a:lnTo>
                  <a:lnTo>
                    <a:pt x="48947" y="0"/>
                  </a:lnTo>
                  <a:lnTo>
                    <a:pt x="6667739" y="0"/>
                  </a:lnTo>
                  <a:lnTo>
                    <a:pt x="6709231" y="15621"/>
                  </a:lnTo>
                  <a:lnTo>
                    <a:pt x="6735050" y="51661"/>
                  </a:lnTo>
                  <a:lnTo>
                    <a:pt x="6738937" y="71196"/>
                  </a:lnTo>
                  <a:lnTo>
                    <a:pt x="6738937" y="633653"/>
                  </a:lnTo>
                  <a:lnTo>
                    <a:pt x="6723314" y="675144"/>
                  </a:lnTo>
                  <a:lnTo>
                    <a:pt x="6687274" y="700963"/>
                  </a:lnTo>
                  <a:lnTo>
                    <a:pt x="6672695" y="704361"/>
                  </a:lnTo>
                  <a:lnTo>
                    <a:pt x="6667739" y="704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28649" y="1848051"/>
              <a:ext cx="72390" cy="704850"/>
            </a:xfrm>
            <a:custGeom>
              <a:avLst/>
              <a:gdLst/>
              <a:ahLst/>
              <a:cxnLst/>
              <a:rect l="l" t="t" r="r" b="b"/>
              <a:pathLst>
                <a:path w="72390" h="704850">
                  <a:moveTo>
                    <a:pt x="72031" y="704447"/>
                  </a:moveTo>
                  <a:lnTo>
                    <a:pt x="33857" y="691818"/>
                  </a:lnTo>
                  <a:lnTo>
                    <a:pt x="5800" y="657609"/>
                  </a:lnTo>
                  <a:lnTo>
                    <a:pt x="0" y="628448"/>
                  </a:lnTo>
                  <a:lnTo>
                    <a:pt x="0" y="75998"/>
                  </a:lnTo>
                  <a:lnTo>
                    <a:pt x="12830" y="33655"/>
                  </a:lnTo>
                  <a:lnTo>
                    <a:pt x="47039" y="5599"/>
                  </a:lnTo>
                  <a:lnTo>
                    <a:pt x="72031" y="0"/>
                  </a:lnTo>
                  <a:lnTo>
                    <a:pt x="68765" y="1732"/>
                  </a:lnTo>
                  <a:lnTo>
                    <a:pt x="61763" y="9465"/>
                  </a:lnTo>
                  <a:lnTo>
                    <a:pt x="49800" y="46837"/>
                  </a:lnTo>
                  <a:lnTo>
                    <a:pt x="47625" y="75998"/>
                  </a:lnTo>
                  <a:lnTo>
                    <a:pt x="47625" y="628448"/>
                  </a:lnTo>
                  <a:lnTo>
                    <a:pt x="52436" y="670790"/>
                  </a:lnTo>
                  <a:lnTo>
                    <a:pt x="68765" y="702714"/>
                  </a:lnTo>
                  <a:lnTo>
                    <a:pt x="72031" y="704447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29679" y="1958975"/>
            <a:ext cx="71183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 b="1">
                <a:solidFill>
                  <a:srgbClr val="C8A74B"/>
                </a:solidFill>
                <a:latin typeface="Arial"/>
                <a:cs typeface="Arial"/>
              </a:rPr>
              <a:t>40%</a:t>
            </a:r>
            <a:endParaRPr sz="2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68475" y="1916248"/>
            <a:ext cx="4538980" cy="46672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Design</a:t>
            </a:r>
            <a:r>
              <a:rPr dirty="0" sz="1200" spc="-1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Cycle</a:t>
            </a:r>
            <a:r>
              <a:rPr dirty="0" sz="1200" spc="-1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Time</a:t>
            </a:r>
            <a:r>
              <a:rPr dirty="0" sz="1200" spc="-10" b="1">
                <a:solidFill>
                  <a:srgbClr val="1F2D59"/>
                </a:solidFill>
                <a:latin typeface="Arial"/>
                <a:cs typeface="Arial"/>
              </a:rPr>
              <a:t> Reduction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050" spc="-10">
                <a:solidFill>
                  <a:srgbClr val="666666"/>
                </a:solidFill>
                <a:latin typeface="Arial"/>
                <a:cs typeface="Arial"/>
              </a:rPr>
              <a:t>AI-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assisted</a:t>
            </a:r>
            <a:r>
              <a:rPr dirty="0" sz="105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workflow</a:t>
            </a:r>
            <a:r>
              <a:rPr dirty="0" sz="105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(Aria,</a:t>
            </a:r>
            <a:r>
              <a:rPr dirty="0" sz="105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Nova)</a:t>
            </a:r>
            <a:r>
              <a:rPr dirty="0" sz="105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reduced</a:t>
            </a:r>
            <a:r>
              <a:rPr dirty="0" sz="105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design</a:t>
            </a:r>
            <a:r>
              <a:rPr dirty="0" sz="105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review</a:t>
            </a:r>
            <a:r>
              <a:rPr dirty="0" sz="105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cycle</a:t>
            </a:r>
            <a:r>
              <a:rPr dirty="0" sz="105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dirty="0" sz="105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66666"/>
                </a:solidFill>
                <a:latin typeface="Arial"/>
                <a:cs typeface="Arial"/>
              </a:rPr>
              <a:t>baseline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581899" y="1009650"/>
            <a:ext cx="4000500" cy="1876425"/>
            <a:chOff x="7581899" y="1009650"/>
            <a:chExt cx="4000500" cy="1876425"/>
          </a:xfrm>
        </p:grpSpPr>
        <p:sp>
          <p:nvSpPr>
            <p:cNvPr id="30" name="object 30"/>
            <p:cNvSpPr/>
            <p:nvPr/>
          </p:nvSpPr>
          <p:spPr>
            <a:xfrm>
              <a:off x="7581899" y="1028699"/>
              <a:ext cx="4000500" cy="1857375"/>
            </a:xfrm>
            <a:custGeom>
              <a:avLst/>
              <a:gdLst/>
              <a:ahLst/>
              <a:cxnLst/>
              <a:rect l="l" t="t" r="r" b="b"/>
              <a:pathLst>
                <a:path w="4000500" h="1857375">
                  <a:moveTo>
                    <a:pt x="3929302" y="1857374"/>
                  </a:moveTo>
                  <a:lnTo>
                    <a:pt x="71196" y="1857374"/>
                  </a:lnTo>
                  <a:lnTo>
                    <a:pt x="66240" y="1856886"/>
                  </a:lnTo>
                  <a:lnTo>
                    <a:pt x="29703" y="1841752"/>
                  </a:lnTo>
                  <a:lnTo>
                    <a:pt x="3884" y="1805712"/>
                  </a:lnTo>
                  <a:lnTo>
                    <a:pt x="0" y="1786178"/>
                  </a:lnTo>
                  <a:lnTo>
                    <a:pt x="0" y="1781174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5" y="1830"/>
                  </a:lnTo>
                  <a:lnTo>
                    <a:pt x="71196" y="0"/>
                  </a:lnTo>
                  <a:lnTo>
                    <a:pt x="3929302" y="0"/>
                  </a:lnTo>
                  <a:lnTo>
                    <a:pt x="3970792" y="11716"/>
                  </a:lnTo>
                  <a:lnTo>
                    <a:pt x="3998056" y="42320"/>
                  </a:lnTo>
                  <a:lnTo>
                    <a:pt x="4000498" y="53397"/>
                  </a:lnTo>
                  <a:lnTo>
                    <a:pt x="4000498" y="1786178"/>
                  </a:lnTo>
                  <a:lnTo>
                    <a:pt x="3984876" y="1827668"/>
                  </a:lnTo>
                  <a:lnTo>
                    <a:pt x="3948836" y="1853488"/>
                  </a:lnTo>
                  <a:lnTo>
                    <a:pt x="3934257" y="1856886"/>
                  </a:lnTo>
                  <a:lnTo>
                    <a:pt x="3929302" y="1857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582177" y="1009650"/>
              <a:ext cx="4000500" cy="70485"/>
            </a:xfrm>
            <a:custGeom>
              <a:avLst/>
              <a:gdLst/>
              <a:ahLst/>
              <a:cxnLst/>
              <a:rect l="l" t="t" r="r" b="b"/>
              <a:pathLst>
                <a:path w="4000500" h="70484">
                  <a:moveTo>
                    <a:pt x="0" y="70450"/>
                  </a:moveTo>
                  <a:lnTo>
                    <a:pt x="12552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3924022" y="0"/>
                  </a:lnTo>
                  <a:lnTo>
                    <a:pt x="3966363" y="12830"/>
                  </a:lnTo>
                  <a:lnTo>
                    <a:pt x="398993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4000500" h="70484">
                  <a:moveTo>
                    <a:pt x="3999944" y="70450"/>
                  </a:moveTo>
                  <a:lnTo>
                    <a:pt x="3966363" y="44514"/>
                  </a:lnTo>
                  <a:lnTo>
                    <a:pt x="3924022" y="38099"/>
                  </a:lnTo>
                  <a:lnTo>
                    <a:pt x="3989930" y="38099"/>
                  </a:lnTo>
                  <a:lnTo>
                    <a:pt x="3999859" y="68693"/>
                  </a:lnTo>
                  <a:lnTo>
                    <a:pt x="3999944" y="70450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7759700" y="1187450"/>
            <a:ext cx="347472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Agent</a:t>
            </a:r>
            <a:r>
              <a:rPr dirty="0" sz="1350" spc="-1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SLA</a:t>
            </a:r>
            <a:r>
              <a:rPr dirty="0" sz="1350" spc="-6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Performance</a:t>
            </a:r>
            <a:r>
              <a:rPr dirty="0" sz="1350" spc="-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F2D59"/>
                </a:solidFill>
                <a:latin typeface="Arial"/>
                <a:cs typeface="Arial"/>
              </a:rPr>
              <a:t>(Group</a:t>
            </a:r>
            <a:r>
              <a:rPr dirty="0" sz="1350" spc="-6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F2D59"/>
                </a:solidFill>
                <a:latin typeface="Arial"/>
                <a:cs typeface="Arial"/>
              </a:rPr>
              <a:t>Averages)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8649" y="2686049"/>
            <a:ext cx="6762750" cy="704850"/>
            <a:chOff x="628649" y="2686049"/>
            <a:chExt cx="6762750" cy="704850"/>
          </a:xfrm>
        </p:grpSpPr>
        <p:sp>
          <p:nvSpPr>
            <p:cNvPr id="20" name="object 20"/>
            <p:cNvSpPr/>
            <p:nvPr/>
          </p:nvSpPr>
          <p:spPr>
            <a:xfrm>
              <a:off x="652462" y="2686049"/>
              <a:ext cx="6739255" cy="704850"/>
            </a:xfrm>
            <a:custGeom>
              <a:avLst/>
              <a:gdLst/>
              <a:ahLst/>
              <a:cxnLst/>
              <a:rect l="l" t="t" r="r" b="b"/>
              <a:pathLst>
                <a:path w="6739255" h="704850">
                  <a:moveTo>
                    <a:pt x="6667739" y="704849"/>
                  </a:moveTo>
                  <a:lnTo>
                    <a:pt x="48947" y="704849"/>
                  </a:lnTo>
                  <a:lnTo>
                    <a:pt x="45540" y="704361"/>
                  </a:lnTo>
                  <a:lnTo>
                    <a:pt x="12911" y="678992"/>
                  </a:lnTo>
                  <a:lnTo>
                    <a:pt x="335" y="638608"/>
                  </a:lnTo>
                  <a:lnTo>
                    <a:pt x="0" y="633653"/>
                  </a:lnTo>
                  <a:lnTo>
                    <a:pt x="0" y="628649"/>
                  </a:lnTo>
                  <a:lnTo>
                    <a:pt x="0" y="71196"/>
                  </a:lnTo>
                  <a:lnTo>
                    <a:pt x="10739" y="29705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6667739" y="0"/>
                  </a:lnTo>
                  <a:lnTo>
                    <a:pt x="6709231" y="15621"/>
                  </a:lnTo>
                  <a:lnTo>
                    <a:pt x="6735050" y="51661"/>
                  </a:lnTo>
                  <a:lnTo>
                    <a:pt x="6738937" y="71196"/>
                  </a:lnTo>
                  <a:lnTo>
                    <a:pt x="6738937" y="633653"/>
                  </a:lnTo>
                  <a:lnTo>
                    <a:pt x="6723314" y="675143"/>
                  </a:lnTo>
                  <a:lnTo>
                    <a:pt x="6687274" y="700963"/>
                  </a:lnTo>
                  <a:lnTo>
                    <a:pt x="6672695" y="704361"/>
                  </a:lnTo>
                  <a:lnTo>
                    <a:pt x="6667739" y="704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28649" y="2686251"/>
              <a:ext cx="72390" cy="704850"/>
            </a:xfrm>
            <a:custGeom>
              <a:avLst/>
              <a:gdLst/>
              <a:ahLst/>
              <a:cxnLst/>
              <a:rect l="l" t="t" r="r" b="b"/>
              <a:pathLst>
                <a:path w="72390" h="704850">
                  <a:moveTo>
                    <a:pt x="72031" y="704447"/>
                  </a:moveTo>
                  <a:lnTo>
                    <a:pt x="33857" y="691818"/>
                  </a:lnTo>
                  <a:lnTo>
                    <a:pt x="5800" y="657608"/>
                  </a:lnTo>
                  <a:lnTo>
                    <a:pt x="0" y="628448"/>
                  </a:lnTo>
                  <a:lnTo>
                    <a:pt x="0" y="75998"/>
                  </a:lnTo>
                  <a:lnTo>
                    <a:pt x="12830" y="33655"/>
                  </a:lnTo>
                  <a:lnTo>
                    <a:pt x="47039" y="5598"/>
                  </a:lnTo>
                  <a:lnTo>
                    <a:pt x="72031" y="0"/>
                  </a:lnTo>
                  <a:lnTo>
                    <a:pt x="68765" y="1732"/>
                  </a:lnTo>
                  <a:lnTo>
                    <a:pt x="61763" y="9465"/>
                  </a:lnTo>
                  <a:lnTo>
                    <a:pt x="49800" y="46837"/>
                  </a:lnTo>
                  <a:lnTo>
                    <a:pt x="47625" y="75998"/>
                  </a:lnTo>
                  <a:lnTo>
                    <a:pt x="47625" y="628448"/>
                  </a:lnTo>
                  <a:lnTo>
                    <a:pt x="52436" y="670790"/>
                  </a:lnTo>
                  <a:lnTo>
                    <a:pt x="68765" y="702714"/>
                  </a:lnTo>
                  <a:lnTo>
                    <a:pt x="72031" y="704447"/>
                  </a:lnTo>
                  <a:close/>
                </a:path>
              </a:pathLst>
            </a:custGeom>
            <a:solidFill>
              <a:srgbClr val="26AE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54075" y="2797175"/>
            <a:ext cx="158813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26AE60"/>
                </a:solidFill>
                <a:latin typeface="Arial"/>
                <a:cs typeface="Arial"/>
              </a:rPr>
              <a:t>THB</a:t>
            </a:r>
            <a:r>
              <a:rPr dirty="0" sz="2700" spc="-60" b="1">
                <a:solidFill>
                  <a:srgbClr val="26AE60"/>
                </a:solidFill>
                <a:latin typeface="Arial"/>
                <a:cs typeface="Arial"/>
              </a:rPr>
              <a:t> </a:t>
            </a:r>
            <a:r>
              <a:rPr dirty="0" sz="2700" spc="-20" b="1">
                <a:solidFill>
                  <a:srgbClr val="26AE60"/>
                </a:solidFill>
                <a:latin typeface="Arial"/>
                <a:cs typeface="Arial"/>
              </a:rPr>
              <a:t>5.2M</a:t>
            </a:r>
            <a:endParaRPr sz="2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68872" y="2754448"/>
            <a:ext cx="4243070" cy="46672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200" spc="-10" b="1">
                <a:solidFill>
                  <a:srgbClr val="1F2D59"/>
                </a:solidFill>
                <a:latin typeface="Arial"/>
                <a:cs typeface="Arial"/>
              </a:rPr>
              <a:t>On-</a:t>
            </a: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Budget</a:t>
            </a:r>
            <a:r>
              <a:rPr dirty="0" sz="1200" spc="-3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2D59"/>
                </a:solidFill>
                <a:latin typeface="Arial"/>
                <a:cs typeface="Arial"/>
              </a:rPr>
              <a:t>Delivery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All</a:t>
            </a:r>
            <a:r>
              <a:rPr dirty="0" sz="1050" spc="-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5</a:t>
            </a:r>
            <a:r>
              <a:rPr dirty="0" sz="1050" spc="-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66666"/>
                </a:solidFill>
                <a:latin typeface="Arial"/>
                <a:cs typeface="Arial"/>
              </a:rPr>
              <a:t>AMD-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004</a:t>
            </a:r>
            <a:r>
              <a:rPr dirty="0" sz="105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workstreams</a:t>
            </a:r>
            <a:r>
              <a:rPr dirty="0" sz="105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delivered</a:t>
            </a:r>
            <a:r>
              <a:rPr dirty="0" sz="105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within</a:t>
            </a:r>
            <a:r>
              <a:rPr dirty="0" sz="105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approved</a:t>
            </a:r>
            <a:r>
              <a:rPr dirty="0" sz="105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budget</a:t>
            </a:r>
            <a:r>
              <a:rPr dirty="0" sz="105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66666"/>
                </a:solidFill>
                <a:latin typeface="Arial"/>
                <a:cs typeface="Arial"/>
              </a:rPr>
              <a:t>envelope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28649" y="3524249"/>
            <a:ext cx="6762750" cy="695325"/>
            <a:chOff x="628649" y="3524249"/>
            <a:chExt cx="6762750" cy="695325"/>
          </a:xfrm>
        </p:grpSpPr>
        <p:sp>
          <p:nvSpPr>
            <p:cNvPr id="25" name="object 25"/>
            <p:cNvSpPr/>
            <p:nvPr/>
          </p:nvSpPr>
          <p:spPr>
            <a:xfrm>
              <a:off x="652462" y="3524249"/>
              <a:ext cx="6739255" cy="695325"/>
            </a:xfrm>
            <a:custGeom>
              <a:avLst/>
              <a:gdLst/>
              <a:ahLst/>
              <a:cxnLst/>
              <a:rect l="l" t="t" r="r" b="b"/>
              <a:pathLst>
                <a:path w="6739255" h="695325">
                  <a:moveTo>
                    <a:pt x="6667739" y="695324"/>
                  </a:moveTo>
                  <a:lnTo>
                    <a:pt x="48947" y="695324"/>
                  </a:lnTo>
                  <a:lnTo>
                    <a:pt x="45540" y="694836"/>
                  </a:lnTo>
                  <a:lnTo>
                    <a:pt x="12911" y="669468"/>
                  </a:lnTo>
                  <a:lnTo>
                    <a:pt x="335" y="629083"/>
                  </a:lnTo>
                  <a:lnTo>
                    <a:pt x="0" y="624128"/>
                  </a:lnTo>
                  <a:lnTo>
                    <a:pt x="0" y="619124"/>
                  </a:lnTo>
                  <a:lnTo>
                    <a:pt x="0" y="71196"/>
                  </a:lnTo>
                  <a:lnTo>
                    <a:pt x="10739" y="29705"/>
                  </a:lnTo>
                  <a:lnTo>
                    <a:pt x="38793" y="2440"/>
                  </a:lnTo>
                  <a:lnTo>
                    <a:pt x="48947" y="0"/>
                  </a:lnTo>
                  <a:lnTo>
                    <a:pt x="6667739" y="0"/>
                  </a:lnTo>
                  <a:lnTo>
                    <a:pt x="6709231" y="15621"/>
                  </a:lnTo>
                  <a:lnTo>
                    <a:pt x="6735050" y="51661"/>
                  </a:lnTo>
                  <a:lnTo>
                    <a:pt x="6738937" y="71196"/>
                  </a:lnTo>
                  <a:lnTo>
                    <a:pt x="6738937" y="624128"/>
                  </a:lnTo>
                  <a:lnTo>
                    <a:pt x="6723314" y="665618"/>
                  </a:lnTo>
                  <a:lnTo>
                    <a:pt x="6687274" y="691438"/>
                  </a:lnTo>
                  <a:lnTo>
                    <a:pt x="6672695" y="694836"/>
                  </a:lnTo>
                  <a:lnTo>
                    <a:pt x="6667739" y="695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28649" y="3524450"/>
              <a:ext cx="72390" cy="695325"/>
            </a:xfrm>
            <a:custGeom>
              <a:avLst/>
              <a:gdLst/>
              <a:ahLst/>
              <a:cxnLst/>
              <a:rect l="l" t="t" r="r" b="b"/>
              <a:pathLst>
                <a:path w="72390" h="695325">
                  <a:moveTo>
                    <a:pt x="72031" y="694922"/>
                  </a:moveTo>
                  <a:lnTo>
                    <a:pt x="33857" y="682292"/>
                  </a:lnTo>
                  <a:lnTo>
                    <a:pt x="5800" y="648083"/>
                  </a:lnTo>
                  <a:lnTo>
                    <a:pt x="0" y="618923"/>
                  </a:lnTo>
                  <a:lnTo>
                    <a:pt x="0" y="75998"/>
                  </a:lnTo>
                  <a:lnTo>
                    <a:pt x="12830" y="33655"/>
                  </a:lnTo>
                  <a:lnTo>
                    <a:pt x="47039" y="5598"/>
                  </a:lnTo>
                  <a:lnTo>
                    <a:pt x="72031" y="0"/>
                  </a:lnTo>
                  <a:lnTo>
                    <a:pt x="68765" y="1731"/>
                  </a:lnTo>
                  <a:lnTo>
                    <a:pt x="61763" y="9465"/>
                  </a:lnTo>
                  <a:lnTo>
                    <a:pt x="49800" y="46838"/>
                  </a:lnTo>
                  <a:lnTo>
                    <a:pt x="47625" y="75998"/>
                  </a:lnTo>
                  <a:lnTo>
                    <a:pt x="47625" y="618923"/>
                  </a:lnTo>
                  <a:lnTo>
                    <a:pt x="52436" y="661265"/>
                  </a:lnTo>
                  <a:lnTo>
                    <a:pt x="68765" y="693189"/>
                  </a:lnTo>
                  <a:lnTo>
                    <a:pt x="72031" y="694922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33846" y="3673475"/>
            <a:ext cx="7080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0" b="1">
                <a:solidFill>
                  <a:srgbClr val="1F2D59"/>
                </a:solidFill>
                <a:latin typeface="Arial"/>
                <a:cs typeface="Arial"/>
              </a:rPr>
              <a:t>100%</a:t>
            </a:r>
            <a:endParaRPr sz="2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8475" y="3583123"/>
            <a:ext cx="3917315" cy="46672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Phase</a:t>
            </a:r>
            <a:r>
              <a:rPr dirty="0" sz="1200" spc="-1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1</a:t>
            </a:r>
            <a:r>
              <a:rPr dirty="0" sz="1200" spc="-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Gap</a:t>
            </a:r>
            <a:r>
              <a:rPr dirty="0" sz="1200" spc="-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Closure</a:t>
            </a:r>
            <a:r>
              <a:rPr dirty="0" sz="1200" spc="-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1F2D59"/>
                </a:solidFill>
                <a:latin typeface="Arial"/>
                <a:cs typeface="Arial"/>
              </a:rPr>
              <a:t>Rate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6</a:t>
            </a:r>
            <a:r>
              <a:rPr dirty="0" sz="105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of 6</a:t>
            </a:r>
            <a:r>
              <a:rPr dirty="0" sz="105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targeted gaps</a:t>
            </a:r>
            <a:r>
              <a:rPr dirty="0" sz="105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66666"/>
                </a:solidFill>
                <a:latin typeface="Arial"/>
                <a:cs typeface="Arial"/>
              </a:rPr>
              <a:t>(GAP-01/02/03/04/07/08)</a:t>
            </a: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 successfully</a:t>
            </a:r>
            <a:r>
              <a:rPr dirty="0" sz="105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66666"/>
                </a:solidFill>
                <a:latin typeface="Arial"/>
                <a:cs typeface="Arial"/>
              </a:rPr>
              <a:t>closed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581899" y="1533524"/>
            <a:ext cx="4000500" cy="3238500"/>
            <a:chOff x="7581899" y="1533524"/>
            <a:chExt cx="4000500" cy="3238500"/>
          </a:xfrm>
        </p:grpSpPr>
        <p:sp>
          <p:nvSpPr>
            <p:cNvPr id="34" name="object 34"/>
            <p:cNvSpPr/>
            <p:nvPr/>
          </p:nvSpPr>
          <p:spPr>
            <a:xfrm>
              <a:off x="8534398" y="1533524"/>
              <a:ext cx="2324100" cy="152400"/>
            </a:xfrm>
            <a:custGeom>
              <a:avLst/>
              <a:gdLst/>
              <a:ahLst/>
              <a:cxnLst/>
              <a:rect l="l" t="t" r="r" b="b"/>
              <a:pathLst>
                <a:path w="2324100" h="152400">
                  <a:moveTo>
                    <a:pt x="2291052" y="152399"/>
                  </a:moveTo>
                  <a:lnTo>
                    <a:pt x="33047" y="152399"/>
                  </a:lnTo>
                  <a:lnTo>
                    <a:pt x="28187" y="151433"/>
                  </a:lnTo>
                  <a:lnTo>
                    <a:pt x="966" y="124212"/>
                  </a:lnTo>
                  <a:lnTo>
                    <a:pt x="0" y="119352"/>
                  </a:lnTo>
                  <a:lnTo>
                    <a:pt x="0" y="1142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291052" y="0"/>
                  </a:lnTo>
                  <a:lnTo>
                    <a:pt x="2323131" y="28187"/>
                  </a:lnTo>
                  <a:lnTo>
                    <a:pt x="2324099" y="33047"/>
                  </a:lnTo>
                  <a:lnTo>
                    <a:pt x="2324099" y="119352"/>
                  </a:lnTo>
                  <a:lnTo>
                    <a:pt x="2295912" y="151433"/>
                  </a:lnTo>
                  <a:lnTo>
                    <a:pt x="2291052" y="1523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534398" y="1533524"/>
              <a:ext cx="2209800" cy="152400"/>
            </a:xfrm>
            <a:custGeom>
              <a:avLst/>
              <a:gdLst/>
              <a:ahLst/>
              <a:cxnLst/>
              <a:rect l="l" t="t" r="r" b="b"/>
              <a:pathLst>
                <a:path w="2209800" h="152400">
                  <a:moveTo>
                    <a:pt x="2176752" y="152399"/>
                  </a:moveTo>
                  <a:lnTo>
                    <a:pt x="33047" y="152399"/>
                  </a:lnTo>
                  <a:lnTo>
                    <a:pt x="28187" y="151433"/>
                  </a:lnTo>
                  <a:lnTo>
                    <a:pt x="966" y="124212"/>
                  </a:lnTo>
                  <a:lnTo>
                    <a:pt x="0" y="119352"/>
                  </a:lnTo>
                  <a:lnTo>
                    <a:pt x="0" y="1142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176752" y="0"/>
                  </a:lnTo>
                  <a:lnTo>
                    <a:pt x="2208833" y="28187"/>
                  </a:lnTo>
                  <a:lnTo>
                    <a:pt x="2209799" y="33047"/>
                  </a:lnTo>
                  <a:lnTo>
                    <a:pt x="2209799" y="119352"/>
                  </a:lnTo>
                  <a:lnTo>
                    <a:pt x="2181611" y="151433"/>
                  </a:lnTo>
                  <a:lnTo>
                    <a:pt x="2176752" y="152399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534398" y="1762124"/>
              <a:ext cx="2324100" cy="152400"/>
            </a:xfrm>
            <a:custGeom>
              <a:avLst/>
              <a:gdLst/>
              <a:ahLst/>
              <a:cxnLst/>
              <a:rect l="l" t="t" r="r" b="b"/>
              <a:pathLst>
                <a:path w="2324100" h="152400">
                  <a:moveTo>
                    <a:pt x="2291052" y="152399"/>
                  </a:moveTo>
                  <a:lnTo>
                    <a:pt x="33047" y="152399"/>
                  </a:lnTo>
                  <a:lnTo>
                    <a:pt x="28187" y="151433"/>
                  </a:lnTo>
                  <a:lnTo>
                    <a:pt x="966" y="124212"/>
                  </a:lnTo>
                  <a:lnTo>
                    <a:pt x="0" y="119352"/>
                  </a:lnTo>
                  <a:lnTo>
                    <a:pt x="0" y="1142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291052" y="0"/>
                  </a:lnTo>
                  <a:lnTo>
                    <a:pt x="2323131" y="28187"/>
                  </a:lnTo>
                  <a:lnTo>
                    <a:pt x="2324099" y="33047"/>
                  </a:lnTo>
                  <a:lnTo>
                    <a:pt x="2324099" y="119352"/>
                  </a:lnTo>
                  <a:lnTo>
                    <a:pt x="2295912" y="151433"/>
                  </a:lnTo>
                  <a:lnTo>
                    <a:pt x="2291052" y="1523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534398" y="1762124"/>
              <a:ext cx="2162175" cy="152400"/>
            </a:xfrm>
            <a:custGeom>
              <a:avLst/>
              <a:gdLst/>
              <a:ahLst/>
              <a:cxnLst/>
              <a:rect l="l" t="t" r="r" b="b"/>
              <a:pathLst>
                <a:path w="2162175" h="152400">
                  <a:moveTo>
                    <a:pt x="2129127" y="152399"/>
                  </a:moveTo>
                  <a:lnTo>
                    <a:pt x="33047" y="152399"/>
                  </a:lnTo>
                  <a:lnTo>
                    <a:pt x="28187" y="151433"/>
                  </a:lnTo>
                  <a:lnTo>
                    <a:pt x="966" y="124212"/>
                  </a:lnTo>
                  <a:lnTo>
                    <a:pt x="0" y="119352"/>
                  </a:lnTo>
                  <a:lnTo>
                    <a:pt x="0" y="1142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129127" y="0"/>
                  </a:lnTo>
                  <a:lnTo>
                    <a:pt x="2161206" y="28187"/>
                  </a:lnTo>
                  <a:lnTo>
                    <a:pt x="2162174" y="33047"/>
                  </a:lnTo>
                  <a:lnTo>
                    <a:pt x="2162174" y="119352"/>
                  </a:lnTo>
                  <a:lnTo>
                    <a:pt x="2133986" y="151433"/>
                  </a:lnTo>
                  <a:lnTo>
                    <a:pt x="2129127" y="152399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534398" y="1990724"/>
              <a:ext cx="2324100" cy="152400"/>
            </a:xfrm>
            <a:custGeom>
              <a:avLst/>
              <a:gdLst/>
              <a:ahLst/>
              <a:cxnLst/>
              <a:rect l="l" t="t" r="r" b="b"/>
              <a:pathLst>
                <a:path w="2324100" h="152400">
                  <a:moveTo>
                    <a:pt x="2291052" y="152399"/>
                  </a:moveTo>
                  <a:lnTo>
                    <a:pt x="33047" y="152399"/>
                  </a:lnTo>
                  <a:lnTo>
                    <a:pt x="28187" y="151433"/>
                  </a:lnTo>
                  <a:lnTo>
                    <a:pt x="966" y="124212"/>
                  </a:lnTo>
                  <a:lnTo>
                    <a:pt x="0" y="119352"/>
                  </a:lnTo>
                  <a:lnTo>
                    <a:pt x="0" y="1142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291052" y="0"/>
                  </a:lnTo>
                  <a:lnTo>
                    <a:pt x="2323131" y="28187"/>
                  </a:lnTo>
                  <a:lnTo>
                    <a:pt x="2324099" y="33047"/>
                  </a:lnTo>
                  <a:lnTo>
                    <a:pt x="2324099" y="119352"/>
                  </a:lnTo>
                  <a:lnTo>
                    <a:pt x="2295912" y="151433"/>
                  </a:lnTo>
                  <a:lnTo>
                    <a:pt x="2291052" y="1523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534398" y="1990724"/>
              <a:ext cx="2181225" cy="152400"/>
            </a:xfrm>
            <a:custGeom>
              <a:avLst/>
              <a:gdLst/>
              <a:ahLst/>
              <a:cxnLst/>
              <a:rect l="l" t="t" r="r" b="b"/>
              <a:pathLst>
                <a:path w="2181225" h="152400">
                  <a:moveTo>
                    <a:pt x="2148177" y="152399"/>
                  </a:moveTo>
                  <a:lnTo>
                    <a:pt x="33047" y="152399"/>
                  </a:lnTo>
                  <a:lnTo>
                    <a:pt x="28187" y="151433"/>
                  </a:lnTo>
                  <a:lnTo>
                    <a:pt x="966" y="124212"/>
                  </a:lnTo>
                  <a:lnTo>
                    <a:pt x="0" y="119352"/>
                  </a:lnTo>
                  <a:lnTo>
                    <a:pt x="0" y="1142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148177" y="0"/>
                  </a:lnTo>
                  <a:lnTo>
                    <a:pt x="2180256" y="28187"/>
                  </a:lnTo>
                  <a:lnTo>
                    <a:pt x="2181224" y="33047"/>
                  </a:lnTo>
                  <a:lnTo>
                    <a:pt x="2181224" y="119352"/>
                  </a:lnTo>
                  <a:lnTo>
                    <a:pt x="2153036" y="151433"/>
                  </a:lnTo>
                  <a:lnTo>
                    <a:pt x="2148177" y="152399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534398" y="2219324"/>
              <a:ext cx="2324100" cy="152400"/>
            </a:xfrm>
            <a:custGeom>
              <a:avLst/>
              <a:gdLst/>
              <a:ahLst/>
              <a:cxnLst/>
              <a:rect l="l" t="t" r="r" b="b"/>
              <a:pathLst>
                <a:path w="2324100" h="152400">
                  <a:moveTo>
                    <a:pt x="2291052" y="152399"/>
                  </a:moveTo>
                  <a:lnTo>
                    <a:pt x="33047" y="152399"/>
                  </a:lnTo>
                  <a:lnTo>
                    <a:pt x="28187" y="151433"/>
                  </a:lnTo>
                  <a:lnTo>
                    <a:pt x="966" y="124212"/>
                  </a:lnTo>
                  <a:lnTo>
                    <a:pt x="0" y="119352"/>
                  </a:lnTo>
                  <a:lnTo>
                    <a:pt x="0" y="1142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291052" y="0"/>
                  </a:lnTo>
                  <a:lnTo>
                    <a:pt x="2323131" y="28187"/>
                  </a:lnTo>
                  <a:lnTo>
                    <a:pt x="2324099" y="33047"/>
                  </a:lnTo>
                  <a:lnTo>
                    <a:pt x="2324099" y="119352"/>
                  </a:lnTo>
                  <a:lnTo>
                    <a:pt x="2295912" y="151433"/>
                  </a:lnTo>
                  <a:lnTo>
                    <a:pt x="2291052" y="1523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534398" y="2219324"/>
              <a:ext cx="2257425" cy="152400"/>
            </a:xfrm>
            <a:custGeom>
              <a:avLst/>
              <a:gdLst/>
              <a:ahLst/>
              <a:cxnLst/>
              <a:rect l="l" t="t" r="r" b="b"/>
              <a:pathLst>
                <a:path w="2257425" h="152400">
                  <a:moveTo>
                    <a:pt x="2224377" y="152399"/>
                  </a:moveTo>
                  <a:lnTo>
                    <a:pt x="33047" y="152399"/>
                  </a:lnTo>
                  <a:lnTo>
                    <a:pt x="28187" y="151433"/>
                  </a:lnTo>
                  <a:lnTo>
                    <a:pt x="966" y="124212"/>
                  </a:lnTo>
                  <a:lnTo>
                    <a:pt x="0" y="119352"/>
                  </a:lnTo>
                  <a:lnTo>
                    <a:pt x="0" y="1142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224377" y="0"/>
                  </a:lnTo>
                  <a:lnTo>
                    <a:pt x="2256458" y="28187"/>
                  </a:lnTo>
                  <a:lnTo>
                    <a:pt x="2257424" y="33047"/>
                  </a:lnTo>
                  <a:lnTo>
                    <a:pt x="2257424" y="119352"/>
                  </a:lnTo>
                  <a:lnTo>
                    <a:pt x="2229237" y="151433"/>
                  </a:lnTo>
                  <a:lnTo>
                    <a:pt x="2224377" y="152399"/>
                  </a:lnTo>
                  <a:close/>
                </a:path>
              </a:pathLst>
            </a:custGeom>
            <a:solidFill>
              <a:srgbClr val="26AE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581899" y="3038474"/>
              <a:ext cx="4000500" cy="1733550"/>
            </a:xfrm>
            <a:custGeom>
              <a:avLst/>
              <a:gdLst/>
              <a:ahLst/>
              <a:cxnLst/>
              <a:rect l="l" t="t" r="r" b="b"/>
              <a:pathLst>
                <a:path w="4000500" h="1733550">
                  <a:moveTo>
                    <a:pt x="3929302" y="1733549"/>
                  </a:moveTo>
                  <a:lnTo>
                    <a:pt x="71196" y="1733549"/>
                  </a:lnTo>
                  <a:lnTo>
                    <a:pt x="66240" y="1733061"/>
                  </a:lnTo>
                  <a:lnTo>
                    <a:pt x="29703" y="1717927"/>
                  </a:lnTo>
                  <a:lnTo>
                    <a:pt x="3884" y="1681887"/>
                  </a:lnTo>
                  <a:lnTo>
                    <a:pt x="0" y="1662353"/>
                  </a:lnTo>
                  <a:lnTo>
                    <a:pt x="0" y="16573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5" y="1830"/>
                  </a:lnTo>
                  <a:lnTo>
                    <a:pt x="71196" y="0"/>
                  </a:lnTo>
                  <a:lnTo>
                    <a:pt x="3929302" y="0"/>
                  </a:lnTo>
                  <a:lnTo>
                    <a:pt x="3970792" y="11716"/>
                  </a:lnTo>
                  <a:lnTo>
                    <a:pt x="3998056" y="42320"/>
                  </a:lnTo>
                  <a:lnTo>
                    <a:pt x="4000498" y="53397"/>
                  </a:lnTo>
                  <a:lnTo>
                    <a:pt x="4000498" y="1662353"/>
                  </a:lnTo>
                  <a:lnTo>
                    <a:pt x="3984876" y="1703844"/>
                  </a:lnTo>
                  <a:lnTo>
                    <a:pt x="3948836" y="1729663"/>
                  </a:lnTo>
                  <a:lnTo>
                    <a:pt x="3934257" y="1733061"/>
                  </a:lnTo>
                  <a:lnTo>
                    <a:pt x="3929302" y="1733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582177" y="3019424"/>
              <a:ext cx="4000500" cy="70485"/>
            </a:xfrm>
            <a:custGeom>
              <a:avLst/>
              <a:gdLst/>
              <a:ahLst/>
              <a:cxnLst/>
              <a:rect l="l" t="t" r="r" b="b"/>
              <a:pathLst>
                <a:path w="4000500" h="70485">
                  <a:moveTo>
                    <a:pt x="0" y="70450"/>
                  </a:moveTo>
                  <a:lnTo>
                    <a:pt x="12552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3924022" y="0"/>
                  </a:lnTo>
                  <a:lnTo>
                    <a:pt x="3966363" y="12829"/>
                  </a:lnTo>
                  <a:lnTo>
                    <a:pt x="398993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4000500" h="70485">
                  <a:moveTo>
                    <a:pt x="3999944" y="70450"/>
                  </a:moveTo>
                  <a:lnTo>
                    <a:pt x="3966363" y="44514"/>
                  </a:lnTo>
                  <a:lnTo>
                    <a:pt x="3924022" y="38099"/>
                  </a:lnTo>
                  <a:lnTo>
                    <a:pt x="3989930" y="38099"/>
                  </a:lnTo>
                  <a:lnTo>
                    <a:pt x="3999859" y="68693"/>
                  </a:lnTo>
                  <a:lnTo>
                    <a:pt x="3999944" y="70450"/>
                  </a:lnTo>
                  <a:close/>
                </a:path>
              </a:pathLst>
            </a:custGeom>
            <a:solidFill>
              <a:srgbClr val="26AE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772387" y="3800487"/>
              <a:ext cx="3619500" cy="542925"/>
            </a:xfrm>
            <a:custGeom>
              <a:avLst/>
              <a:gdLst/>
              <a:ahLst/>
              <a:cxnLst/>
              <a:rect l="l" t="t" r="r" b="b"/>
              <a:pathLst>
                <a:path w="3619500" h="542925">
                  <a:moveTo>
                    <a:pt x="3619500" y="533400"/>
                  </a:moveTo>
                  <a:lnTo>
                    <a:pt x="0" y="533400"/>
                  </a:lnTo>
                  <a:lnTo>
                    <a:pt x="0" y="542925"/>
                  </a:lnTo>
                  <a:lnTo>
                    <a:pt x="3619500" y="542925"/>
                  </a:lnTo>
                  <a:lnTo>
                    <a:pt x="3619500" y="533400"/>
                  </a:lnTo>
                  <a:close/>
                </a:path>
                <a:path w="3619500" h="542925">
                  <a:moveTo>
                    <a:pt x="3619500" y="266700"/>
                  </a:moveTo>
                  <a:lnTo>
                    <a:pt x="0" y="266700"/>
                  </a:lnTo>
                  <a:lnTo>
                    <a:pt x="0" y="276225"/>
                  </a:lnTo>
                  <a:lnTo>
                    <a:pt x="3619500" y="276225"/>
                  </a:lnTo>
                  <a:lnTo>
                    <a:pt x="3619500" y="266700"/>
                  </a:lnTo>
                  <a:close/>
                </a:path>
                <a:path w="3619500" h="542925">
                  <a:moveTo>
                    <a:pt x="36195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619500" y="9525"/>
                  </a:lnTo>
                  <a:lnTo>
                    <a:pt x="361950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7759700" y="1440814"/>
            <a:ext cx="520700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57900"/>
              </a:lnSpc>
              <a:spcBef>
                <a:spcPts val="95"/>
              </a:spcBef>
            </a:pPr>
            <a:r>
              <a:rPr dirty="0" sz="950" b="1">
                <a:solidFill>
                  <a:srgbClr val="1F2D59"/>
                </a:solidFill>
                <a:latin typeface="Arial"/>
                <a:cs typeface="Arial"/>
              </a:rPr>
              <a:t>Group</a:t>
            </a:r>
            <a:r>
              <a:rPr dirty="0" sz="950" spc="5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950" spc="-50" b="1">
                <a:solidFill>
                  <a:srgbClr val="1F2D59"/>
                </a:solidFill>
                <a:latin typeface="Arial"/>
                <a:cs typeface="Arial"/>
              </a:rPr>
              <a:t>A </a:t>
            </a:r>
            <a:r>
              <a:rPr dirty="0" sz="950" b="1">
                <a:solidFill>
                  <a:srgbClr val="1F2D59"/>
                </a:solidFill>
                <a:latin typeface="Arial"/>
                <a:cs typeface="Arial"/>
              </a:rPr>
              <a:t>Group</a:t>
            </a:r>
            <a:r>
              <a:rPr dirty="0" sz="950" spc="9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950" spc="-50" b="1">
                <a:solidFill>
                  <a:srgbClr val="1F2D59"/>
                </a:solidFill>
                <a:latin typeface="Arial"/>
                <a:cs typeface="Arial"/>
              </a:rPr>
              <a:t>B </a:t>
            </a:r>
            <a:r>
              <a:rPr dirty="0" sz="950" b="1">
                <a:solidFill>
                  <a:srgbClr val="1F2D59"/>
                </a:solidFill>
                <a:latin typeface="Arial"/>
                <a:cs typeface="Arial"/>
              </a:rPr>
              <a:t>Group</a:t>
            </a:r>
            <a:r>
              <a:rPr dirty="0" sz="950" spc="9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950" spc="-50" b="1">
                <a:solidFill>
                  <a:srgbClr val="1F2D59"/>
                </a:solidFill>
                <a:latin typeface="Arial"/>
                <a:cs typeface="Arial"/>
              </a:rPr>
              <a:t>C </a:t>
            </a:r>
            <a:r>
              <a:rPr dirty="0" sz="950" b="1">
                <a:solidFill>
                  <a:srgbClr val="1F2D59"/>
                </a:solidFill>
                <a:latin typeface="Arial"/>
                <a:cs typeface="Arial"/>
              </a:rPr>
              <a:t>Group</a:t>
            </a:r>
            <a:r>
              <a:rPr dirty="0" sz="950" spc="9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950" spc="-50" b="1">
                <a:solidFill>
                  <a:srgbClr val="1F2D59"/>
                </a:solidFill>
                <a:latin typeface="Arial"/>
                <a:cs typeface="Arial"/>
              </a:rPr>
              <a:t>D</a:t>
            </a:r>
            <a:endParaRPr sz="9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058921" y="1440814"/>
            <a:ext cx="346075" cy="93980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950" spc="-20" b="1">
                <a:solidFill>
                  <a:srgbClr val="1F2D59"/>
                </a:solidFill>
                <a:latin typeface="Arial"/>
                <a:cs typeface="Arial"/>
              </a:rPr>
              <a:t>95%+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950" spc="-20" b="1">
                <a:solidFill>
                  <a:srgbClr val="1F2D59"/>
                </a:solidFill>
                <a:latin typeface="Arial"/>
                <a:cs typeface="Arial"/>
              </a:rPr>
              <a:t>93%+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950" spc="-20" b="1">
                <a:solidFill>
                  <a:srgbClr val="1F2D59"/>
                </a:solidFill>
                <a:latin typeface="Arial"/>
                <a:cs typeface="Arial"/>
              </a:rPr>
              <a:t>94%+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950" spc="-20" b="1">
                <a:solidFill>
                  <a:srgbClr val="1F2D59"/>
                </a:solidFill>
                <a:latin typeface="Arial"/>
                <a:cs typeface="Arial"/>
              </a:rPr>
              <a:t>97%+</a:t>
            </a:r>
            <a:endParaRPr sz="9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759700" y="2425700"/>
            <a:ext cx="3594100" cy="29591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1050"/>
              </a:lnSpc>
              <a:spcBef>
                <a:spcPts val="160"/>
              </a:spcBef>
            </a:pPr>
            <a:r>
              <a:rPr dirty="0" sz="900">
                <a:solidFill>
                  <a:srgbClr val="878787"/>
                </a:solidFill>
                <a:latin typeface="Arial"/>
                <a:cs typeface="Arial"/>
              </a:rPr>
              <a:t>28</a:t>
            </a:r>
            <a:r>
              <a:rPr dirty="0" sz="900" spc="-1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878787"/>
                </a:solidFill>
                <a:latin typeface="Arial"/>
                <a:cs typeface="Arial"/>
              </a:rPr>
              <a:t>agents</a:t>
            </a:r>
            <a:r>
              <a:rPr dirty="0" sz="900" spc="-5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878787"/>
                </a:solidFill>
                <a:latin typeface="Arial"/>
                <a:cs typeface="Arial"/>
              </a:rPr>
              <a:t>across</a:t>
            </a:r>
            <a:r>
              <a:rPr dirty="0" sz="900" spc="-5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878787"/>
                </a:solidFill>
                <a:latin typeface="Arial"/>
                <a:cs typeface="Arial"/>
              </a:rPr>
              <a:t>4</a:t>
            </a:r>
            <a:r>
              <a:rPr dirty="0" sz="900" spc="-5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878787"/>
                </a:solidFill>
                <a:latin typeface="Arial"/>
                <a:cs typeface="Arial"/>
              </a:rPr>
              <a:t>SLA</a:t>
            </a:r>
            <a:r>
              <a:rPr dirty="0" sz="900" spc="-55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878787"/>
                </a:solidFill>
                <a:latin typeface="Arial"/>
                <a:cs typeface="Arial"/>
              </a:rPr>
              <a:t>groups</a:t>
            </a:r>
            <a:r>
              <a:rPr dirty="0" sz="900" spc="-5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878787"/>
                </a:solidFill>
                <a:latin typeface="Arial"/>
                <a:cs typeface="Arial"/>
              </a:rPr>
              <a:t>·</a:t>
            </a:r>
            <a:r>
              <a:rPr dirty="0" sz="900" spc="-5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878787"/>
                </a:solidFill>
                <a:latin typeface="Arial"/>
                <a:cs typeface="Arial"/>
              </a:rPr>
              <a:t>Kelly,</a:t>
            </a:r>
            <a:r>
              <a:rPr dirty="0" sz="900" spc="-5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878787"/>
                </a:solidFill>
                <a:latin typeface="Arial"/>
                <a:cs typeface="Arial"/>
              </a:rPr>
              <a:t>Signal,</a:t>
            </a:r>
            <a:r>
              <a:rPr dirty="0" sz="900" spc="-5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878787"/>
                </a:solidFill>
                <a:latin typeface="Arial"/>
                <a:cs typeface="Arial"/>
              </a:rPr>
              <a:t>Core,</a:t>
            </a:r>
            <a:r>
              <a:rPr dirty="0" sz="900" spc="-1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878787"/>
                </a:solidFill>
                <a:latin typeface="Arial"/>
                <a:cs typeface="Arial"/>
              </a:rPr>
              <a:t>Nexus,</a:t>
            </a:r>
            <a:r>
              <a:rPr dirty="0" sz="900" spc="-5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878787"/>
                </a:solidFill>
                <a:latin typeface="Arial"/>
                <a:cs typeface="Arial"/>
              </a:rPr>
              <a:t>Guardian, </a:t>
            </a:r>
            <a:r>
              <a:rPr dirty="0" sz="900">
                <a:solidFill>
                  <a:srgbClr val="878787"/>
                </a:solidFill>
                <a:latin typeface="Arial"/>
                <a:cs typeface="Arial"/>
              </a:rPr>
              <a:t>Vega</a:t>
            </a:r>
            <a:r>
              <a:rPr dirty="0" sz="900" spc="-2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878787"/>
                </a:solidFill>
                <a:latin typeface="Arial"/>
                <a:cs typeface="Arial"/>
              </a:rPr>
              <a:t>+</a:t>
            </a:r>
            <a:r>
              <a:rPr dirty="0" sz="900" spc="-15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878787"/>
                </a:solidFill>
                <a:latin typeface="Arial"/>
                <a:cs typeface="Arial"/>
              </a:rPr>
              <a:t>22</a:t>
            </a:r>
            <a:r>
              <a:rPr dirty="0" sz="900" spc="-15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878787"/>
                </a:solidFill>
                <a:latin typeface="Arial"/>
                <a:cs typeface="Arial"/>
              </a:rPr>
              <a:t>others</a:t>
            </a:r>
            <a:endParaRPr sz="9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759700" y="3197225"/>
            <a:ext cx="292544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Programme Milestone</a:t>
            </a:r>
            <a:r>
              <a:rPr dirty="0" sz="1350" spc="-5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F2D59"/>
                </a:solidFill>
                <a:latin typeface="Arial"/>
                <a:cs typeface="Arial"/>
              </a:rPr>
              <a:t>Achievement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100">
                <a:solidFill>
                  <a:srgbClr val="1F2D59"/>
                </a:solidFill>
                <a:latin typeface="Arial"/>
                <a:cs typeface="Arial"/>
              </a:rPr>
              <a:t>AMD4-M1</a:t>
            </a:r>
            <a:r>
              <a:rPr dirty="0" sz="1100" spc="90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F2D59"/>
                </a:solidFill>
                <a:latin typeface="Arial"/>
                <a:cs typeface="Arial"/>
              </a:rPr>
              <a:t>WS-A</a:t>
            </a:r>
            <a:r>
              <a:rPr dirty="0" sz="1100" spc="10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F2D59"/>
                </a:solidFill>
                <a:latin typeface="Arial"/>
                <a:cs typeface="Arial"/>
              </a:rPr>
              <a:t>Delivery</a:t>
            </a:r>
            <a:endParaRPr sz="11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728225" y="3559175"/>
            <a:ext cx="67691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10" b="1">
                <a:solidFill>
                  <a:srgbClr val="26AE60"/>
                </a:solidFill>
                <a:latin typeface="Arial"/>
                <a:cs typeface="Arial"/>
              </a:rPr>
              <a:t>Complete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59700" y="3825875"/>
            <a:ext cx="158178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1F2D59"/>
                </a:solidFill>
                <a:latin typeface="Arial"/>
                <a:cs typeface="Arial"/>
              </a:rPr>
              <a:t>AMD4-M2</a:t>
            </a:r>
            <a:r>
              <a:rPr dirty="0" sz="1100" spc="90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F2D59"/>
                </a:solidFill>
                <a:latin typeface="Arial"/>
                <a:cs typeface="Arial"/>
              </a:rPr>
              <a:t>WS-B/C</a:t>
            </a:r>
            <a:r>
              <a:rPr dirty="0" sz="1100" spc="95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F2D59"/>
                </a:solidFill>
                <a:latin typeface="Arial"/>
                <a:cs typeface="Arial"/>
              </a:rPr>
              <a:t>Build</a:t>
            </a:r>
            <a:endParaRPr sz="11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728225" y="3825875"/>
            <a:ext cx="67691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10" b="1">
                <a:solidFill>
                  <a:srgbClr val="26AE60"/>
                </a:solidFill>
                <a:latin typeface="Arial"/>
                <a:cs typeface="Arial"/>
              </a:rPr>
              <a:t>Complete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759700" y="4092575"/>
            <a:ext cx="167767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1F2D59"/>
                </a:solidFill>
                <a:latin typeface="Arial"/>
                <a:cs typeface="Arial"/>
              </a:rPr>
              <a:t>AMD4-M3</a:t>
            </a:r>
            <a:r>
              <a:rPr dirty="0" sz="1100" spc="70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F2D59"/>
                </a:solidFill>
                <a:latin typeface="Arial"/>
                <a:cs typeface="Arial"/>
              </a:rPr>
              <a:t>KPI</a:t>
            </a:r>
            <a:r>
              <a:rPr dirty="0" sz="1100" spc="70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F2D59"/>
                </a:solidFill>
                <a:latin typeface="Arial"/>
                <a:cs typeface="Arial"/>
              </a:rPr>
              <a:t>Dashboard</a:t>
            </a:r>
            <a:endParaRPr sz="11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728225" y="4092575"/>
            <a:ext cx="67691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10" b="1">
                <a:solidFill>
                  <a:srgbClr val="26AE60"/>
                </a:solidFill>
                <a:latin typeface="Arial"/>
                <a:cs typeface="Arial"/>
              </a:rPr>
              <a:t>Complete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759700" y="4359275"/>
            <a:ext cx="162115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1F2D59"/>
                </a:solidFill>
                <a:latin typeface="Arial"/>
                <a:cs typeface="Arial"/>
              </a:rPr>
              <a:t>AMD4-M4</a:t>
            </a:r>
            <a:r>
              <a:rPr dirty="0" sz="1100" spc="55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F2D59"/>
                </a:solidFill>
                <a:latin typeface="Arial"/>
                <a:cs typeface="Arial"/>
              </a:rPr>
              <a:t>WS-E</a:t>
            </a:r>
            <a:r>
              <a:rPr dirty="0" sz="1100" spc="60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F2D59"/>
                </a:solidFill>
                <a:latin typeface="Arial"/>
                <a:cs typeface="Arial"/>
              </a:rPr>
              <a:t>&amp;</a:t>
            </a:r>
            <a:r>
              <a:rPr dirty="0" sz="1100" spc="60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F2D59"/>
                </a:solidFill>
                <a:latin typeface="Arial"/>
                <a:cs typeface="Arial"/>
              </a:rPr>
              <a:t>Close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728225" y="4359275"/>
            <a:ext cx="67691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10" b="1">
                <a:solidFill>
                  <a:srgbClr val="26AE60"/>
                </a:solidFill>
                <a:latin typeface="Arial"/>
                <a:cs typeface="Arial"/>
              </a:rPr>
              <a:t>Complete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7149" y="6581774"/>
            <a:ext cx="12096750" cy="276225"/>
            <a:chOff x="57149" y="6581774"/>
            <a:chExt cx="12096750" cy="276225"/>
          </a:xfrm>
        </p:grpSpPr>
        <p:sp>
          <p:nvSpPr>
            <p:cNvPr id="57" name="object 57"/>
            <p:cNvSpPr/>
            <p:nvPr/>
          </p:nvSpPr>
          <p:spPr>
            <a:xfrm>
              <a:off x="57149" y="6581774"/>
              <a:ext cx="12096750" cy="276225"/>
            </a:xfrm>
            <a:custGeom>
              <a:avLst/>
              <a:gdLst/>
              <a:ahLst/>
              <a:cxnLst/>
              <a:rect l="l" t="t" r="r" b="b"/>
              <a:pathLst>
                <a:path w="12096750" h="276225">
                  <a:moveTo>
                    <a:pt x="12096749" y="276224"/>
                  </a:moveTo>
                  <a:lnTo>
                    <a:pt x="0" y="276224"/>
                  </a:lnTo>
                  <a:lnTo>
                    <a:pt x="0" y="0"/>
                  </a:lnTo>
                  <a:lnTo>
                    <a:pt x="12096749" y="0"/>
                  </a:lnTo>
                  <a:lnTo>
                    <a:pt x="12096749" y="276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7149" y="6581774"/>
              <a:ext cx="12096750" cy="9525"/>
            </a:xfrm>
            <a:custGeom>
              <a:avLst/>
              <a:gdLst/>
              <a:ahLst/>
              <a:cxnLst/>
              <a:rect l="l" t="t" r="r" b="b"/>
              <a:pathLst>
                <a:path w="12096750" h="9525">
                  <a:moveTo>
                    <a:pt x="120967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096749" y="0"/>
                  </a:lnTo>
                  <a:lnTo>
                    <a:pt x="12096749" y="952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615949" y="6635750"/>
            <a:ext cx="568579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MONOLITH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DAPH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Decor</a:t>
            </a:r>
            <a:r>
              <a:rPr dirty="0" sz="800" spc="-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AI Agent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Programme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SC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Review</a:t>
            </a:r>
            <a:r>
              <a:rPr dirty="0" sz="800" spc="5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2569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KPI-001–024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Dashboard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Data</a:t>
            </a:r>
            <a:r>
              <a:rPr dirty="0" sz="800" spc="5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 spc="-4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 spc="-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AMD-004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Final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8B8B8B"/>
                </a:solidFill>
                <a:latin typeface="Arial"/>
                <a:cs typeface="Arial"/>
              </a:rPr>
              <a:t>Report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53898" y="0"/>
            <a:ext cx="50800" cy="6858000"/>
          </a:xfrm>
          <a:custGeom>
            <a:avLst/>
            <a:gdLst/>
            <a:ahLst/>
            <a:cxnLst/>
            <a:rect l="l" t="t" r="r" b="b"/>
            <a:pathLst>
              <a:path w="50800" h="6858000">
                <a:moveTo>
                  <a:pt x="50292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50292" y="0"/>
                </a:lnTo>
                <a:lnTo>
                  <a:pt x="50292" y="68579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1"/>
            <a:ext cx="12153900" cy="6858000"/>
          </a:xfrm>
          <a:custGeom>
            <a:avLst/>
            <a:gdLst/>
            <a:ahLst/>
            <a:cxnLst/>
            <a:rect l="l" t="t" r="r" b="b"/>
            <a:pathLst>
              <a:path w="12153900" h="6858000">
                <a:moveTo>
                  <a:pt x="12153887" y="0"/>
                </a:moveTo>
                <a:lnTo>
                  <a:pt x="57137" y="0"/>
                </a:lnTo>
                <a:lnTo>
                  <a:pt x="0" y="0"/>
                </a:lnTo>
                <a:lnTo>
                  <a:pt x="0" y="6857987"/>
                </a:lnTo>
                <a:lnTo>
                  <a:pt x="57137" y="6857987"/>
                </a:lnTo>
                <a:lnTo>
                  <a:pt x="57137" y="781050"/>
                </a:lnTo>
                <a:lnTo>
                  <a:pt x="12153887" y="781050"/>
                </a:lnTo>
                <a:lnTo>
                  <a:pt x="12153887" y="0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15949" y="168275"/>
            <a:ext cx="330327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Gap Status </a:t>
            </a:r>
            <a:r>
              <a:rPr dirty="0" spc="-10"/>
              <a:t>Register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64892" y="358775"/>
            <a:ext cx="39865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15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Gaps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Total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·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Closed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(Phase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1)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·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9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Open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(Phase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2/3)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8649" y="981074"/>
            <a:ext cx="10239375" cy="133350"/>
            <a:chOff x="628649" y="981074"/>
            <a:chExt cx="10239375" cy="1333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649" y="981074"/>
              <a:ext cx="133349" cy="1333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6849" y="981074"/>
              <a:ext cx="133349" cy="1333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5549" y="981074"/>
              <a:ext cx="133350" cy="1333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6224" y="981074"/>
              <a:ext cx="133349" cy="1333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34498" y="981074"/>
              <a:ext cx="133350" cy="1333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34674" y="981074"/>
              <a:ext cx="133349" cy="13334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06449" y="949325"/>
            <a:ext cx="520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HIGH</a:t>
            </a:r>
            <a:r>
              <a:rPr dirty="0" sz="950" spc="5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545454"/>
                </a:solidFill>
                <a:latin typeface="Arial"/>
                <a:cs typeface="Arial"/>
              </a:rPr>
              <a:t>(8)</a:t>
            </a:r>
            <a:endParaRPr sz="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44650" y="949325"/>
            <a:ext cx="71374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MEDIUM</a:t>
            </a:r>
            <a:r>
              <a:rPr dirty="0" sz="950" spc="8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545454"/>
                </a:solidFill>
                <a:latin typeface="Arial"/>
                <a:cs typeface="Arial"/>
              </a:rPr>
              <a:t>(4)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75433" y="949325"/>
            <a:ext cx="50038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LOW</a:t>
            </a:r>
            <a:r>
              <a:rPr dirty="0" sz="950" spc="45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545454"/>
                </a:solidFill>
                <a:latin typeface="Arial"/>
                <a:cs typeface="Arial"/>
              </a:rPr>
              <a:t>(3)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71197" y="949325"/>
            <a:ext cx="112649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Phase</a:t>
            </a:r>
            <a:r>
              <a:rPr dirty="0" sz="950" spc="65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1</a:t>
            </a:r>
            <a:r>
              <a:rPr dirty="0" sz="950" spc="7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Closed</a:t>
            </a:r>
            <a:r>
              <a:rPr dirty="0" sz="950" spc="7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545454"/>
                </a:solidFill>
                <a:latin typeface="Arial"/>
                <a:cs typeface="Arial"/>
              </a:rPr>
              <a:t>(6)</a:t>
            </a:r>
            <a:endParaRPr sz="9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15275" y="949325"/>
            <a:ext cx="108331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Phase</a:t>
            </a:r>
            <a:r>
              <a:rPr dirty="0" sz="950" spc="4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2</a:t>
            </a:r>
            <a:r>
              <a:rPr dirty="0" sz="950" spc="4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Target</a:t>
            </a:r>
            <a:r>
              <a:rPr dirty="0" sz="950" spc="45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545454"/>
                </a:solidFill>
                <a:latin typeface="Arial"/>
                <a:cs typeface="Arial"/>
              </a:rPr>
              <a:t>(6)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915748" y="949325"/>
            <a:ext cx="67945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Phase</a:t>
            </a:r>
            <a:r>
              <a:rPr dirty="0" sz="950" spc="5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545454"/>
                </a:solidFill>
                <a:latin typeface="Arial"/>
                <a:cs typeface="Arial"/>
              </a:rPr>
              <a:t>3</a:t>
            </a:r>
            <a:r>
              <a:rPr dirty="0" sz="950" spc="55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545454"/>
                </a:solidFill>
                <a:latin typeface="Arial"/>
                <a:cs typeface="Arial"/>
              </a:rPr>
              <a:t>(3)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485899" y="1581149"/>
            <a:ext cx="10096500" cy="361950"/>
            <a:chOff x="1485899" y="1581149"/>
            <a:chExt cx="10096500" cy="361950"/>
          </a:xfrm>
        </p:grpSpPr>
        <p:sp>
          <p:nvSpPr>
            <p:cNvPr id="20" name="object 20"/>
            <p:cNvSpPr/>
            <p:nvPr/>
          </p:nvSpPr>
          <p:spPr>
            <a:xfrm>
              <a:off x="1485887" y="1581161"/>
              <a:ext cx="10096500" cy="361950"/>
            </a:xfrm>
            <a:custGeom>
              <a:avLst/>
              <a:gdLst/>
              <a:ahLst/>
              <a:cxnLst/>
              <a:rect l="l" t="t" r="r" b="b"/>
              <a:pathLst>
                <a:path w="10096500" h="361950">
                  <a:moveTo>
                    <a:pt x="10096500" y="0"/>
                  </a:moveTo>
                  <a:lnTo>
                    <a:pt x="9144000" y="0"/>
                  </a:lnTo>
                  <a:lnTo>
                    <a:pt x="8096250" y="0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7143750" y="361950"/>
                  </a:lnTo>
                  <a:lnTo>
                    <a:pt x="8096250" y="361950"/>
                  </a:lnTo>
                  <a:lnTo>
                    <a:pt x="9144000" y="361950"/>
                  </a:lnTo>
                  <a:lnTo>
                    <a:pt x="10096500" y="361950"/>
                  </a:lnTo>
                  <a:lnTo>
                    <a:pt x="10096500" y="0"/>
                  </a:lnTo>
                  <a:close/>
                </a:path>
              </a:pathLst>
            </a:custGeom>
            <a:solidFill>
              <a:srgbClr val="F9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762999" y="1676399"/>
              <a:ext cx="476250" cy="171450"/>
            </a:xfrm>
            <a:custGeom>
              <a:avLst/>
              <a:gdLst/>
              <a:ahLst/>
              <a:cxnLst/>
              <a:rect l="l" t="t" r="r" b="b"/>
              <a:pathLst>
                <a:path w="476250" h="171450">
                  <a:moveTo>
                    <a:pt x="396153" y="171449"/>
                  </a:moveTo>
                  <a:lnTo>
                    <a:pt x="80096" y="171449"/>
                  </a:lnTo>
                  <a:lnTo>
                    <a:pt x="74521" y="170900"/>
                  </a:lnTo>
                  <a:lnTo>
                    <a:pt x="33417" y="153875"/>
                  </a:lnTo>
                  <a:lnTo>
                    <a:pt x="8678" y="123730"/>
                  </a:lnTo>
                  <a:lnTo>
                    <a:pt x="0" y="91353"/>
                  </a:lnTo>
                  <a:lnTo>
                    <a:pt x="0" y="8572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396153" y="0"/>
                  </a:lnTo>
                  <a:lnTo>
                    <a:pt x="433470" y="11319"/>
                  </a:lnTo>
                  <a:lnTo>
                    <a:pt x="464929" y="42778"/>
                  </a:lnTo>
                  <a:lnTo>
                    <a:pt x="476249" y="80096"/>
                  </a:lnTo>
                  <a:lnTo>
                    <a:pt x="476249" y="91353"/>
                  </a:lnTo>
                  <a:lnTo>
                    <a:pt x="464929" y="128670"/>
                  </a:lnTo>
                  <a:lnTo>
                    <a:pt x="433470" y="160129"/>
                  </a:lnTo>
                  <a:lnTo>
                    <a:pt x="401728" y="170900"/>
                  </a:lnTo>
                  <a:lnTo>
                    <a:pt x="396153" y="171449"/>
                  </a:lnTo>
                  <a:close/>
                </a:path>
              </a:pathLst>
            </a:custGeom>
            <a:solidFill>
              <a:srgbClr val="FDEC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0763248" y="1676399"/>
              <a:ext cx="657225" cy="171450"/>
            </a:xfrm>
            <a:custGeom>
              <a:avLst/>
              <a:gdLst/>
              <a:ahLst/>
              <a:cxnLst/>
              <a:rect l="l" t="t" r="r" b="b"/>
              <a:pathLst>
                <a:path w="657225" h="171450">
                  <a:moveTo>
                    <a:pt x="577129" y="171449"/>
                  </a:moveTo>
                  <a:lnTo>
                    <a:pt x="80096" y="171449"/>
                  </a:lnTo>
                  <a:lnTo>
                    <a:pt x="74521" y="170900"/>
                  </a:lnTo>
                  <a:lnTo>
                    <a:pt x="33418" y="153875"/>
                  </a:lnTo>
                  <a:lnTo>
                    <a:pt x="8678" y="123730"/>
                  </a:lnTo>
                  <a:lnTo>
                    <a:pt x="0" y="91353"/>
                  </a:lnTo>
                  <a:lnTo>
                    <a:pt x="1" y="8572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9" y="11319"/>
                  </a:lnTo>
                  <a:lnTo>
                    <a:pt x="80096" y="0"/>
                  </a:lnTo>
                  <a:lnTo>
                    <a:pt x="577129" y="0"/>
                  </a:lnTo>
                  <a:lnTo>
                    <a:pt x="614444" y="11319"/>
                  </a:lnTo>
                  <a:lnTo>
                    <a:pt x="645903" y="42778"/>
                  </a:lnTo>
                  <a:lnTo>
                    <a:pt x="657224" y="80096"/>
                  </a:lnTo>
                  <a:lnTo>
                    <a:pt x="657224" y="91353"/>
                  </a:lnTo>
                  <a:lnTo>
                    <a:pt x="645903" y="128670"/>
                  </a:lnTo>
                  <a:lnTo>
                    <a:pt x="614444" y="160129"/>
                  </a:lnTo>
                  <a:lnTo>
                    <a:pt x="582703" y="170900"/>
                  </a:lnTo>
                  <a:lnTo>
                    <a:pt x="577129" y="171449"/>
                  </a:lnTo>
                  <a:close/>
                </a:path>
              </a:pathLst>
            </a:custGeom>
            <a:solidFill>
              <a:srgbClr val="E7F5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/>
          <p:nvPr/>
        </p:nvSpPr>
        <p:spPr>
          <a:xfrm>
            <a:off x="8762998" y="2038349"/>
            <a:ext cx="476250" cy="171450"/>
          </a:xfrm>
          <a:custGeom>
            <a:avLst/>
            <a:gdLst/>
            <a:ahLst/>
            <a:cxnLst/>
            <a:rect l="l" t="t" r="r" b="b"/>
            <a:pathLst>
              <a:path w="476250" h="171450">
                <a:moveTo>
                  <a:pt x="396153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7" y="153875"/>
                </a:lnTo>
                <a:lnTo>
                  <a:pt x="8678" y="123730"/>
                </a:lnTo>
                <a:lnTo>
                  <a:pt x="0" y="91353"/>
                </a:lnTo>
                <a:lnTo>
                  <a:pt x="0" y="85724"/>
                </a:lnTo>
                <a:lnTo>
                  <a:pt x="0" y="80096"/>
                </a:lnTo>
                <a:lnTo>
                  <a:pt x="11319" y="42778"/>
                </a:lnTo>
                <a:lnTo>
                  <a:pt x="42778" y="11319"/>
                </a:lnTo>
                <a:lnTo>
                  <a:pt x="80096" y="0"/>
                </a:lnTo>
                <a:lnTo>
                  <a:pt x="396153" y="0"/>
                </a:lnTo>
                <a:lnTo>
                  <a:pt x="433470" y="11319"/>
                </a:lnTo>
                <a:lnTo>
                  <a:pt x="464929" y="42778"/>
                </a:lnTo>
                <a:lnTo>
                  <a:pt x="476249" y="80096"/>
                </a:lnTo>
                <a:lnTo>
                  <a:pt x="476249" y="91353"/>
                </a:lnTo>
                <a:lnTo>
                  <a:pt x="464929" y="128670"/>
                </a:lnTo>
                <a:lnTo>
                  <a:pt x="433470" y="160129"/>
                </a:lnTo>
                <a:lnTo>
                  <a:pt x="401728" y="170900"/>
                </a:lnTo>
                <a:lnTo>
                  <a:pt x="396153" y="171449"/>
                </a:lnTo>
                <a:close/>
              </a:path>
            </a:pathLst>
          </a:custGeom>
          <a:solidFill>
            <a:srgbClr val="FDEC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763247" y="2038349"/>
            <a:ext cx="657225" cy="171450"/>
          </a:xfrm>
          <a:custGeom>
            <a:avLst/>
            <a:gdLst/>
            <a:ahLst/>
            <a:cxnLst/>
            <a:rect l="l" t="t" r="r" b="b"/>
            <a:pathLst>
              <a:path w="657225" h="171450">
                <a:moveTo>
                  <a:pt x="577129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8" y="153875"/>
                </a:lnTo>
                <a:lnTo>
                  <a:pt x="8678" y="123730"/>
                </a:lnTo>
                <a:lnTo>
                  <a:pt x="0" y="91353"/>
                </a:lnTo>
                <a:lnTo>
                  <a:pt x="1" y="85724"/>
                </a:lnTo>
                <a:lnTo>
                  <a:pt x="0" y="80096"/>
                </a:lnTo>
                <a:lnTo>
                  <a:pt x="11319" y="42778"/>
                </a:lnTo>
                <a:lnTo>
                  <a:pt x="42779" y="11319"/>
                </a:lnTo>
                <a:lnTo>
                  <a:pt x="80096" y="0"/>
                </a:lnTo>
                <a:lnTo>
                  <a:pt x="577129" y="0"/>
                </a:lnTo>
                <a:lnTo>
                  <a:pt x="614444" y="11319"/>
                </a:lnTo>
                <a:lnTo>
                  <a:pt x="645903" y="42778"/>
                </a:lnTo>
                <a:lnTo>
                  <a:pt x="657224" y="80096"/>
                </a:lnTo>
                <a:lnTo>
                  <a:pt x="657224" y="91353"/>
                </a:lnTo>
                <a:lnTo>
                  <a:pt x="645903" y="128670"/>
                </a:lnTo>
                <a:lnTo>
                  <a:pt x="614444" y="160129"/>
                </a:lnTo>
                <a:lnTo>
                  <a:pt x="582703" y="170900"/>
                </a:lnTo>
                <a:lnTo>
                  <a:pt x="577129" y="171449"/>
                </a:lnTo>
                <a:close/>
              </a:path>
            </a:pathLst>
          </a:custGeom>
          <a:solidFill>
            <a:srgbClr val="E7F5E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1485899" y="2305049"/>
            <a:ext cx="10096500" cy="361950"/>
            <a:chOff x="1485899" y="2305049"/>
            <a:chExt cx="10096500" cy="361950"/>
          </a:xfrm>
        </p:grpSpPr>
        <p:sp>
          <p:nvSpPr>
            <p:cNvPr id="26" name="object 26"/>
            <p:cNvSpPr/>
            <p:nvPr/>
          </p:nvSpPr>
          <p:spPr>
            <a:xfrm>
              <a:off x="1485887" y="2305061"/>
              <a:ext cx="10096500" cy="361950"/>
            </a:xfrm>
            <a:custGeom>
              <a:avLst/>
              <a:gdLst/>
              <a:ahLst/>
              <a:cxnLst/>
              <a:rect l="l" t="t" r="r" b="b"/>
              <a:pathLst>
                <a:path w="10096500" h="361950">
                  <a:moveTo>
                    <a:pt x="10096500" y="0"/>
                  </a:moveTo>
                  <a:lnTo>
                    <a:pt x="9144000" y="0"/>
                  </a:lnTo>
                  <a:lnTo>
                    <a:pt x="8096250" y="0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7143750" y="361950"/>
                  </a:lnTo>
                  <a:lnTo>
                    <a:pt x="8096250" y="361950"/>
                  </a:lnTo>
                  <a:lnTo>
                    <a:pt x="9144000" y="361950"/>
                  </a:lnTo>
                  <a:lnTo>
                    <a:pt x="10096500" y="361950"/>
                  </a:lnTo>
                  <a:lnTo>
                    <a:pt x="10096500" y="0"/>
                  </a:lnTo>
                  <a:close/>
                </a:path>
              </a:pathLst>
            </a:custGeom>
            <a:solidFill>
              <a:srgbClr val="F9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762999" y="2400299"/>
              <a:ext cx="476250" cy="171450"/>
            </a:xfrm>
            <a:custGeom>
              <a:avLst/>
              <a:gdLst/>
              <a:ahLst/>
              <a:cxnLst/>
              <a:rect l="l" t="t" r="r" b="b"/>
              <a:pathLst>
                <a:path w="476250" h="171450">
                  <a:moveTo>
                    <a:pt x="396153" y="171449"/>
                  </a:moveTo>
                  <a:lnTo>
                    <a:pt x="80096" y="171449"/>
                  </a:lnTo>
                  <a:lnTo>
                    <a:pt x="74521" y="170900"/>
                  </a:lnTo>
                  <a:lnTo>
                    <a:pt x="33417" y="153875"/>
                  </a:lnTo>
                  <a:lnTo>
                    <a:pt x="8678" y="123730"/>
                  </a:lnTo>
                  <a:lnTo>
                    <a:pt x="0" y="91353"/>
                  </a:lnTo>
                  <a:lnTo>
                    <a:pt x="0" y="8572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396153" y="0"/>
                  </a:lnTo>
                  <a:lnTo>
                    <a:pt x="433470" y="11319"/>
                  </a:lnTo>
                  <a:lnTo>
                    <a:pt x="464929" y="42778"/>
                  </a:lnTo>
                  <a:lnTo>
                    <a:pt x="476249" y="80096"/>
                  </a:lnTo>
                  <a:lnTo>
                    <a:pt x="476249" y="91353"/>
                  </a:lnTo>
                  <a:lnTo>
                    <a:pt x="464929" y="128670"/>
                  </a:lnTo>
                  <a:lnTo>
                    <a:pt x="433470" y="160129"/>
                  </a:lnTo>
                  <a:lnTo>
                    <a:pt x="401728" y="170900"/>
                  </a:lnTo>
                  <a:lnTo>
                    <a:pt x="396153" y="171449"/>
                  </a:lnTo>
                  <a:close/>
                </a:path>
              </a:pathLst>
            </a:custGeom>
            <a:solidFill>
              <a:srgbClr val="FDEC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763248" y="2400299"/>
              <a:ext cx="657225" cy="171450"/>
            </a:xfrm>
            <a:custGeom>
              <a:avLst/>
              <a:gdLst/>
              <a:ahLst/>
              <a:cxnLst/>
              <a:rect l="l" t="t" r="r" b="b"/>
              <a:pathLst>
                <a:path w="657225" h="171450">
                  <a:moveTo>
                    <a:pt x="577129" y="171449"/>
                  </a:moveTo>
                  <a:lnTo>
                    <a:pt x="80096" y="171449"/>
                  </a:lnTo>
                  <a:lnTo>
                    <a:pt x="74521" y="170900"/>
                  </a:lnTo>
                  <a:lnTo>
                    <a:pt x="33418" y="153875"/>
                  </a:lnTo>
                  <a:lnTo>
                    <a:pt x="8678" y="123730"/>
                  </a:lnTo>
                  <a:lnTo>
                    <a:pt x="0" y="91353"/>
                  </a:lnTo>
                  <a:lnTo>
                    <a:pt x="1" y="8572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9" y="11319"/>
                  </a:lnTo>
                  <a:lnTo>
                    <a:pt x="80096" y="0"/>
                  </a:lnTo>
                  <a:lnTo>
                    <a:pt x="577129" y="0"/>
                  </a:lnTo>
                  <a:lnTo>
                    <a:pt x="614444" y="11319"/>
                  </a:lnTo>
                  <a:lnTo>
                    <a:pt x="645903" y="42778"/>
                  </a:lnTo>
                  <a:lnTo>
                    <a:pt x="657224" y="80096"/>
                  </a:lnTo>
                  <a:lnTo>
                    <a:pt x="657224" y="91353"/>
                  </a:lnTo>
                  <a:lnTo>
                    <a:pt x="645903" y="128670"/>
                  </a:lnTo>
                  <a:lnTo>
                    <a:pt x="614444" y="160129"/>
                  </a:lnTo>
                  <a:lnTo>
                    <a:pt x="582703" y="170900"/>
                  </a:lnTo>
                  <a:lnTo>
                    <a:pt x="577129" y="171449"/>
                  </a:lnTo>
                  <a:close/>
                </a:path>
              </a:pathLst>
            </a:custGeom>
            <a:solidFill>
              <a:srgbClr val="E7F5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8762998" y="2762249"/>
            <a:ext cx="476250" cy="171450"/>
          </a:xfrm>
          <a:custGeom>
            <a:avLst/>
            <a:gdLst/>
            <a:ahLst/>
            <a:cxnLst/>
            <a:rect l="l" t="t" r="r" b="b"/>
            <a:pathLst>
              <a:path w="476250" h="171450">
                <a:moveTo>
                  <a:pt x="396153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7" y="153875"/>
                </a:lnTo>
                <a:lnTo>
                  <a:pt x="8678" y="123730"/>
                </a:lnTo>
                <a:lnTo>
                  <a:pt x="0" y="91353"/>
                </a:lnTo>
                <a:lnTo>
                  <a:pt x="0" y="85724"/>
                </a:lnTo>
                <a:lnTo>
                  <a:pt x="0" y="80096"/>
                </a:lnTo>
                <a:lnTo>
                  <a:pt x="11319" y="42778"/>
                </a:lnTo>
                <a:lnTo>
                  <a:pt x="42778" y="11319"/>
                </a:lnTo>
                <a:lnTo>
                  <a:pt x="80096" y="0"/>
                </a:lnTo>
                <a:lnTo>
                  <a:pt x="396153" y="0"/>
                </a:lnTo>
                <a:lnTo>
                  <a:pt x="433470" y="11319"/>
                </a:lnTo>
                <a:lnTo>
                  <a:pt x="464929" y="42778"/>
                </a:lnTo>
                <a:lnTo>
                  <a:pt x="476249" y="80096"/>
                </a:lnTo>
                <a:lnTo>
                  <a:pt x="476249" y="91353"/>
                </a:lnTo>
                <a:lnTo>
                  <a:pt x="464929" y="128670"/>
                </a:lnTo>
                <a:lnTo>
                  <a:pt x="433470" y="160129"/>
                </a:lnTo>
                <a:lnTo>
                  <a:pt x="401728" y="170900"/>
                </a:lnTo>
                <a:lnTo>
                  <a:pt x="396153" y="171449"/>
                </a:lnTo>
                <a:close/>
              </a:path>
            </a:pathLst>
          </a:custGeom>
          <a:solidFill>
            <a:srgbClr val="FDEC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763247" y="2762249"/>
            <a:ext cx="657225" cy="171450"/>
          </a:xfrm>
          <a:custGeom>
            <a:avLst/>
            <a:gdLst/>
            <a:ahLst/>
            <a:cxnLst/>
            <a:rect l="l" t="t" r="r" b="b"/>
            <a:pathLst>
              <a:path w="657225" h="171450">
                <a:moveTo>
                  <a:pt x="577129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8" y="153875"/>
                </a:lnTo>
                <a:lnTo>
                  <a:pt x="8678" y="123730"/>
                </a:lnTo>
                <a:lnTo>
                  <a:pt x="0" y="91353"/>
                </a:lnTo>
                <a:lnTo>
                  <a:pt x="1" y="85724"/>
                </a:lnTo>
                <a:lnTo>
                  <a:pt x="0" y="80096"/>
                </a:lnTo>
                <a:lnTo>
                  <a:pt x="11319" y="42778"/>
                </a:lnTo>
                <a:lnTo>
                  <a:pt x="42779" y="11319"/>
                </a:lnTo>
                <a:lnTo>
                  <a:pt x="80096" y="0"/>
                </a:lnTo>
                <a:lnTo>
                  <a:pt x="577129" y="0"/>
                </a:lnTo>
                <a:lnTo>
                  <a:pt x="614444" y="11319"/>
                </a:lnTo>
                <a:lnTo>
                  <a:pt x="645903" y="42778"/>
                </a:lnTo>
                <a:lnTo>
                  <a:pt x="657224" y="80096"/>
                </a:lnTo>
                <a:lnTo>
                  <a:pt x="657224" y="91353"/>
                </a:lnTo>
                <a:lnTo>
                  <a:pt x="645903" y="128670"/>
                </a:lnTo>
                <a:lnTo>
                  <a:pt x="614444" y="160129"/>
                </a:lnTo>
                <a:lnTo>
                  <a:pt x="582703" y="170900"/>
                </a:lnTo>
                <a:lnTo>
                  <a:pt x="577129" y="171449"/>
                </a:lnTo>
                <a:close/>
              </a:path>
            </a:pathLst>
          </a:custGeom>
          <a:solidFill>
            <a:srgbClr val="E7F5E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/>
          <p:cNvGrpSpPr/>
          <p:nvPr/>
        </p:nvGrpSpPr>
        <p:grpSpPr>
          <a:xfrm>
            <a:off x="1485899" y="3028949"/>
            <a:ext cx="10096500" cy="361950"/>
            <a:chOff x="1485899" y="3028949"/>
            <a:chExt cx="10096500" cy="361950"/>
          </a:xfrm>
        </p:grpSpPr>
        <p:sp>
          <p:nvSpPr>
            <p:cNvPr id="32" name="object 32"/>
            <p:cNvSpPr/>
            <p:nvPr/>
          </p:nvSpPr>
          <p:spPr>
            <a:xfrm>
              <a:off x="1485887" y="3028962"/>
              <a:ext cx="10096500" cy="361950"/>
            </a:xfrm>
            <a:custGeom>
              <a:avLst/>
              <a:gdLst/>
              <a:ahLst/>
              <a:cxnLst/>
              <a:rect l="l" t="t" r="r" b="b"/>
              <a:pathLst>
                <a:path w="10096500" h="361950">
                  <a:moveTo>
                    <a:pt x="10096500" y="0"/>
                  </a:moveTo>
                  <a:lnTo>
                    <a:pt x="9144000" y="0"/>
                  </a:lnTo>
                  <a:lnTo>
                    <a:pt x="8096250" y="0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7143750" y="361950"/>
                  </a:lnTo>
                  <a:lnTo>
                    <a:pt x="8096250" y="361950"/>
                  </a:lnTo>
                  <a:lnTo>
                    <a:pt x="9144000" y="361950"/>
                  </a:lnTo>
                  <a:lnTo>
                    <a:pt x="10096500" y="361950"/>
                  </a:lnTo>
                  <a:lnTo>
                    <a:pt x="10096500" y="0"/>
                  </a:lnTo>
                  <a:close/>
                </a:path>
              </a:pathLst>
            </a:custGeom>
            <a:solidFill>
              <a:srgbClr val="F9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762999" y="3124199"/>
              <a:ext cx="476250" cy="171450"/>
            </a:xfrm>
            <a:custGeom>
              <a:avLst/>
              <a:gdLst/>
              <a:ahLst/>
              <a:cxnLst/>
              <a:rect l="l" t="t" r="r" b="b"/>
              <a:pathLst>
                <a:path w="476250" h="171450">
                  <a:moveTo>
                    <a:pt x="396153" y="171449"/>
                  </a:moveTo>
                  <a:lnTo>
                    <a:pt x="80096" y="171449"/>
                  </a:lnTo>
                  <a:lnTo>
                    <a:pt x="74521" y="170900"/>
                  </a:lnTo>
                  <a:lnTo>
                    <a:pt x="33417" y="153875"/>
                  </a:lnTo>
                  <a:lnTo>
                    <a:pt x="8678" y="123730"/>
                  </a:lnTo>
                  <a:lnTo>
                    <a:pt x="0" y="91353"/>
                  </a:lnTo>
                  <a:lnTo>
                    <a:pt x="0" y="8572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396153" y="0"/>
                  </a:lnTo>
                  <a:lnTo>
                    <a:pt x="433470" y="11319"/>
                  </a:lnTo>
                  <a:lnTo>
                    <a:pt x="464929" y="42778"/>
                  </a:lnTo>
                  <a:lnTo>
                    <a:pt x="476249" y="80096"/>
                  </a:lnTo>
                  <a:lnTo>
                    <a:pt x="476249" y="91353"/>
                  </a:lnTo>
                  <a:lnTo>
                    <a:pt x="464929" y="128670"/>
                  </a:lnTo>
                  <a:lnTo>
                    <a:pt x="433470" y="160129"/>
                  </a:lnTo>
                  <a:lnTo>
                    <a:pt x="401728" y="170900"/>
                  </a:lnTo>
                  <a:lnTo>
                    <a:pt x="396153" y="171449"/>
                  </a:lnTo>
                  <a:close/>
                </a:path>
              </a:pathLst>
            </a:custGeom>
            <a:solidFill>
              <a:srgbClr val="FDEC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763248" y="3124199"/>
              <a:ext cx="504825" cy="171450"/>
            </a:xfrm>
            <a:custGeom>
              <a:avLst/>
              <a:gdLst/>
              <a:ahLst/>
              <a:cxnLst/>
              <a:rect l="l" t="t" r="r" b="b"/>
              <a:pathLst>
                <a:path w="504825" h="171450">
                  <a:moveTo>
                    <a:pt x="424729" y="171449"/>
                  </a:moveTo>
                  <a:lnTo>
                    <a:pt x="80096" y="171449"/>
                  </a:lnTo>
                  <a:lnTo>
                    <a:pt x="74521" y="170900"/>
                  </a:lnTo>
                  <a:lnTo>
                    <a:pt x="33418" y="153875"/>
                  </a:lnTo>
                  <a:lnTo>
                    <a:pt x="8678" y="123730"/>
                  </a:lnTo>
                  <a:lnTo>
                    <a:pt x="0" y="91353"/>
                  </a:lnTo>
                  <a:lnTo>
                    <a:pt x="1" y="8572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9" y="11319"/>
                  </a:lnTo>
                  <a:lnTo>
                    <a:pt x="80096" y="0"/>
                  </a:lnTo>
                  <a:lnTo>
                    <a:pt x="424729" y="0"/>
                  </a:lnTo>
                  <a:lnTo>
                    <a:pt x="462046" y="11319"/>
                  </a:lnTo>
                  <a:lnTo>
                    <a:pt x="493504" y="42778"/>
                  </a:lnTo>
                  <a:lnTo>
                    <a:pt x="504826" y="80096"/>
                  </a:lnTo>
                  <a:lnTo>
                    <a:pt x="504826" y="91353"/>
                  </a:lnTo>
                  <a:lnTo>
                    <a:pt x="493504" y="128670"/>
                  </a:lnTo>
                  <a:lnTo>
                    <a:pt x="462044" y="160129"/>
                  </a:lnTo>
                  <a:lnTo>
                    <a:pt x="430303" y="170900"/>
                  </a:lnTo>
                  <a:lnTo>
                    <a:pt x="424729" y="171449"/>
                  </a:lnTo>
                  <a:close/>
                </a:path>
              </a:pathLst>
            </a:custGeom>
            <a:solidFill>
              <a:srgbClr val="FFF0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/>
          <p:nvPr/>
        </p:nvSpPr>
        <p:spPr>
          <a:xfrm>
            <a:off x="8762998" y="3486149"/>
            <a:ext cx="476250" cy="171450"/>
          </a:xfrm>
          <a:custGeom>
            <a:avLst/>
            <a:gdLst/>
            <a:ahLst/>
            <a:cxnLst/>
            <a:rect l="l" t="t" r="r" b="b"/>
            <a:pathLst>
              <a:path w="476250" h="171450">
                <a:moveTo>
                  <a:pt x="396153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7" y="153875"/>
                </a:lnTo>
                <a:lnTo>
                  <a:pt x="8678" y="123730"/>
                </a:lnTo>
                <a:lnTo>
                  <a:pt x="0" y="91353"/>
                </a:lnTo>
                <a:lnTo>
                  <a:pt x="0" y="85724"/>
                </a:lnTo>
                <a:lnTo>
                  <a:pt x="0" y="80096"/>
                </a:lnTo>
                <a:lnTo>
                  <a:pt x="11319" y="42778"/>
                </a:lnTo>
                <a:lnTo>
                  <a:pt x="42778" y="11319"/>
                </a:lnTo>
                <a:lnTo>
                  <a:pt x="80096" y="0"/>
                </a:lnTo>
                <a:lnTo>
                  <a:pt x="396153" y="0"/>
                </a:lnTo>
                <a:lnTo>
                  <a:pt x="433470" y="11319"/>
                </a:lnTo>
                <a:lnTo>
                  <a:pt x="464929" y="42778"/>
                </a:lnTo>
                <a:lnTo>
                  <a:pt x="476249" y="80096"/>
                </a:lnTo>
                <a:lnTo>
                  <a:pt x="476249" y="91353"/>
                </a:lnTo>
                <a:lnTo>
                  <a:pt x="464929" y="128670"/>
                </a:lnTo>
                <a:lnTo>
                  <a:pt x="433470" y="160129"/>
                </a:lnTo>
                <a:lnTo>
                  <a:pt x="401728" y="170900"/>
                </a:lnTo>
                <a:lnTo>
                  <a:pt x="396153" y="171449"/>
                </a:lnTo>
                <a:close/>
              </a:path>
            </a:pathLst>
          </a:custGeom>
          <a:solidFill>
            <a:srgbClr val="FDEC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0763247" y="3486149"/>
            <a:ext cx="504825" cy="171450"/>
          </a:xfrm>
          <a:custGeom>
            <a:avLst/>
            <a:gdLst/>
            <a:ahLst/>
            <a:cxnLst/>
            <a:rect l="l" t="t" r="r" b="b"/>
            <a:pathLst>
              <a:path w="504825" h="171450">
                <a:moveTo>
                  <a:pt x="424729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8" y="153875"/>
                </a:lnTo>
                <a:lnTo>
                  <a:pt x="8678" y="123730"/>
                </a:lnTo>
                <a:lnTo>
                  <a:pt x="0" y="91353"/>
                </a:lnTo>
                <a:lnTo>
                  <a:pt x="1" y="85724"/>
                </a:lnTo>
                <a:lnTo>
                  <a:pt x="0" y="80096"/>
                </a:lnTo>
                <a:lnTo>
                  <a:pt x="11319" y="42778"/>
                </a:lnTo>
                <a:lnTo>
                  <a:pt x="42779" y="11319"/>
                </a:lnTo>
                <a:lnTo>
                  <a:pt x="80096" y="0"/>
                </a:lnTo>
                <a:lnTo>
                  <a:pt x="424729" y="0"/>
                </a:lnTo>
                <a:lnTo>
                  <a:pt x="462046" y="11319"/>
                </a:lnTo>
                <a:lnTo>
                  <a:pt x="493504" y="42778"/>
                </a:lnTo>
                <a:lnTo>
                  <a:pt x="504826" y="80096"/>
                </a:lnTo>
                <a:lnTo>
                  <a:pt x="504826" y="91353"/>
                </a:lnTo>
                <a:lnTo>
                  <a:pt x="493504" y="128670"/>
                </a:lnTo>
                <a:lnTo>
                  <a:pt x="462044" y="160129"/>
                </a:lnTo>
                <a:lnTo>
                  <a:pt x="430303" y="170900"/>
                </a:lnTo>
                <a:lnTo>
                  <a:pt x="424729" y="171449"/>
                </a:lnTo>
                <a:close/>
              </a:path>
            </a:pathLst>
          </a:custGeom>
          <a:solidFill>
            <a:srgbClr val="FFF0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" name="object 37"/>
          <p:cNvGrpSpPr/>
          <p:nvPr/>
        </p:nvGrpSpPr>
        <p:grpSpPr>
          <a:xfrm>
            <a:off x="1485899" y="3752849"/>
            <a:ext cx="10096500" cy="361950"/>
            <a:chOff x="1485899" y="3752849"/>
            <a:chExt cx="10096500" cy="361950"/>
          </a:xfrm>
        </p:grpSpPr>
        <p:sp>
          <p:nvSpPr>
            <p:cNvPr id="38" name="object 38"/>
            <p:cNvSpPr/>
            <p:nvPr/>
          </p:nvSpPr>
          <p:spPr>
            <a:xfrm>
              <a:off x="1485887" y="3752861"/>
              <a:ext cx="10096500" cy="361950"/>
            </a:xfrm>
            <a:custGeom>
              <a:avLst/>
              <a:gdLst/>
              <a:ahLst/>
              <a:cxnLst/>
              <a:rect l="l" t="t" r="r" b="b"/>
              <a:pathLst>
                <a:path w="10096500" h="361950">
                  <a:moveTo>
                    <a:pt x="10096500" y="0"/>
                  </a:moveTo>
                  <a:lnTo>
                    <a:pt x="9144000" y="0"/>
                  </a:lnTo>
                  <a:lnTo>
                    <a:pt x="8096250" y="0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7143750" y="361950"/>
                  </a:lnTo>
                  <a:lnTo>
                    <a:pt x="8096250" y="361950"/>
                  </a:lnTo>
                  <a:lnTo>
                    <a:pt x="9144000" y="361950"/>
                  </a:lnTo>
                  <a:lnTo>
                    <a:pt x="10096500" y="361950"/>
                  </a:lnTo>
                  <a:lnTo>
                    <a:pt x="10096500" y="0"/>
                  </a:lnTo>
                  <a:close/>
                </a:path>
              </a:pathLst>
            </a:custGeom>
            <a:solidFill>
              <a:srgbClr val="F9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762999" y="3848099"/>
              <a:ext cx="476250" cy="171450"/>
            </a:xfrm>
            <a:custGeom>
              <a:avLst/>
              <a:gdLst/>
              <a:ahLst/>
              <a:cxnLst/>
              <a:rect l="l" t="t" r="r" b="b"/>
              <a:pathLst>
                <a:path w="476250" h="171450">
                  <a:moveTo>
                    <a:pt x="396153" y="171449"/>
                  </a:moveTo>
                  <a:lnTo>
                    <a:pt x="80096" y="171449"/>
                  </a:lnTo>
                  <a:lnTo>
                    <a:pt x="74521" y="170900"/>
                  </a:lnTo>
                  <a:lnTo>
                    <a:pt x="33417" y="153874"/>
                  </a:lnTo>
                  <a:lnTo>
                    <a:pt x="8678" y="123729"/>
                  </a:lnTo>
                  <a:lnTo>
                    <a:pt x="0" y="91353"/>
                  </a:lnTo>
                  <a:lnTo>
                    <a:pt x="0" y="85724"/>
                  </a:lnTo>
                  <a:lnTo>
                    <a:pt x="0" y="80095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396153" y="0"/>
                  </a:lnTo>
                  <a:lnTo>
                    <a:pt x="433470" y="11319"/>
                  </a:lnTo>
                  <a:lnTo>
                    <a:pt x="464929" y="42778"/>
                  </a:lnTo>
                  <a:lnTo>
                    <a:pt x="476249" y="80095"/>
                  </a:lnTo>
                  <a:lnTo>
                    <a:pt x="476249" y="91353"/>
                  </a:lnTo>
                  <a:lnTo>
                    <a:pt x="464929" y="128670"/>
                  </a:lnTo>
                  <a:lnTo>
                    <a:pt x="433470" y="160129"/>
                  </a:lnTo>
                  <a:lnTo>
                    <a:pt x="401728" y="170900"/>
                  </a:lnTo>
                  <a:lnTo>
                    <a:pt x="396153" y="171449"/>
                  </a:lnTo>
                  <a:close/>
                </a:path>
              </a:pathLst>
            </a:custGeom>
            <a:solidFill>
              <a:srgbClr val="FDEC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0763248" y="3848099"/>
              <a:ext cx="657225" cy="171450"/>
            </a:xfrm>
            <a:custGeom>
              <a:avLst/>
              <a:gdLst/>
              <a:ahLst/>
              <a:cxnLst/>
              <a:rect l="l" t="t" r="r" b="b"/>
              <a:pathLst>
                <a:path w="657225" h="171450">
                  <a:moveTo>
                    <a:pt x="577129" y="171449"/>
                  </a:moveTo>
                  <a:lnTo>
                    <a:pt x="80096" y="171449"/>
                  </a:lnTo>
                  <a:lnTo>
                    <a:pt x="74521" y="170900"/>
                  </a:lnTo>
                  <a:lnTo>
                    <a:pt x="33418" y="153874"/>
                  </a:lnTo>
                  <a:lnTo>
                    <a:pt x="8678" y="123729"/>
                  </a:lnTo>
                  <a:lnTo>
                    <a:pt x="0" y="91353"/>
                  </a:lnTo>
                  <a:lnTo>
                    <a:pt x="1" y="85724"/>
                  </a:lnTo>
                  <a:lnTo>
                    <a:pt x="0" y="80095"/>
                  </a:lnTo>
                  <a:lnTo>
                    <a:pt x="11319" y="42778"/>
                  </a:lnTo>
                  <a:lnTo>
                    <a:pt x="42779" y="11319"/>
                  </a:lnTo>
                  <a:lnTo>
                    <a:pt x="80096" y="0"/>
                  </a:lnTo>
                  <a:lnTo>
                    <a:pt x="577129" y="0"/>
                  </a:lnTo>
                  <a:lnTo>
                    <a:pt x="614444" y="11319"/>
                  </a:lnTo>
                  <a:lnTo>
                    <a:pt x="645903" y="42778"/>
                  </a:lnTo>
                  <a:lnTo>
                    <a:pt x="657224" y="80095"/>
                  </a:lnTo>
                  <a:lnTo>
                    <a:pt x="657224" y="91353"/>
                  </a:lnTo>
                  <a:lnTo>
                    <a:pt x="645903" y="128670"/>
                  </a:lnTo>
                  <a:lnTo>
                    <a:pt x="614444" y="160129"/>
                  </a:lnTo>
                  <a:lnTo>
                    <a:pt x="582703" y="170900"/>
                  </a:lnTo>
                  <a:lnTo>
                    <a:pt x="577129" y="171449"/>
                  </a:lnTo>
                  <a:close/>
                </a:path>
              </a:pathLst>
            </a:custGeom>
            <a:solidFill>
              <a:srgbClr val="E7F5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/>
          <p:nvPr/>
        </p:nvSpPr>
        <p:spPr>
          <a:xfrm>
            <a:off x="8762998" y="4210049"/>
            <a:ext cx="476250" cy="171450"/>
          </a:xfrm>
          <a:custGeom>
            <a:avLst/>
            <a:gdLst/>
            <a:ahLst/>
            <a:cxnLst/>
            <a:rect l="l" t="t" r="r" b="b"/>
            <a:pathLst>
              <a:path w="476250" h="171450">
                <a:moveTo>
                  <a:pt x="396153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7" y="153875"/>
                </a:lnTo>
                <a:lnTo>
                  <a:pt x="8678" y="123730"/>
                </a:lnTo>
                <a:lnTo>
                  <a:pt x="0" y="91353"/>
                </a:lnTo>
                <a:lnTo>
                  <a:pt x="0" y="85724"/>
                </a:lnTo>
                <a:lnTo>
                  <a:pt x="0" y="80096"/>
                </a:lnTo>
                <a:lnTo>
                  <a:pt x="11319" y="42778"/>
                </a:lnTo>
                <a:lnTo>
                  <a:pt x="42778" y="11319"/>
                </a:lnTo>
                <a:lnTo>
                  <a:pt x="80096" y="0"/>
                </a:lnTo>
                <a:lnTo>
                  <a:pt x="396153" y="0"/>
                </a:lnTo>
                <a:lnTo>
                  <a:pt x="433470" y="11319"/>
                </a:lnTo>
                <a:lnTo>
                  <a:pt x="464929" y="42778"/>
                </a:lnTo>
                <a:lnTo>
                  <a:pt x="476249" y="80096"/>
                </a:lnTo>
                <a:lnTo>
                  <a:pt x="476249" y="91353"/>
                </a:lnTo>
                <a:lnTo>
                  <a:pt x="464929" y="128670"/>
                </a:lnTo>
                <a:lnTo>
                  <a:pt x="433470" y="160129"/>
                </a:lnTo>
                <a:lnTo>
                  <a:pt x="401728" y="170900"/>
                </a:lnTo>
                <a:lnTo>
                  <a:pt x="396153" y="171449"/>
                </a:lnTo>
                <a:close/>
              </a:path>
            </a:pathLst>
          </a:custGeom>
          <a:solidFill>
            <a:srgbClr val="FDEC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0763247" y="4210049"/>
            <a:ext cx="657225" cy="171450"/>
          </a:xfrm>
          <a:custGeom>
            <a:avLst/>
            <a:gdLst/>
            <a:ahLst/>
            <a:cxnLst/>
            <a:rect l="l" t="t" r="r" b="b"/>
            <a:pathLst>
              <a:path w="657225" h="171450">
                <a:moveTo>
                  <a:pt x="577129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8" y="153875"/>
                </a:lnTo>
                <a:lnTo>
                  <a:pt x="8678" y="123730"/>
                </a:lnTo>
                <a:lnTo>
                  <a:pt x="0" y="91353"/>
                </a:lnTo>
                <a:lnTo>
                  <a:pt x="1" y="85724"/>
                </a:lnTo>
                <a:lnTo>
                  <a:pt x="0" y="80096"/>
                </a:lnTo>
                <a:lnTo>
                  <a:pt x="11319" y="42778"/>
                </a:lnTo>
                <a:lnTo>
                  <a:pt x="42779" y="11319"/>
                </a:lnTo>
                <a:lnTo>
                  <a:pt x="80096" y="0"/>
                </a:lnTo>
                <a:lnTo>
                  <a:pt x="577129" y="0"/>
                </a:lnTo>
                <a:lnTo>
                  <a:pt x="614444" y="11319"/>
                </a:lnTo>
                <a:lnTo>
                  <a:pt x="645903" y="42778"/>
                </a:lnTo>
                <a:lnTo>
                  <a:pt x="657224" y="80096"/>
                </a:lnTo>
                <a:lnTo>
                  <a:pt x="657224" y="91353"/>
                </a:lnTo>
                <a:lnTo>
                  <a:pt x="645903" y="128670"/>
                </a:lnTo>
                <a:lnTo>
                  <a:pt x="614444" y="160129"/>
                </a:lnTo>
                <a:lnTo>
                  <a:pt x="582703" y="170900"/>
                </a:lnTo>
                <a:lnTo>
                  <a:pt x="577129" y="171449"/>
                </a:lnTo>
                <a:close/>
              </a:path>
            </a:pathLst>
          </a:custGeom>
          <a:solidFill>
            <a:srgbClr val="E7F5E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" name="object 43"/>
          <p:cNvGrpSpPr/>
          <p:nvPr/>
        </p:nvGrpSpPr>
        <p:grpSpPr>
          <a:xfrm>
            <a:off x="1485899" y="4476749"/>
            <a:ext cx="10096500" cy="361950"/>
            <a:chOff x="1485899" y="4476749"/>
            <a:chExt cx="10096500" cy="361950"/>
          </a:xfrm>
        </p:grpSpPr>
        <p:sp>
          <p:nvSpPr>
            <p:cNvPr id="44" name="object 44"/>
            <p:cNvSpPr/>
            <p:nvPr/>
          </p:nvSpPr>
          <p:spPr>
            <a:xfrm>
              <a:off x="1485887" y="4476762"/>
              <a:ext cx="10096500" cy="361950"/>
            </a:xfrm>
            <a:custGeom>
              <a:avLst/>
              <a:gdLst/>
              <a:ahLst/>
              <a:cxnLst/>
              <a:rect l="l" t="t" r="r" b="b"/>
              <a:pathLst>
                <a:path w="10096500" h="361950">
                  <a:moveTo>
                    <a:pt x="10096500" y="0"/>
                  </a:moveTo>
                  <a:lnTo>
                    <a:pt x="9144000" y="0"/>
                  </a:lnTo>
                  <a:lnTo>
                    <a:pt x="8096250" y="0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7143750" y="361950"/>
                  </a:lnTo>
                  <a:lnTo>
                    <a:pt x="8096250" y="361950"/>
                  </a:lnTo>
                  <a:lnTo>
                    <a:pt x="9144000" y="361950"/>
                  </a:lnTo>
                  <a:lnTo>
                    <a:pt x="10096500" y="361950"/>
                  </a:lnTo>
                  <a:lnTo>
                    <a:pt x="10096500" y="0"/>
                  </a:lnTo>
                  <a:close/>
                </a:path>
              </a:pathLst>
            </a:custGeom>
            <a:solidFill>
              <a:srgbClr val="F9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762999" y="4571999"/>
              <a:ext cx="647700" cy="171450"/>
            </a:xfrm>
            <a:custGeom>
              <a:avLst/>
              <a:gdLst/>
              <a:ahLst/>
              <a:cxnLst/>
              <a:rect l="l" t="t" r="r" b="b"/>
              <a:pathLst>
                <a:path w="647700" h="171450">
                  <a:moveTo>
                    <a:pt x="567604" y="171449"/>
                  </a:moveTo>
                  <a:lnTo>
                    <a:pt x="80096" y="171449"/>
                  </a:lnTo>
                  <a:lnTo>
                    <a:pt x="74521" y="170900"/>
                  </a:lnTo>
                  <a:lnTo>
                    <a:pt x="33417" y="153874"/>
                  </a:lnTo>
                  <a:lnTo>
                    <a:pt x="8678" y="123730"/>
                  </a:lnTo>
                  <a:lnTo>
                    <a:pt x="0" y="91353"/>
                  </a:lnTo>
                  <a:lnTo>
                    <a:pt x="0" y="8572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567604" y="0"/>
                  </a:lnTo>
                  <a:lnTo>
                    <a:pt x="604920" y="11319"/>
                  </a:lnTo>
                  <a:lnTo>
                    <a:pt x="636379" y="42778"/>
                  </a:lnTo>
                  <a:lnTo>
                    <a:pt x="647700" y="80096"/>
                  </a:lnTo>
                  <a:lnTo>
                    <a:pt x="647700" y="91353"/>
                  </a:lnTo>
                  <a:lnTo>
                    <a:pt x="636379" y="128670"/>
                  </a:lnTo>
                  <a:lnTo>
                    <a:pt x="604920" y="160129"/>
                  </a:lnTo>
                  <a:lnTo>
                    <a:pt x="573178" y="170900"/>
                  </a:lnTo>
                  <a:lnTo>
                    <a:pt x="567604" y="171449"/>
                  </a:lnTo>
                  <a:close/>
                </a:path>
              </a:pathLst>
            </a:custGeom>
            <a:solidFill>
              <a:srgbClr val="FEF9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0763248" y="4571999"/>
              <a:ext cx="504825" cy="171450"/>
            </a:xfrm>
            <a:custGeom>
              <a:avLst/>
              <a:gdLst/>
              <a:ahLst/>
              <a:cxnLst/>
              <a:rect l="l" t="t" r="r" b="b"/>
              <a:pathLst>
                <a:path w="504825" h="171450">
                  <a:moveTo>
                    <a:pt x="424729" y="171449"/>
                  </a:moveTo>
                  <a:lnTo>
                    <a:pt x="80096" y="171449"/>
                  </a:lnTo>
                  <a:lnTo>
                    <a:pt x="74521" y="170900"/>
                  </a:lnTo>
                  <a:lnTo>
                    <a:pt x="33418" y="153874"/>
                  </a:lnTo>
                  <a:lnTo>
                    <a:pt x="8678" y="123730"/>
                  </a:lnTo>
                  <a:lnTo>
                    <a:pt x="0" y="91353"/>
                  </a:lnTo>
                  <a:lnTo>
                    <a:pt x="1" y="8572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9" y="11319"/>
                  </a:lnTo>
                  <a:lnTo>
                    <a:pt x="80096" y="0"/>
                  </a:lnTo>
                  <a:lnTo>
                    <a:pt x="424729" y="0"/>
                  </a:lnTo>
                  <a:lnTo>
                    <a:pt x="462046" y="11319"/>
                  </a:lnTo>
                  <a:lnTo>
                    <a:pt x="493504" y="42778"/>
                  </a:lnTo>
                  <a:lnTo>
                    <a:pt x="504826" y="80096"/>
                  </a:lnTo>
                  <a:lnTo>
                    <a:pt x="504826" y="91353"/>
                  </a:lnTo>
                  <a:lnTo>
                    <a:pt x="493504" y="128670"/>
                  </a:lnTo>
                  <a:lnTo>
                    <a:pt x="462044" y="160129"/>
                  </a:lnTo>
                  <a:lnTo>
                    <a:pt x="430303" y="170900"/>
                  </a:lnTo>
                  <a:lnTo>
                    <a:pt x="424729" y="171449"/>
                  </a:lnTo>
                  <a:close/>
                </a:path>
              </a:pathLst>
            </a:custGeom>
            <a:solidFill>
              <a:srgbClr val="FFF0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/>
          <p:nvPr/>
        </p:nvSpPr>
        <p:spPr>
          <a:xfrm>
            <a:off x="8762998" y="4933949"/>
            <a:ext cx="647700" cy="171450"/>
          </a:xfrm>
          <a:custGeom>
            <a:avLst/>
            <a:gdLst/>
            <a:ahLst/>
            <a:cxnLst/>
            <a:rect l="l" t="t" r="r" b="b"/>
            <a:pathLst>
              <a:path w="647700" h="171450">
                <a:moveTo>
                  <a:pt x="567604" y="171449"/>
                </a:moveTo>
                <a:lnTo>
                  <a:pt x="80096" y="171449"/>
                </a:lnTo>
                <a:lnTo>
                  <a:pt x="74521" y="170901"/>
                </a:lnTo>
                <a:lnTo>
                  <a:pt x="33417" y="153874"/>
                </a:lnTo>
                <a:lnTo>
                  <a:pt x="8678" y="123730"/>
                </a:lnTo>
                <a:lnTo>
                  <a:pt x="0" y="91353"/>
                </a:lnTo>
                <a:lnTo>
                  <a:pt x="0" y="85724"/>
                </a:lnTo>
                <a:lnTo>
                  <a:pt x="0" y="80095"/>
                </a:lnTo>
                <a:lnTo>
                  <a:pt x="11319" y="42778"/>
                </a:lnTo>
                <a:lnTo>
                  <a:pt x="42778" y="11319"/>
                </a:lnTo>
                <a:lnTo>
                  <a:pt x="80096" y="0"/>
                </a:lnTo>
                <a:lnTo>
                  <a:pt x="567604" y="0"/>
                </a:lnTo>
                <a:lnTo>
                  <a:pt x="604920" y="11319"/>
                </a:lnTo>
                <a:lnTo>
                  <a:pt x="636379" y="42778"/>
                </a:lnTo>
                <a:lnTo>
                  <a:pt x="647700" y="80095"/>
                </a:lnTo>
                <a:lnTo>
                  <a:pt x="647700" y="91353"/>
                </a:lnTo>
                <a:lnTo>
                  <a:pt x="636379" y="128670"/>
                </a:lnTo>
                <a:lnTo>
                  <a:pt x="604920" y="160128"/>
                </a:lnTo>
                <a:lnTo>
                  <a:pt x="573178" y="170901"/>
                </a:lnTo>
                <a:lnTo>
                  <a:pt x="567604" y="171449"/>
                </a:lnTo>
                <a:close/>
              </a:path>
            </a:pathLst>
          </a:custGeom>
          <a:solidFill>
            <a:srgbClr val="FEF9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0763247" y="4933949"/>
            <a:ext cx="504825" cy="171450"/>
          </a:xfrm>
          <a:custGeom>
            <a:avLst/>
            <a:gdLst/>
            <a:ahLst/>
            <a:cxnLst/>
            <a:rect l="l" t="t" r="r" b="b"/>
            <a:pathLst>
              <a:path w="504825" h="171450">
                <a:moveTo>
                  <a:pt x="424729" y="171449"/>
                </a:moveTo>
                <a:lnTo>
                  <a:pt x="80096" y="171449"/>
                </a:lnTo>
                <a:lnTo>
                  <a:pt x="74521" y="170901"/>
                </a:lnTo>
                <a:lnTo>
                  <a:pt x="33418" y="153874"/>
                </a:lnTo>
                <a:lnTo>
                  <a:pt x="8678" y="123730"/>
                </a:lnTo>
                <a:lnTo>
                  <a:pt x="0" y="91353"/>
                </a:lnTo>
                <a:lnTo>
                  <a:pt x="1" y="85724"/>
                </a:lnTo>
                <a:lnTo>
                  <a:pt x="0" y="80095"/>
                </a:lnTo>
                <a:lnTo>
                  <a:pt x="11319" y="42778"/>
                </a:lnTo>
                <a:lnTo>
                  <a:pt x="42779" y="11319"/>
                </a:lnTo>
                <a:lnTo>
                  <a:pt x="80096" y="0"/>
                </a:lnTo>
                <a:lnTo>
                  <a:pt x="424729" y="0"/>
                </a:lnTo>
                <a:lnTo>
                  <a:pt x="462046" y="11319"/>
                </a:lnTo>
                <a:lnTo>
                  <a:pt x="493504" y="42778"/>
                </a:lnTo>
                <a:lnTo>
                  <a:pt x="504826" y="80095"/>
                </a:lnTo>
                <a:lnTo>
                  <a:pt x="504826" y="91353"/>
                </a:lnTo>
                <a:lnTo>
                  <a:pt x="493504" y="128670"/>
                </a:lnTo>
                <a:lnTo>
                  <a:pt x="462044" y="160128"/>
                </a:lnTo>
                <a:lnTo>
                  <a:pt x="430303" y="170901"/>
                </a:lnTo>
                <a:lnTo>
                  <a:pt x="424729" y="171449"/>
                </a:lnTo>
                <a:close/>
              </a:path>
            </a:pathLst>
          </a:custGeom>
          <a:solidFill>
            <a:srgbClr val="FFF0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" name="object 49"/>
          <p:cNvGrpSpPr/>
          <p:nvPr/>
        </p:nvGrpSpPr>
        <p:grpSpPr>
          <a:xfrm>
            <a:off x="1485899" y="5200649"/>
            <a:ext cx="10096500" cy="361950"/>
            <a:chOff x="1485899" y="5200649"/>
            <a:chExt cx="10096500" cy="361950"/>
          </a:xfrm>
        </p:grpSpPr>
        <p:sp>
          <p:nvSpPr>
            <p:cNvPr id="50" name="object 50"/>
            <p:cNvSpPr/>
            <p:nvPr/>
          </p:nvSpPr>
          <p:spPr>
            <a:xfrm>
              <a:off x="1485887" y="5200662"/>
              <a:ext cx="10096500" cy="361950"/>
            </a:xfrm>
            <a:custGeom>
              <a:avLst/>
              <a:gdLst/>
              <a:ahLst/>
              <a:cxnLst/>
              <a:rect l="l" t="t" r="r" b="b"/>
              <a:pathLst>
                <a:path w="10096500" h="361950">
                  <a:moveTo>
                    <a:pt x="10096500" y="0"/>
                  </a:moveTo>
                  <a:lnTo>
                    <a:pt x="9144000" y="0"/>
                  </a:lnTo>
                  <a:lnTo>
                    <a:pt x="8096250" y="0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361950"/>
                  </a:lnTo>
                  <a:lnTo>
                    <a:pt x="7143750" y="361950"/>
                  </a:lnTo>
                  <a:lnTo>
                    <a:pt x="8096250" y="361950"/>
                  </a:lnTo>
                  <a:lnTo>
                    <a:pt x="9144000" y="361950"/>
                  </a:lnTo>
                  <a:lnTo>
                    <a:pt x="10096500" y="361950"/>
                  </a:lnTo>
                  <a:lnTo>
                    <a:pt x="10096500" y="0"/>
                  </a:lnTo>
                  <a:close/>
                </a:path>
              </a:pathLst>
            </a:custGeom>
            <a:solidFill>
              <a:srgbClr val="F9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762999" y="5295899"/>
              <a:ext cx="647700" cy="171450"/>
            </a:xfrm>
            <a:custGeom>
              <a:avLst/>
              <a:gdLst/>
              <a:ahLst/>
              <a:cxnLst/>
              <a:rect l="l" t="t" r="r" b="b"/>
              <a:pathLst>
                <a:path w="647700" h="171450">
                  <a:moveTo>
                    <a:pt x="567604" y="171449"/>
                  </a:moveTo>
                  <a:lnTo>
                    <a:pt x="80096" y="171449"/>
                  </a:lnTo>
                  <a:lnTo>
                    <a:pt x="74521" y="170900"/>
                  </a:lnTo>
                  <a:lnTo>
                    <a:pt x="33417" y="153874"/>
                  </a:lnTo>
                  <a:lnTo>
                    <a:pt x="8678" y="123730"/>
                  </a:lnTo>
                  <a:lnTo>
                    <a:pt x="0" y="91353"/>
                  </a:lnTo>
                  <a:lnTo>
                    <a:pt x="0" y="8572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567604" y="0"/>
                  </a:lnTo>
                  <a:lnTo>
                    <a:pt x="604920" y="11319"/>
                  </a:lnTo>
                  <a:lnTo>
                    <a:pt x="636379" y="42778"/>
                  </a:lnTo>
                  <a:lnTo>
                    <a:pt x="647700" y="80096"/>
                  </a:lnTo>
                  <a:lnTo>
                    <a:pt x="647700" y="91353"/>
                  </a:lnTo>
                  <a:lnTo>
                    <a:pt x="636379" y="128670"/>
                  </a:lnTo>
                  <a:lnTo>
                    <a:pt x="604920" y="160128"/>
                  </a:lnTo>
                  <a:lnTo>
                    <a:pt x="573178" y="170900"/>
                  </a:lnTo>
                  <a:lnTo>
                    <a:pt x="567604" y="171449"/>
                  </a:lnTo>
                  <a:close/>
                </a:path>
              </a:pathLst>
            </a:custGeom>
            <a:solidFill>
              <a:srgbClr val="FEF9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0763248" y="5295899"/>
              <a:ext cx="504825" cy="171450"/>
            </a:xfrm>
            <a:custGeom>
              <a:avLst/>
              <a:gdLst/>
              <a:ahLst/>
              <a:cxnLst/>
              <a:rect l="l" t="t" r="r" b="b"/>
              <a:pathLst>
                <a:path w="504825" h="171450">
                  <a:moveTo>
                    <a:pt x="424729" y="171449"/>
                  </a:moveTo>
                  <a:lnTo>
                    <a:pt x="80096" y="171449"/>
                  </a:lnTo>
                  <a:lnTo>
                    <a:pt x="74521" y="170900"/>
                  </a:lnTo>
                  <a:lnTo>
                    <a:pt x="33418" y="153874"/>
                  </a:lnTo>
                  <a:lnTo>
                    <a:pt x="8678" y="123730"/>
                  </a:lnTo>
                  <a:lnTo>
                    <a:pt x="0" y="91353"/>
                  </a:lnTo>
                  <a:lnTo>
                    <a:pt x="1" y="8572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9" y="11319"/>
                  </a:lnTo>
                  <a:lnTo>
                    <a:pt x="80096" y="0"/>
                  </a:lnTo>
                  <a:lnTo>
                    <a:pt x="424729" y="0"/>
                  </a:lnTo>
                  <a:lnTo>
                    <a:pt x="462046" y="11319"/>
                  </a:lnTo>
                  <a:lnTo>
                    <a:pt x="493504" y="42778"/>
                  </a:lnTo>
                  <a:lnTo>
                    <a:pt x="504826" y="80096"/>
                  </a:lnTo>
                  <a:lnTo>
                    <a:pt x="504826" y="91353"/>
                  </a:lnTo>
                  <a:lnTo>
                    <a:pt x="493504" y="128670"/>
                  </a:lnTo>
                  <a:lnTo>
                    <a:pt x="462044" y="160128"/>
                  </a:lnTo>
                  <a:lnTo>
                    <a:pt x="430303" y="170900"/>
                  </a:lnTo>
                  <a:lnTo>
                    <a:pt x="424729" y="171449"/>
                  </a:lnTo>
                  <a:close/>
                </a:path>
              </a:pathLst>
            </a:custGeom>
            <a:solidFill>
              <a:srgbClr val="FFF0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/>
          <p:nvPr/>
        </p:nvSpPr>
        <p:spPr>
          <a:xfrm>
            <a:off x="8762998" y="5657849"/>
            <a:ext cx="647700" cy="171450"/>
          </a:xfrm>
          <a:custGeom>
            <a:avLst/>
            <a:gdLst/>
            <a:ahLst/>
            <a:cxnLst/>
            <a:rect l="l" t="t" r="r" b="b"/>
            <a:pathLst>
              <a:path w="647700" h="171450">
                <a:moveTo>
                  <a:pt x="567604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7" y="153874"/>
                </a:lnTo>
                <a:lnTo>
                  <a:pt x="8678" y="123729"/>
                </a:lnTo>
                <a:lnTo>
                  <a:pt x="0" y="91353"/>
                </a:lnTo>
                <a:lnTo>
                  <a:pt x="0" y="85724"/>
                </a:lnTo>
                <a:lnTo>
                  <a:pt x="0" y="80096"/>
                </a:lnTo>
                <a:lnTo>
                  <a:pt x="11319" y="42777"/>
                </a:lnTo>
                <a:lnTo>
                  <a:pt x="42778" y="11319"/>
                </a:lnTo>
                <a:lnTo>
                  <a:pt x="80096" y="0"/>
                </a:lnTo>
                <a:lnTo>
                  <a:pt x="567604" y="0"/>
                </a:lnTo>
                <a:lnTo>
                  <a:pt x="604920" y="11319"/>
                </a:lnTo>
                <a:lnTo>
                  <a:pt x="636379" y="42777"/>
                </a:lnTo>
                <a:lnTo>
                  <a:pt x="647700" y="80096"/>
                </a:lnTo>
                <a:lnTo>
                  <a:pt x="647700" y="91353"/>
                </a:lnTo>
                <a:lnTo>
                  <a:pt x="636379" y="128670"/>
                </a:lnTo>
                <a:lnTo>
                  <a:pt x="604920" y="160129"/>
                </a:lnTo>
                <a:lnTo>
                  <a:pt x="573178" y="170900"/>
                </a:lnTo>
                <a:lnTo>
                  <a:pt x="567604" y="171449"/>
                </a:lnTo>
                <a:close/>
              </a:path>
            </a:pathLst>
          </a:custGeom>
          <a:solidFill>
            <a:srgbClr val="FEF9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0763247" y="5657849"/>
            <a:ext cx="504825" cy="171450"/>
          </a:xfrm>
          <a:custGeom>
            <a:avLst/>
            <a:gdLst/>
            <a:ahLst/>
            <a:cxnLst/>
            <a:rect l="l" t="t" r="r" b="b"/>
            <a:pathLst>
              <a:path w="504825" h="171450">
                <a:moveTo>
                  <a:pt x="424729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8" y="153874"/>
                </a:lnTo>
                <a:lnTo>
                  <a:pt x="8678" y="123729"/>
                </a:lnTo>
                <a:lnTo>
                  <a:pt x="0" y="91353"/>
                </a:lnTo>
                <a:lnTo>
                  <a:pt x="1" y="85724"/>
                </a:lnTo>
                <a:lnTo>
                  <a:pt x="0" y="80096"/>
                </a:lnTo>
                <a:lnTo>
                  <a:pt x="11319" y="42777"/>
                </a:lnTo>
                <a:lnTo>
                  <a:pt x="42779" y="11319"/>
                </a:lnTo>
                <a:lnTo>
                  <a:pt x="80096" y="0"/>
                </a:lnTo>
                <a:lnTo>
                  <a:pt x="424729" y="0"/>
                </a:lnTo>
                <a:lnTo>
                  <a:pt x="462046" y="11319"/>
                </a:lnTo>
                <a:lnTo>
                  <a:pt x="493504" y="42777"/>
                </a:lnTo>
                <a:lnTo>
                  <a:pt x="504826" y="80096"/>
                </a:lnTo>
                <a:lnTo>
                  <a:pt x="504826" y="91353"/>
                </a:lnTo>
                <a:lnTo>
                  <a:pt x="493504" y="128670"/>
                </a:lnTo>
                <a:lnTo>
                  <a:pt x="462044" y="160129"/>
                </a:lnTo>
                <a:lnTo>
                  <a:pt x="430303" y="170900"/>
                </a:lnTo>
                <a:lnTo>
                  <a:pt x="424729" y="171449"/>
                </a:lnTo>
                <a:close/>
              </a:path>
            </a:pathLst>
          </a:custGeom>
          <a:solidFill>
            <a:srgbClr val="FFF0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" name="object 55"/>
          <p:cNvGrpSpPr/>
          <p:nvPr/>
        </p:nvGrpSpPr>
        <p:grpSpPr>
          <a:xfrm>
            <a:off x="1485899" y="5924549"/>
            <a:ext cx="10096500" cy="361950"/>
            <a:chOff x="1485899" y="5924549"/>
            <a:chExt cx="10096500" cy="361950"/>
          </a:xfrm>
        </p:grpSpPr>
        <p:sp>
          <p:nvSpPr>
            <p:cNvPr id="56" name="object 56"/>
            <p:cNvSpPr/>
            <p:nvPr/>
          </p:nvSpPr>
          <p:spPr>
            <a:xfrm>
              <a:off x="1485887" y="5924562"/>
              <a:ext cx="10096500" cy="361950"/>
            </a:xfrm>
            <a:custGeom>
              <a:avLst/>
              <a:gdLst/>
              <a:ahLst/>
              <a:cxnLst/>
              <a:rect l="l" t="t" r="r" b="b"/>
              <a:pathLst>
                <a:path w="10096500" h="361950">
                  <a:moveTo>
                    <a:pt x="10096500" y="0"/>
                  </a:moveTo>
                  <a:lnTo>
                    <a:pt x="9144000" y="0"/>
                  </a:lnTo>
                  <a:lnTo>
                    <a:pt x="8096250" y="0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361937"/>
                  </a:lnTo>
                  <a:lnTo>
                    <a:pt x="7143750" y="361937"/>
                  </a:lnTo>
                  <a:lnTo>
                    <a:pt x="8096250" y="361937"/>
                  </a:lnTo>
                  <a:lnTo>
                    <a:pt x="9144000" y="361937"/>
                  </a:lnTo>
                  <a:lnTo>
                    <a:pt x="10096500" y="361937"/>
                  </a:lnTo>
                  <a:lnTo>
                    <a:pt x="10096500" y="0"/>
                  </a:lnTo>
                  <a:close/>
                </a:path>
              </a:pathLst>
            </a:custGeom>
            <a:solidFill>
              <a:srgbClr val="F9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8762999" y="6019799"/>
              <a:ext cx="447675" cy="171450"/>
            </a:xfrm>
            <a:custGeom>
              <a:avLst/>
              <a:gdLst/>
              <a:ahLst/>
              <a:cxnLst/>
              <a:rect l="l" t="t" r="r" b="b"/>
              <a:pathLst>
                <a:path w="447675" h="171450">
                  <a:moveTo>
                    <a:pt x="367579" y="171449"/>
                  </a:moveTo>
                  <a:lnTo>
                    <a:pt x="80096" y="171449"/>
                  </a:lnTo>
                  <a:lnTo>
                    <a:pt x="74521" y="170900"/>
                  </a:lnTo>
                  <a:lnTo>
                    <a:pt x="33417" y="153874"/>
                  </a:lnTo>
                  <a:lnTo>
                    <a:pt x="8678" y="123729"/>
                  </a:lnTo>
                  <a:lnTo>
                    <a:pt x="0" y="91353"/>
                  </a:lnTo>
                  <a:lnTo>
                    <a:pt x="0" y="85724"/>
                  </a:lnTo>
                  <a:lnTo>
                    <a:pt x="0" y="80095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367579" y="0"/>
                  </a:lnTo>
                  <a:lnTo>
                    <a:pt x="404895" y="11319"/>
                  </a:lnTo>
                  <a:lnTo>
                    <a:pt x="436354" y="42778"/>
                  </a:lnTo>
                  <a:lnTo>
                    <a:pt x="447674" y="80095"/>
                  </a:lnTo>
                  <a:lnTo>
                    <a:pt x="447674" y="91353"/>
                  </a:lnTo>
                  <a:lnTo>
                    <a:pt x="436354" y="128670"/>
                  </a:lnTo>
                  <a:lnTo>
                    <a:pt x="404895" y="160129"/>
                  </a:lnTo>
                  <a:lnTo>
                    <a:pt x="373153" y="170900"/>
                  </a:lnTo>
                  <a:lnTo>
                    <a:pt x="367579" y="171449"/>
                  </a:lnTo>
                  <a:close/>
                </a:path>
              </a:pathLst>
            </a:custGeom>
            <a:solidFill>
              <a:srgbClr val="E7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0763248" y="6019799"/>
              <a:ext cx="504825" cy="171450"/>
            </a:xfrm>
            <a:custGeom>
              <a:avLst/>
              <a:gdLst/>
              <a:ahLst/>
              <a:cxnLst/>
              <a:rect l="l" t="t" r="r" b="b"/>
              <a:pathLst>
                <a:path w="504825" h="171450">
                  <a:moveTo>
                    <a:pt x="424729" y="171449"/>
                  </a:moveTo>
                  <a:lnTo>
                    <a:pt x="80096" y="171449"/>
                  </a:lnTo>
                  <a:lnTo>
                    <a:pt x="74521" y="170900"/>
                  </a:lnTo>
                  <a:lnTo>
                    <a:pt x="33418" y="153874"/>
                  </a:lnTo>
                  <a:lnTo>
                    <a:pt x="8678" y="123729"/>
                  </a:lnTo>
                  <a:lnTo>
                    <a:pt x="0" y="91353"/>
                  </a:lnTo>
                  <a:lnTo>
                    <a:pt x="1" y="85724"/>
                  </a:lnTo>
                  <a:lnTo>
                    <a:pt x="0" y="80095"/>
                  </a:lnTo>
                  <a:lnTo>
                    <a:pt x="11319" y="42778"/>
                  </a:lnTo>
                  <a:lnTo>
                    <a:pt x="42779" y="11319"/>
                  </a:lnTo>
                  <a:lnTo>
                    <a:pt x="80096" y="0"/>
                  </a:lnTo>
                  <a:lnTo>
                    <a:pt x="424729" y="0"/>
                  </a:lnTo>
                  <a:lnTo>
                    <a:pt x="462046" y="11319"/>
                  </a:lnTo>
                  <a:lnTo>
                    <a:pt x="493504" y="42778"/>
                  </a:lnTo>
                  <a:lnTo>
                    <a:pt x="504826" y="80095"/>
                  </a:lnTo>
                  <a:lnTo>
                    <a:pt x="504826" y="91353"/>
                  </a:lnTo>
                  <a:lnTo>
                    <a:pt x="493504" y="128670"/>
                  </a:lnTo>
                  <a:lnTo>
                    <a:pt x="462044" y="160129"/>
                  </a:lnTo>
                  <a:lnTo>
                    <a:pt x="430303" y="170900"/>
                  </a:lnTo>
                  <a:lnTo>
                    <a:pt x="424729" y="171449"/>
                  </a:lnTo>
                  <a:close/>
                </a:path>
              </a:pathLst>
            </a:custGeom>
            <a:solidFill>
              <a:srgbClr val="FFF0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/>
          <p:nvPr/>
        </p:nvSpPr>
        <p:spPr>
          <a:xfrm>
            <a:off x="8762998" y="6381749"/>
            <a:ext cx="447675" cy="171450"/>
          </a:xfrm>
          <a:custGeom>
            <a:avLst/>
            <a:gdLst/>
            <a:ahLst/>
            <a:cxnLst/>
            <a:rect l="l" t="t" r="r" b="b"/>
            <a:pathLst>
              <a:path w="447675" h="171450">
                <a:moveTo>
                  <a:pt x="367579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7" y="153875"/>
                </a:lnTo>
                <a:lnTo>
                  <a:pt x="8678" y="123730"/>
                </a:lnTo>
                <a:lnTo>
                  <a:pt x="0" y="91353"/>
                </a:lnTo>
                <a:lnTo>
                  <a:pt x="0" y="85724"/>
                </a:lnTo>
                <a:lnTo>
                  <a:pt x="0" y="80095"/>
                </a:lnTo>
                <a:lnTo>
                  <a:pt x="11319" y="42778"/>
                </a:lnTo>
                <a:lnTo>
                  <a:pt x="42778" y="11319"/>
                </a:lnTo>
                <a:lnTo>
                  <a:pt x="80096" y="0"/>
                </a:lnTo>
                <a:lnTo>
                  <a:pt x="367579" y="0"/>
                </a:lnTo>
                <a:lnTo>
                  <a:pt x="404895" y="11319"/>
                </a:lnTo>
                <a:lnTo>
                  <a:pt x="436354" y="42778"/>
                </a:lnTo>
                <a:lnTo>
                  <a:pt x="447674" y="80095"/>
                </a:lnTo>
                <a:lnTo>
                  <a:pt x="447674" y="91353"/>
                </a:lnTo>
                <a:lnTo>
                  <a:pt x="436354" y="128670"/>
                </a:lnTo>
                <a:lnTo>
                  <a:pt x="404895" y="160129"/>
                </a:lnTo>
                <a:lnTo>
                  <a:pt x="373153" y="170900"/>
                </a:lnTo>
                <a:lnTo>
                  <a:pt x="367579" y="171449"/>
                </a:lnTo>
                <a:close/>
              </a:path>
            </a:pathLst>
          </a:custGeom>
          <a:solidFill>
            <a:srgbClr val="E7F5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0763247" y="6381749"/>
            <a:ext cx="504825" cy="171450"/>
          </a:xfrm>
          <a:custGeom>
            <a:avLst/>
            <a:gdLst/>
            <a:ahLst/>
            <a:cxnLst/>
            <a:rect l="l" t="t" r="r" b="b"/>
            <a:pathLst>
              <a:path w="504825" h="171450">
                <a:moveTo>
                  <a:pt x="424729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8" y="153875"/>
                </a:lnTo>
                <a:lnTo>
                  <a:pt x="8678" y="123730"/>
                </a:lnTo>
                <a:lnTo>
                  <a:pt x="0" y="91353"/>
                </a:lnTo>
                <a:lnTo>
                  <a:pt x="1" y="85724"/>
                </a:lnTo>
                <a:lnTo>
                  <a:pt x="0" y="80095"/>
                </a:lnTo>
                <a:lnTo>
                  <a:pt x="11319" y="42778"/>
                </a:lnTo>
                <a:lnTo>
                  <a:pt x="42779" y="11319"/>
                </a:lnTo>
                <a:lnTo>
                  <a:pt x="80096" y="0"/>
                </a:lnTo>
                <a:lnTo>
                  <a:pt x="424729" y="0"/>
                </a:lnTo>
                <a:lnTo>
                  <a:pt x="462046" y="11319"/>
                </a:lnTo>
                <a:lnTo>
                  <a:pt x="493504" y="42778"/>
                </a:lnTo>
                <a:lnTo>
                  <a:pt x="504826" y="80095"/>
                </a:lnTo>
                <a:lnTo>
                  <a:pt x="504826" y="91353"/>
                </a:lnTo>
                <a:lnTo>
                  <a:pt x="493504" y="128670"/>
                </a:lnTo>
                <a:lnTo>
                  <a:pt x="462044" y="160129"/>
                </a:lnTo>
                <a:lnTo>
                  <a:pt x="430303" y="170900"/>
                </a:lnTo>
                <a:lnTo>
                  <a:pt x="424729" y="171449"/>
                </a:lnTo>
                <a:close/>
              </a:path>
            </a:pathLst>
          </a:custGeom>
          <a:solidFill>
            <a:srgbClr val="FFF0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" name="object 61"/>
          <p:cNvGrpSpPr/>
          <p:nvPr/>
        </p:nvGrpSpPr>
        <p:grpSpPr>
          <a:xfrm>
            <a:off x="1485899" y="6648449"/>
            <a:ext cx="10096500" cy="209550"/>
            <a:chOff x="1485899" y="6648449"/>
            <a:chExt cx="10096500" cy="209550"/>
          </a:xfrm>
        </p:grpSpPr>
        <p:sp>
          <p:nvSpPr>
            <p:cNvPr id="62" name="object 62"/>
            <p:cNvSpPr/>
            <p:nvPr/>
          </p:nvSpPr>
          <p:spPr>
            <a:xfrm>
              <a:off x="1485887" y="6648449"/>
              <a:ext cx="10096500" cy="210185"/>
            </a:xfrm>
            <a:custGeom>
              <a:avLst/>
              <a:gdLst/>
              <a:ahLst/>
              <a:cxnLst/>
              <a:rect l="l" t="t" r="r" b="b"/>
              <a:pathLst>
                <a:path w="10096500" h="210184">
                  <a:moveTo>
                    <a:pt x="10096500" y="0"/>
                  </a:moveTo>
                  <a:lnTo>
                    <a:pt x="9144000" y="0"/>
                  </a:lnTo>
                  <a:lnTo>
                    <a:pt x="8096250" y="0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209562"/>
                  </a:lnTo>
                  <a:lnTo>
                    <a:pt x="7143750" y="209562"/>
                  </a:lnTo>
                  <a:lnTo>
                    <a:pt x="8096250" y="209562"/>
                  </a:lnTo>
                  <a:lnTo>
                    <a:pt x="9144000" y="209562"/>
                  </a:lnTo>
                  <a:lnTo>
                    <a:pt x="10096500" y="209562"/>
                  </a:lnTo>
                  <a:lnTo>
                    <a:pt x="10096500" y="0"/>
                  </a:lnTo>
                  <a:close/>
                </a:path>
              </a:pathLst>
            </a:custGeom>
            <a:solidFill>
              <a:srgbClr val="F9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8762998" y="6743699"/>
              <a:ext cx="447675" cy="114300"/>
            </a:xfrm>
            <a:custGeom>
              <a:avLst/>
              <a:gdLst/>
              <a:ahLst/>
              <a:cxnLst/>
              <a:rect l="l" t="t" r="r" b="b"/>
              <a:pathLst>
                <a:path w="447675" h="114300">
                  <a:moveTo>
                    <a:pt x="442900" y="114300"/>
                  </a:moveTo>
                  <a:lnTo>
                    <a:pt x="4772" y="114300"/>
                  </a:lnTo>
                  <a:lnTo>
                    <a:pt x="2744" y="107969"/>
                  </a:lnTo>
                  <a:lnTo>
                    <a:pt x="548" y="96927"/>
                  </a:lnTo>
                  <a:lnTo>
                    <a:pt x="0" y="91353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367579" y="0"/>
                  </a:lnTo>
                  <a:lnTo>
                    <a:pt x="404895" y="11319"/>
                  </a:lnTo>
                  <a:lnTo>
                    <a:pt x="436354" y="42778"/>
                  </a:lnTo>
                  <a:lnTo>
                    <a:pt x="447674" y="80096"/>
                  </a:lnTo>
                  <a:lnTo>
                    <a:pt x="447674" y="91353"/>
                  </a:lnTo>
                  <a:lnTo>
                    <a:pt x="447125" y="96927"/>
                  </a:lnTo>
                  <a:lnTo>
                    <a:pt x="444929" y="107969"/>
                  </a:lnTo>
                  <a:lnTo>
                    <a:pt x="442900" y="114300"/>
                  </a:lnTo>
                  <a:close/>
                </a:path>
              </a:pathLst>
            </a:custGeom>
            <a:solidFill>
              <a:srgbClr val="E7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0763247" y="6743699"/>
              <a:ext cx="504825" cy="114300"/>
            </a:xfrm>
            <a:custGeom>
              <a:avLst/>
              <a:gdLst/>
              <a:ahLst/>
              <a:cxnLst/>
              <a:rect l="l" t="t" r="r" b="b"/>
              <a:pathLst>
                <a:path w="504825" h="114300">
                  <a:moveTo>
                    <a:pt x="500050" y="114300"/>
                  </a:moveTo>
                  <a:lnTo>
                    <a:pt x="4773" y="114300"/>
                  </a:lnTo>
                  <a:lnTo>
                    <a:pt x="2745" y="107969"/>
                  </a:lnTo>
                  <a:lnTo>
                    <a:pt x="548" y="96927"/>
                  </a:lnTo>
                  <a:lnTo>
                    <a:pt x="0" y="91353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9" y="11319"/>
                  </a:lnTo>
                  <a:lnTo>
                    <a:pt x="80096" y="0"/>
                  </a:lnTo>
                  <a:lnTo>
                    <a:pt x="424729" y="0"/>
                  </a:lnTo>
                  <a:lnTo>
                    <a:pt x="462046" y="11319"/>
                  </a:lnTo>
                  <a:lnTo>
                    <a:pt x="493504" y="42778"/>
                  </a:lnTo>
                  <a:lnTo>
                    <a:pt x="504826" y="80096"/>
                  </a:lnTo>
                  <a:lnTo>
                    <a:pt x="504826" y="91353"/>
                  </a:lnTo>
                  <a:lnTo>
                    <a:pt x="504276" y="96927"/>
                  </a:lnTo>
                  <a:lnTo>
                    <a:pt x="502078" y="107969"/>
                  </a:lnTo>
                  <a:lnTo>
                    <a:pt x="500050" y="114300"/>
                  </a:lnTo>
                  <a:close/>
                </a:path>
              </a:pathLst>
            </a:custGeom>
            <a:solidFill>
              <a:srgbClr val="FFF0F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5" name="object 65"/>
          <p:cNvGraphicFramePr>
            <a:graphicFrameLocks noGrp="1"/>
          </p:cNvGraphicFramePr>
          <p:nvPr/>
        </p:nvGraphicFramePr>
        <p:xfrm>
          <a:off x="628649" y="1247774"/>
          <a:ext cx="11029950" cy="56076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2640"/>
                <a:gridCol w="5332095"/>
                <a:gridCol w="2747644"/>
                <a:gridCol w="972820"/>
                <a:gridCol w="1098550"/>
              </a:tblGrid>
              <a:tr h="332740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Gap</a:t>
                      </a:r>
                      <a:r>
                        <a:rPr dirty="0" sz="950" spc="6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solidFill>
                      <a:srgbClr val="1F2D59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solidFill>
                      <a:srgbClr val="1F2D5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0670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Priority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solidFill>
                      <a:srgbClr val="1F2D59"/>
                    </a:solidFill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Phase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solidFill>
                      <a:srgbClr val="1F2D59"/>
                    </a:solidFill>
                  </a:tcPr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solidFill>
                      <a:srgbClr val="1F2D59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050" spc="-10" b="1">
                          <a:solidFill>
                            <a:srgbClr val="1F2D59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1F2D59"/>
                          </a:solidFill>
                          <a:latin typeface="Arial"/>
                          <a:cs typeface="Arial"/>
                        </a:rPr>
                        <a:t>01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5250"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Biophilic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Design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Pillar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WELL</a:t>
                      </a:r>
                      <a:r>
                        <a:rPr dirty="0" sz="1050" spc="-6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v2/LEED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scorecard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5250"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893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07950"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5250"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527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800" spc="-10" b="1">
                          <a:solidFill>
                            <a:srgbClr val="26AE60"/>
                          </a:solidFill>
                          <a:latin typeface="Arial"/>
                          <a:cs typeface="Arial"/>
                        </a:rPr>
                        <a:t>CLOSED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07950"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 b="1">
                          <a:solidFill>
                            <a:srgbClr val="1F2D59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1F2D59"/>
                          </a:solidFill>
                          <a:latin typeface="Arial"/>
                          <a:cs typeface="Arial"/>
                        </a:rPr>
                        <a:t>02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Design</a:t>
                      </a:r>
                      <a:r>
                        <a:rPr dirty="0" sz="1050" spc="-2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Freeze</a:t>
                      </a:r>
                      <a:r>
                        <a:rPr dirty="0" sz="1050" spc="-1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Gate</a:t>
                      </a:r>
                      <a:r>
                        <a:rPr dirty="0" sz="1050" spc="-1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1050" spc="-1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4-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dirty="0" sz="1050" spc="-1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lock</a:t>
                      </a:r>
                      <a:r>
                        <a:rPr dirty="0" sz="1050" spc="-2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mechanism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6893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527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10" b="1">
                          <a:solidFill>
                            <a:srgbClr val="26AE60"/>
                          </a:solidFill>
                          <a:latin typeface="Arial"/>
                          <a:cs typeface="Arial"/>
                        </a:rPr>
                        <a:t>CLOSED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 b="1">
                          <a:solidFill>
                            <a:srgbClr val="1F2D59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1F2D59"/>
                          </a:solidFill>
                          <a:latin typeface="Arial"/>
                          <a:cs typeface="Arial"/>
                        </a:rPr>
                        <a:t>03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Sensory</a:t>
                      </a:r>
                      <a:r>
                        <a:rPr dirty="0" sz="1050" spc="2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Commissioning</a:t>
                      </a:r>
                      <a:r>
                        <a:rPr dirty="0" sz="1050" spc="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1050" spc="2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SC-</a:t>
                      </a:r>
                      <a:r>
                        <a:rPr dirty="0" sz="1050" spc="-2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TEST-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01–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05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893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527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10" b="1">
                          <a:solidFill>
                            <a:srgbClr val="26AE60"/>
                          </a:solidFill>
                          <a:latin typeface="Arial"/>
                          <a:cs typeface="Arial"/>
                        </a:rPr>
                        <a:t>CLOSED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 b="1">
                          <a:solidFill>
                            <a:srgbClr val="1F2D59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1F2D59"/>
                          </a:solidFill>
                          <a:latin typeface="Arial"/>
                          <a:cs typeface="Arial"/>
                        </a:rPr>
                        <a:t>04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Post-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Occupancy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Evaluation</a:t>
                      </a:r>
                      <a:r>
                        <a:rPr dirty="0" sz="1050" spc="-2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1050" spc="-2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POE-30/90/180/365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6893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527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10" b="1">
                          <a:solidFill>
                            <a:srgbClr val="26AE60"/>
                          </a:solidFill>
                          <a:latin typeface="Arial"/>
                          <a:cs typeface="Arial"/>
                        </a:rPr>
                        <a:t>CLOSED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 b="1">
                          <a:solidFill>
                            <a:srgbClr val="2E74B5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2E74B5"/>
                          </a:solidFill>
                          <a:latin typeface="Arial"/>
                          <a:cs typeface="Arial"/>
                        </a:rPr>
                        <a:t>05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Creative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Engine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Generative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Design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Workflow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893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OPEN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 b="1">
                          <a:solidFill>
                            <a:srgbClr val="2E74B5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2E74B5"/>
                          </a:solidFill>
                          <a:latin typeface="Arial"/>
                          <a:cs typeface="Arial"/>
                        </a:rPr>
                        <a:t>06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Cross-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Pillar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dirty="0" sz="1050" spc="-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Bus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-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Real-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1050" spc="-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Integration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6893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OPEN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 b="1">
                          <a:solidFill>
                            <a:srgbClr val="1F2D59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1F2D59"/>
                          </a:solidFill>
                          <a:latin typeface="Arial"/>
                          <a:cs typeface="Arial"/>
                        </a:rPr>
                        <a:t>07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SC</a:t>
                      </a:r>
                      <a:r>
                        <a:rPr dirty="0" sz="1050" spc="-3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Governance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Module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Supabase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registry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6893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527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10" b="1">
                          <a:solidFill>
                            <a:srgbClr val="26AE60"/>
                          </a:solidFill>
                          <a:latin typeface="Arial"/>
                          <a:cs typeface="Arial"/>
                        </a:rPr>
                        <a:t>CLOSED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 b="1">
                          <a:solidFill>
                            <a:srgbClr val="1F2D59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1F2D59"/>
                          </a:solidFill>
                          <a:latin typeface="Arial"/>
                          <a:cs typeface="Arial"/>
                        </a:rPr>
                        <a:t>08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Real-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1050" spc="-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KPI</a:t>
                      </a:r>
                      <a:r>
                        <a:rPr dirty="0" sz="1050" spc="-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Dashboard —</a:t>
                      </a:r>
                      <a:r>
                        <a:rPr dirty="0" sz="1050" spc="-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KPI-001–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024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6893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527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10" b="1">
                          <a:solidFill>
                            <a:srgbClr val="26AE60"/>
                          </a:solidFill>
                          <a:latin typeface="Arial"/>
                          <a:cs typeface="Arial"/>
                        </a:rPr>
                        <a:t>CLOSED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 b="1">
                          <a:solidFill>
                            <a:srgbClr val="2E74B5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2E74B5"/>
                          </a:solidFill>
                          <a:latin typeface="Arial"/>
                          <a:cs typeface="Arial"/>
                        </a:rPr>
                        <a:t>09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Material</a:t>
                      </a:r>
                      <a:r>
                        <a:rPr dirty="0" sz="1050" spc="-4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Intelligence</a:t>
                      </a:r>
                      <a:r>
                        <a:rPr dirty="0" sz="1050" spc="-4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-3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Procurement</a:t>
                      </a:r>
                      <a:r>
                        <a:rPr dirty="0" sz="1050" spc="-4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Integration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621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10" b="1">
                          <a:solidFill>
                            <a:srgbClr val="B6770D"/>
                          </a:solidFill>
                          <a:latin typeface="Arial"/>
                          <a:cs typeface="Arial"/>
                        </a:rPr>
                        <a:t>MEDIUM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OPEN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 b="1">
                          <a:solidFill>
                            <a:srgbClr val="2E74B5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2E74B5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Contractor</a:t>
                      </a:r>
                      <a:r>
                        <a:rPr dirty="0" sz="1050" spc="-3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-3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Vendor</a:t>
                      </a:r>
                      <a:r>
                        <a:rPr dirty="0" sz="1050" spc="-3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r>
                        <a:rPr dirty="0" sz="1050" spc="-3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Integration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621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10" b="1">
                          <a:solidFill>
                            <a:srgbClr val="B6770D"/>
                          </a:solidFill>
                          <a:latin typeface="Arial"/>
                          <a:cs typeface="Arial"/>
                        </a:rPr>
                        <a:t>MEDIUM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OPEN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 b="1">
                          <a:solidFill>
                            <a:srgbClr val="2E74B5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2E74B5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Spatial</a:t>
                      </a:r>
                      <a:r>
                        <a:rPr dirty="0" sz="1050" spc="-6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Analytics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-1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Occupancy</a:t>
                      </a:r>
                      <a:r>
                        <a:rPr dirty="0" sz="1050" spc="-1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Intelligence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621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10" b="1">
                          <a:solidFill>
                            <a:srgbClr val="B6770D"/>
                          </a:solidFill>
                          <a:latin typeface="Arial"/>
                          <a:cs typeface="Arial"/>
                        </a:rPr>
                        <a:t>MEDIUM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OPEN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 b="1">
                          <a:solidFill>
                            <a:srgbClr val="2E74B5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2E74B5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Multi-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language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-2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Localisation</a:t>
                      </a:r>
                      <a:r>
                        <a:rPr dirty="0" sz="1050" spc="-2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621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10" b="1">
                          <a:solidFill>
                            <a:srgbClr val="B6770D"/>
                          </a:solidFill>
                          <a:latin typeface="Arial"/>
                          <a:cs typeface="Arial"/>
                        </a:rPr>
                        <a:t>MEDIUM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OPEN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 b="1">
                          <a:solidFill>
                            <a:srgbClr val="7D3F8F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7D3F8F"/>
                          </a:solidFill>
                          <a:latin typeface="Arial"/>
                          <a:cs typeface="Arial"/>
                        </a:rPr>
                        <a:t>13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Advanced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Sensory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Commissioning 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v2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116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5" b="1">
                          <a:solidFill>
                            <a:srgbClr val="1D8349"/>
                          </a:solidFill>
                          <a:latin typeface="Arial"/>
                          <a:cs typeface="Arial"/>
                        </a:rPr>
                        <a:t>LOW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OPEN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 b="1">
                          <a:solidFill>
                            <a:srgbClr val="7D3F8F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7D3F8F"/>
                          </a:solidFill>
                          <a:latin typeface="Arial"/>
                          <a:cs typeface="Arial"/>
                        </a:rPr>
                        <a:t>14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Extended POE</a:t>
                      </a:r>
                      <a:r>
                        <a:rPr dirty="0" sz="1050" spc="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Longitudinal</a:t>
                      </a:r>
                      <a:r>
                        <a:rPr dirty="0" sz="1050" spc="-5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Analytics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9116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5" b="1">
                          <a:solidFill>
                            <a:srgbClr val="1D8349"/>
                          </a:solidFill>
                          <a:latin typeface="Arial"/>
                          <a:cs typeface="Arial"/>
                        </a:rPr>
                        <a:t>LOW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OPEN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33350">
                        <a:lnSpc>
                          <a:spcPts val="855"/>
                        </a:lnSpc>
                        <a:spcBef>
                          <a:spcPts val="785"/>
                        </a:spcBef>
                      </a:pPr>
                      <a:r>
                        <a:rPr dirty="0" sz="1050" spc="-10" b="1">
                          <a:solidFill>
                            <a:srgbClr val="7D3F8F"/>
                          </a:solidFill>
                          <a:latin typeface="Arial"/>
                          <a:cs typeface="Arial"/>
                        </a:rPr>
                        <a:t>GAP-</a:t>
                      </a:r>
                      <a:r>
                        <a:rPr dirty="0" sz="1050" spc="-25" b="1">
                          <a:solidFill>
                            <a:srgbClr val="7D3F8F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ts val="855"/>
                        </a:lnSpc>
                        <a:spcBef>
                          <a:spcPts val="785"/>
                        </a:spcBef>
                      </a:pP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PDPA</a:t>
                      </a:r>
                      <a:r>
                        <a:rPr dirty="0" sz="1050" spc="-6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DSAR</a:t>
                      </a:r>
                      <a:r>
                        <a:rPr dirty="0" sz="1050" spc="-4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Workflow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Regulatory</a:t>
                      </a:r>
                      <a:r>
                        <a:rPr dirty="0" sz="1050" spc="-25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Compliance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91160">
                        <a:lnSpc>
                          <a:spcPts val="755"/>
                        </a:lnSpc>
                        <a:spcBef>
                          <a:spcPts val="885"/>
                        </a:spcBef>
                      </a:pPr>
                      <a:r>
                        <a:rPr dirty="0" sz="800" spc="-25" b="1">
                          <a:solidFill>
                            <a:srgbClr val="1D8349"/>
                          </a:solidFill>
                          <a:latin typeface="Arial"/>
                          <a:cs typeface="Arial"/>
                        </a:rPr>
                        <a:t>LOW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855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1050" spc="-3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50">
                          <a:solidFill>
                            <a:srgbClr val="1A1A2E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T w="9525">
                      <a:solidFill>
                        <a:srgbClr val="EDEDED"/>
                      </a:solidFill>
                      <a:prstDash val="solid"/>
                    </a:lnT>
                    <a:solidFill>
                      <a:srgbClr val="F9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755"/>
                        </a:lnSpc>
                        <a:spcBef>
                          <a:spcPts val="885"/>
                        </a:spcBef>
                      </a:pPr>
                      <a:r>
                        <a:rPr dirty="0" sz="800" spc="-20" b="1">
                          <a:solidFill>
                            <a:srgbClr val="BF382A"/>
                          </a:solidFill>
                          <a:latin typeface="Arial"/>
                          <a:cs typeface="Arial"/>
                        </a:rPr>
                        <a:t>OPEN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DEDED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53898" y="0"/>
            <a:ext cx="50800" cy="6858000"/>
          </a:xfrm>
          <a:custGeom>
            <a:avLst/>
            <a:gdLst/>
            <a:ahLst/>
            <a:cxnLst/>
            <a:rect l="l" t="t" r="r" b="b"/>
            <a:pathLst>
              <a:path w="50800" h="6858000">
                <a:moveTo>
                  <a:pt x="50292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50292" y="0"/>
                </a:lnTo>
                <a:lnTo>
                  <a:pt x="50292" y="68579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53900" cy="6858000"/>
            <a:chOff x="0" y="0"/>
            <a:chExt cx="12153900" cy="6858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150" cy="6858000"/>
            </a:xfrm>
            <a:custGeom>
              <a:avLst/>
              <a:gdLst/>
              <a:ahLst/>
              <a:cxnLst/>
              <a:rect l="l" t="t" r="r" b="b"/>
              <a:pathLst>
                <a:path w="57150" h="6858000">
                  <a:moveTo>
                    <a:pt x="5714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6857999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149" y="0"/>
              <a:ext cx="12096750" cy="781050"/>
            </a:xfrm>
            <a:custGeom>
              <a:avLst/>
              <a:gdLst/>
              <a:ahLst/>
              <a:cxnLst/>
              <a:rect l="l" t="t" r="r" b="b"/>
              <a:pathLst>
                <a:path w="12096750" h="781050">
                  <a:moveTo>
                    <a:pt x="1209674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12096749" y="0"/>
                  </a:lnTo>
                  <a:lnTo>
                    <a:pt x="12096749" y="781049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15949" y="168275"/>
            <a:ext cx="385699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Phase 2 Business </a:t>
            </a:r>
            <a:r>
              <a:rPr dirty="0" spc="-20"/>
              <a:t>Case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18682" y="358775"/>
            <a:ext cx="43205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SC-2032-XX</a:t>
            </a:r>
            <a:r>
              <a:rPr dirty="0" sz="1200" spc="-2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·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Coverage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68%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to</a:t>
            </a:r>
            <a:r>
              <a:rPr dirty="0" sz="1200" spc="-2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80%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·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GAP-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05/06/09/10/11/12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8649" y="971549"/>
            <a:ext cx="7143750" cy="838200"/>
            <a:chOff x="628649" y="971549"/>
            <a:chExt cx="7143750" cy="838200"/>
          </a:xfrm>
        </p:grpSpPr>
        <p:sp>
          <p:nvSpPr>
            <p:cNvPr id="9" name="object 9"/>
            <p:cNvSpPr/>
            <p:nvPr/>
          </p:nvSpPr>
          <p:spPr>
            <a:xfrm>
              <a:off x="652462" y="971549"/>
              <a:ext cx="7120255" cy="838200"/>
            </a:xfrm>
            <a:custGeom>
              <a:avLst/>
              <a:gdLst/>
              <a:ahLst/>
              <a:cxnLst/>
              <a:rect l="l" t="t" r="r" b="b"/>
              <a:pathLst>
                <a:path w="7120255" h="838200">
                  <a:moveTo>
                    <a:pt x="7048740" y="838199"/>
                  </a:moveTo>
                  <a:lnTo>
                    <a:pt x="48947" y="838199"/>
                  </a:lnTo>
                  <a:lnTo>
                    <a:pt x="45540" y="837711"/>
                  </a:lnTo>
                  <a:lnTo>
                    <a:pt x="12911" y="812343"/>
                  </a:lnTo>
                  <a:lnTo>
                    <a:pt x="335" y="771958"/>
                  </a:lnTo>
                  <a:lnTo>
                    <a:pt x="0" y="767003"/>
                  </a:lnTo>
                  <a:lnTo>
                    <a:pt x="0" y="761999"/>
                  </a:lnTo>
                  <a:lnTo>
                    <a:pt x="0" y="71196"/>
                  </a:lnTo>
                  <a:lnTo>
                    <a:pt x="10739" y="29705"/>
                  </a:lnTo>
                  <a:lnTo>
                    <a:pt x="38793" y="2440"/>
                  </a:lnTo>
                  <a:lnTo>
                    <a:pt x="48947" y="0"/>
                  </a:lnTo>
                  <a:lnTo>
                    <a:pt x="7048740" y="0"/>
                  </a:lnTo>
                  <a:lnTo>
                    <a:pt x="7090230" y="15621"/>
                  </a:lnTo>
                  <a:lnTo>
                    <a:pt x="7116050" y="51661"/>
                  </a:lnTo>
                  <a:lnTo>
                    <a:pt x="7119937" y="71196"/>
                  </a:lnTo>
                  <a:lnTo>
                    <a:pt x="7119937" y="767003"/>
                  </a:lnTo>
                  <a:lnTo>
                    <a:pt x="7104314" y="808494"/>
                  </a:lnTo>
                  <a:lnTo>
                    <a:pt x="7068274" y="834314"/>
                  </a:lnTo>
                  <a:lnTo>
                    <a:pt x="7053695" y="837711"/>
                  </a:lnTo>
                  <a:lnTo>
                    <a:pt x="7048740" y="83819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8649" y="971751"/>
              <a:ext cx="72390" cy="838200"/>
            </a:xfrm>
            <a:custGeom>
              <a:avLst/>
              <a:gdLst/>
              <a:ahLst/>
              <a:cxnLst/>
              <a:rect l="l" t="t" r="r" b="b"/>
              <a:pathLst>
                <a:path w="72390" h="838200">
                  <a:moveTo>
                    <a:pt x="72031" y="837797"/>
                  </a:moveTo>
                  <a:lnTo>
                    <a:pt x="33857" y="825168"/>
                  </a:lnTo>
                  <a:lnTo>
                    <a:pt x="5800" y="790958"/>
                  </a:lnTo>
                  <a:lnTo>
                    <a:pt x="0" y="761798"/>
                  </a:lnTo>
                  <a:lnTo>
                    <a:pt x="0" y="75998"/>
                  </a:lnTo>
                  <a:lnTo>
                    <a:pt x="12830" y="33656"/>
                  </a:lnTo>
                  <a:lnTo>
                    <a:pt x="47039" y="5598"/>
                  </a:lnTo>
                  <a:lnTo>
                    <a:pt x="72031" y="0"/>
                  </a:lnTo>
                  <a:lnTo>
                    <a:pt x="68765" y="1732"/>
                  </a:lnTo>
                  <a:lnTo>
                    <a:pt x="61763" y="9465"/>
                  </a:lnTo>
                  <a:lnTo>
                    <a:pt x="49800" y="46838"/>
                  </a:lnTo>
                  <a:lnTo>
                    <a:pt x="47625" y="75998"/>
                  </a:lnTo>
                  <a:lnTo>
                    <a:pt x="47625" y="761798"/>
                  </a:lnTo>
                  <a:lnTo>
                    <a:pt x="52436" y="804140"/>
                  </a:lnTo>
                  <a:lnTo>
                    <a:pt x="68765" y="836064"/>
                  </a:lnTo>
                  <a:lnTo>
                    <a:pt x="72031" y="837797"/>
                  </a:lnTo>
                  <a:close/>
                </a:path>
              </a:pathLst>
            </a:custGeom>
            <a:solidFill>
              <a:srgbClr val="2E74B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35025" y="1054100"/>
            <a:ext cx="78295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1F2D59"/>
                </a:solidFill>
                <a:latin typeface="Arial"/>
                <a:cs typeface="Arial"/>
              </a:rPr>
              <a:t>GAP-</a:t>
            </a:r>
            <a:r>
              <a:rPr dirty="0" sz="1650" spc="-25" b="1">
                <a:solidFill>
                  <a:srgbClr val="1F2D59"/>
                </a:solidFill>
                <a:latin typeface="Arial"/>
                <a:cs typeface="Arial"/>
              </a:rPr>
              <a:t>05</a:t>
            </a:r>
            <a:endParaRPr sz="16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33549" y="1523999"/>
            <a:ext cx="1666875" cy="152400"/>
          </a:xfrm>
          <a:custGeom>
            <a:avLst/>
            <a:gdLst/>
            <a:ahLst/>
            <a:cxnLst/>
            <a:rect l="l" t="t" r="r" b="b"/>
            <a:pathLst>
              <a:path w="1666875" h="152400">
                <a:moveTo>
                  <a:pt x="1642089" y="152399"/>
                </a:moveTo>
                <a:lnTo>
                  <a:pt x="24785" y="152399"/>
                </a:lnTo>
                <a:lnTo>
                  <a:pt x="21140" y="151674"/>
                </a:lnTo>
                <a:lnTo>
                  <a:pt x="0" y="127614"/>
                </a:lnTo>
                <a:lnTo>
                  <a:pt x="0" y="123824"/>
                </a:lnTo>
                <a:lnTo>
                  <a:pt x="0" y="24785"/>
                </a:lnTo>
                <a:lnTo>
                  <a:pt x="24785" y="0"/>
                </a:lnTo>
                <a:lnTo>
                  <a:pt x="1642089" y="0"/>
                </a:lnTo>
                <a:lnTo>
                  <a:pt x="1666874" y="24785"/>
                </a:lnTo>
                <a:lnTo>
                  <a:pt x="1666874" y="127614"/>
                </a:lnTo>
                <a:lnTo>
                  <a:pt x="1645734" y="151674"/>
                </a:lnTo>
                <a:lnTo>
                  <a:pt x="1642089" y="1523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725463" y="1007354"/>
            <a:ext cx="3332479" cy="65532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AI Creative </a:t>
            </a:r>
            <a:r>
              <a:rPr dirty="0" sz="1200" spc="-10" b="1">
                <a:solidFill>
                  <a:srgbClr val="1F2D59"/>
                </a:solidFill>
                <a:latin typeface="Arial"/>
                <a:cs typeface="Arial"/>
              </a:rPr>
              <a:t>Engine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Generative</a:t>
            </a:r>
            <a:r>
              <a:rPr dirty="0" sz="950" spc="1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design</a:t>
            </a:r>
            <a:r>
              <a:rPr dirty="0" sz="950" spc="1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workflow,</a:t>
            </a:r>
            <a:r>
              <a:rPr dirty="0" sz="950" spc="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Aria+Nova,</a:t>
            </a:r>
            <a:r>
              <a:rPr dirty="0" sz="950" spc="1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src/creative-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engine/</a:t>
            </a:r>
            <a:endParaRPr sz="950">
              <a:latin typeface="Arial"/>
              <a:cs typeface="Arial"/>
            </a:endParaRPr>
          </a:p>
          <a:p>
            <a:pPr marL="88265">
              <a:lnSpc>
                <a:spcPct val="100000"/>
              </a:lnSpc>
              <a:spcBef>
                <a:spcPts val="585"/>
              </a:spcBef>
            </a:pP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HIGH</a:t>
            </a:r>
            <a:r>
              <a:rPr dirty="0" sz="800" spc="2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·</a:t>
            </a:r>
            <a:r>
              <a:rPr dirty="0" sz="800" spc="2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THB</a:t>
            </a:r>
            <a:r>
              <a:rPr dirty="0" sz="800" spc="2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1.5M</a:t>
            </a:r>
            <a:r>
              <a:rPr dirty="0" sz="800" spc="3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·</a:t>
            </a:r>
            <a:r>
              <a:rPr dirty="0" sz="800" spc="2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Q1–Q3</a:t>
            </a:r>
            <a:r>
              <a:rPr dirty="0" sz="800" spc="2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spc="-20" b="1">
                <a:solidFill>
                  <a:srgbClr val="C8A74B"/>
                </a:solidFill>
                <a:latin typeface="Arial"/>
                <a:cs typeface="Arial"/>
              </a:rPr>
              <a:t>2033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8649" y="1924050"/>
            <a:ext cx="7143750" cy="838200"/>
            <a:chOff x="628649" y="1924050"/>
            <a:chExt cx="7143750" cy="838200"/>
          </a:xfrm>
        </p:grpSpPr>
        <p:sp>
          <p:nvSpPr>
            <p:cNvPr id="15" name="object 15"/>
            <p:cNvSpPr/>
            <p:nvPr/>
          </p:nvSpPr>
          <p:spPr>
            <a:xfrm>
              <a:off x="652462" y="1924050"/>
              <a:ext cx="7120255" cy="838200"/>
            </a:xfrm>
            <a:custGeom>
              <a:avLst/>
              <a:gdLst/>
              <a:ahLst/>
              <a:cxnLst/>
              <a:rect l="l" t="t" r="r" b="b"/>
              <a:pathLst>
                <a:path w="7120255" h="838200">
                  <a:moveTo>
                    <a:pt x="7048740" y="838199"/>
                  </a:moveTo>
                  <a:lnTo>
                    <a:pt x="48947" y="838199"/>
                  </a:lnTo>
                  <a:lnTo>
                    <a:pt x="45540" y="837711"/>
                  </a:lnTo>
                  <a:lnTo>
                    <a:pt x="12911" y="812343"/>
                  </a:lnTo>
                  <a:lnTo>
                    <a:pt x="335" y="771957"/>
                  </a:lnTo>
                  <a:lnTo>
                    <a:pt x="0" y="767002"/>
                  </a:lnTo>
                  <a:lnTo>
                    <a:pt x="0" y="761999"/>
                  </a:lnTo>
                  <a:lnTo>
                    <a:pt x="0" y="71196"/>
                  </a:lnTo>
                  <a:lnTo>
                    <a:pt x="10739" y="29705"/>
                  </a:lnTo>
                  <a:lnTo>
                    <a:pt x="38793" y="2440"/>
                  </a:lnTo>
                  <a:lnTo>
                    <a:pt x="48947" y="0"/>
                  </a:lnTo>
                  <a:lnTo>
                    <a:pt x="7048740" y="0"/>
                  </a:lnTo>
                  <a:lnTo>
                    <a:pt x="7090230" y="15621"/>
                  </a:lnTo>
                  <a:lnTo>
                    <a:pt x="7116050" y="51661"/>
                  </a:lnTo>
                  <a:lnTo>
                    <a:pt x="7119937" y="71196"/>
                  </a:lnTo>
                  <a:lnTo>
                    <a:pt x="7119937" y="767002"/>
                  </a:lnTo>
                  <a:lnTo>
                    <a:pt x="7104314" y="808494"/>
                  </a:lnTo>
                  <a:lnTo>
                    <a:pt x="7068274" y="834313"/>
                  </a:lnTo>
                  <a:lnTo>
                    <a:pt x="7053695" y="837711"/>
                  </a:lnTo>
                  <a:lnTo>
                    <a:pt x="7048740" y="83819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28649" y="1924251"/>
              <a:ext cx="72390" cy="838200"/>
            </a:xfrm>
            <a:custGeom>
              <a:avLst/>
              <a:gdLst/>
              <a:ahLst/>
              <a:cxnLst/>
              <a:rect l="l" t="t" r="r" b="b"/>
              <a:pathLst>
                <a:path w="72390" h="838200">
                  <a:moveTo>
                    <a:pt x="72031" y="837797"/>
                  </a:moveTo>
                  <a:lnTo>
                    <a:pt x="33857" y="825168"/>
                  </a:lnTo>
                  <a:lnTo>
                    <a:pt x="5800" y="790958"/>
                  </a:lnTo>
                  <a:lnTo>
                    <a:pt x="0" y="761798"/>
                  </a:lnTo>
                  <a:lnTo>
                    <a:pt x="0" y="75998"/>
                  </a:lnTo>
                  <a:lnTo>
                    <a:pt x="12830" y="33655"/>
                  </a:lnTo>
                  <a:lnTo>
                    <a:pt x="47039" y="5598"/>
                  </a:lnTo>
                  <a:lnTo>
                    <a:pt x="72031" y="0"/>
                  </a:lnTo>
                  <a:lnTo>
                    <a:pt x="68765" y="1732"/>
                  </a:lnTo>
                  <a:lnTo>
                    <a:pt x="61763" y="9465"/>
                  </a:lnTo>
                  <a:lnTo>
                    <a:pt x="49800" y="46837"/>
                  </a:lnTo>
                  <a:lnTo>
                    <a:pt x="47625" y="75998"/>
                  </a:lnTo>
                  <a:lnTo>
                    <a:pt x="47625" y="761798"/>
                  </a:lnTo>
                  <a:lnTo>
                    <a:pt x="52436" y="804140"/>
                  </a:lnTo>
                  <a:lnTo>
                    <a:pt x="68765" y="836064"/>
                  </a:lnTo>
                  <a:lnTo>
                    <a:pt x="72031" y="837797"/>
                  </a:lnTo>
                  <a:close/>
                </a:path>
              </a:pathLst>
            </a:custGeom>
            <a:solidFill>
              <a:srgbClr val="2E74B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835025" y="2006600"/>
            <a:ext cx="78295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1F2D59"/>
                </a:solidFill>
                <a:latin typeface="Arial"/>
                <a:cs typeface="Arial"/>
              </a:rPr>
              <a:t>GAP-</a:t>
            </a:r>
            <a:r>
              <a:rPr dirty="0" sz="1650" spc="-25" b="1">
                <a:solidFill>
                  <a:srgbClr val="1F2D59"/>
                </a:solidFill>
                <a:latin typeface="Arial"/>
                <a:cs typeface="Arial"/>
              </a:rPr>
              <a:t>06</a:t>
            </a:r>
            <a:endParaRPr sz="16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3549" y="2476499"/>
            <a:ext cx="1666875" cy="152400"/>
          </a:xfrm>
          <a:custGeom>
            <a:avLst/>
            <a:gdLst/>
            <a:ahLst/>
            <a:cxnLst/>
            <a:rect l="l" t="t" r="r" b="b"/>
            <a:pathLst>
              <a:path w="1666875" h="152400">
                <a:moveTo>
                  <a:pt x="1642089" y="152399"/>
                </a:moveTo>
                <a:lnTo>
                  <a:pt x="24785" y="152399"/>
                </a:lnTo>
                <a:lnTo>
                  <a:pt x="21140" y="151674"/>
                </a:lnTo>
                <a:lnTo>
                  <a:pt x="0" y="127614"/>
                </a:lnTo>
                <a:lnTo>
                  <a:pt x="0" y="123824"/>
                </a:lnTo>
                <a:lnTo>
                  <a:pt x="0" y="24785"/>
                </a:lnTo>
                <a:lnTo>
                  <a:pt x="24785" y="0"/>
                </a:lnTo>
                <a:lnTo>
                  <a:pt x="1642089" y="0"/>
                </a:lnTo>
                <a:lnTo>
                  <a:pt x="1666874" y="24785"/>
                </a:lnTo>
                <a:lnTo>
                  <a:pt x="1666874" y="127614"/>
                </a:lnTo>
                <a:lnTo>
                  <a:pt x="1645734" y="151674"/>
                </a:lnTo>
                <a:lnTo>
                  <a:pt x="1642089" y="1523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725463" y="1959854"/>
            <a:ext cx="3312160" cy="65532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Cross-Pillar Event </a:t>
            </a:r>
            <a:r>
              <a:rPr dirty="0" sz="1200" spc="-25" b="1">
                <a:solidFill>
                  <a:srgbClr val="1F2D59"/>
                </a:solidFill>
                <a:latin typeface="Arial"/>
                <a:cs typeface="Arial"/>
              </a:rPr>
              <a:t>Bus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Real-time</a:t>
            </a:r>
            <a:r>
              <a:rPr dirty="0" sz="950" spc="14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integration,</a:t>
            </a:r>
            <a:r>
              <a:rPr dirty="0" sz="950" spc="1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Signal+Core,</a:t>
            </a:r>
            <a:r>
              <a:rPr dirty="0" sz="950" spc="1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src/event-bus/,</a:t>
            </a:r>
            <a:r>
              <a:rPr dirty="0" sz="950" spc="1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Pub/Sub</a:t>
            </a:r>
            <a:endParaRPr sz="950">
              <a:latin typeface="Arial"/>
              <a:cs typeface="Arial"/>
            </a:endParaRPr>
          </a:p>
          <a:p>
            <a:pPr marL="88265">
              <a:lnSpc>
                <a:spcPct val="100000"/>
              </a:lnSpc>
              <a:spcBef>
                <a:spcPts val="585"/>
              </a:spcBef>
            </a:pP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HIGH</a:t>
            </a:r>
            <a:r>
              <a:rPr dirty="0" sz="800" spc="2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·</a:t>
            </a:r>
            <a:r>
              <a:rPr dirty="0" sz="800" spc="2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THB</a:t>
            </a:r>
            <a:r>
              <a:rPr dirty="0" sz="800" spc="2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1.0M</a:t>
            </a:r>
            <a:r>
              <a:rPr dirty="0" sz="800" spc="3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·</a:t>
            </a:r>
            <a:r>
              <a:rPr dirty="0" sz="800" spc="2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Q1–Q2</a:t>
            </a:r>
            <a:r>
              <a:rPr dirty="0" sz="800" spc="2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spc="-20" b="1">
                <a:solidFill>
                  <a:srgbClr val="C8A74B"/>
                </a:solidFill>
                <a:latin typeface="Arial"/>
                <a:cs typeface="Arial"/>
              </a:rPr>
              <a:t>2033</a:t>
            </a:r>
            <a:endParaRPr sz="8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962899" y="971549"/>
            <a:ext cx="3619500" cy="2028825"/>
          </a:xfrm>
          <a:custGeom>
            <a:avLst/>
            <a:gdLst/>
            <a:ahLst/>
            <a:cxnLst/>
            <a:rect l="l" t="t" r="r" b="b"/>
            <a:pathLst>
              <a:path w="3619500" h="2028825">
                <a:moveTo>
                  <a:pt x="3548302" y="2028824"/>
                </a:moveTo>
                <a:lnTo>
                  <a:pt x="71196" y="2028824"/>
                </a:lnTo>
                <a:lnTo>
                  <a:pt x="66240" y="2028336"/>
                </a:lnTo>
                <a:lnTo>
                  <a:pt x="29703" y="2013202"/>
                </a:lnTo>
                <a:lnTo>
                  <a:pt x="3884" y="1977162"/>
                </a:lnTo>
                <a:lnTo>
                  <a:pt x="0" y="1957628"/>
                </a:lnTo>
                <a:lnTo>
                  <a:pt x="0" y="1952624"/>
                </a:lnTo>
                <a:lnTo>
                  <a:pt x="0" y="71196"/>
                </a:lnTo>
                <a:lnTo>
                  <a:pt x="15620" y="29705"/>
                </a:lnTo>
                <a:lnTo>
                  <a:pt x="51660" y="3885"/>
                </a:lnTo>
                <a:lnTo>
                  <a:pt x="71196" y="0"/>
                </a:lnTo>
                <a:lnTo>
                  <a:pt x="3548302" y="0"/>
                </a:lnTo>
                <a:lnTo>
                  <a:pt x="3589792" y="15621"/>
                </a:lnTo>
                <a:lnTo>
                  <a:pt x="3615611" y="51661"/>
                </a:lnTo>
                <a:lnTo>
                  <a:pt x="3619498" y="71196"/>
                </a:lnTo>
                <a:lnTo>
                  <a:pt x="3619498" y="1957628"/>
                </a:lnTo>
                <a:lnTo>
                  <a:pt x="3603876" y="1999118"/>
                </a:lnTo>
                <a:lnTo>
                  <a:pt x="3567836" y="2024938"/>
                </a:lnTo>
                <a:lnTo>
                  <a:pt x="3553257" y="2028336"/>
                </a:lnTo>
                <a:lnTo>
                  <a:pt x="3548302" y="2028824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8178800" y="1130300"/>
            <a:ext cx="136588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C8A74B"/>
                </a:solidFill>
                <a:latin typeface="Arial"/>
                <a:cs typeface="Arial"/>
              </a:rPr>
              <a:t>Coverage </a:t>
            </a:r>
            <a:r>
              <a:rPr dirty="0" sz="1350" spc="-10" b="1">
                <a:solidFill>
                  <a:srgbClr val="C8A74B"/>
                </a:solidFill>
                <a:latin typeface="Arial"/>
                <a:cs typeface="Arial"/>
              </a:rPr>
              <a:t>Target</a:t>
            </a:r>
            <a:endParaRPr sz="13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78800" y="1549400"/>
            <a:ext cx="10934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Phase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1</a:t>
            </a:r>
            <a:r>
              <a:rPr dirty="0" sz="1050" spc="-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EFEFE"/>
                </a:solidFill>
                <a:latin typeface="Arial"/>
                <a:cs typeface="Arial"/>
              </a:rPr>
              <a:t>Achieved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807252" y="1315466"/>
            <a:ext cx="559435" cy="81216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2100" spc="-25" b="1">
                <a:solidFill>
                  <a:srgbClr val="C8A74B"/>
                </a:solidFill>
                <a:latin typeface="Arial"/>
                <a:cs typeface="Arial"/>
              </a:rPr>
              <a:t>68%</a:t>
            </a:r>
            <a:endParaRPr sz="21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780"/>
              </a:spcBef>
            </a:pPr>
            <a:r>
              <a:rPr dirty="0" sz="1500" spc="-50">
                <a:solidFill>
                  <a:srgbClr val="C8A74B"/>
                </a:solidFill>
                <a:latin typeface="Arial"/>
                <a:cs typeface="Arial"/>
              </a:rPr>
              <a:t>↓</a:t>
            </a:r>
            <a:endParaRPr sz="1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78800" y="2301875"/>
            <a:ext cx="92011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Phase</a:t>
            </a:r>
            <a:r>
              <a:rPr dirty="0" sz="1050" spc="-2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2</a:t>
            </a:r>
            <a:r>
              <a:rPr dirty="0" sz="1050" spc="-4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EFEFE"/>
                </a:solidFill>
                <a:latin typeface="Arial"/>
                <a:cs typeface="Arial"/>
              </a:rPr>
              <a:t>Target</a:t>
            </a:r>
            <a:endParaRPr sz="1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807252" y="2206625"/>
            <a:ext cx="5594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5" b="1">
                <a:solidFill>
                  <a:srgbClr val="26AE60"/>
                </a:solidFill>
                <a:latin typeface="Arial"/>
                <a:cs typeface="Arial"/>
              </a:rPr>
              <a:t>80%</a:t>
            </a:r>
            <a:endParaRPr sz="21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178800" y="2644775"/>
            <a:ext cx="212217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FEFEFE"/>
                </a:solidFill>
                <a:latin typeface="Arial"/>
                <a:cs typeface="Arial"/>
              </a:rPr>
              <a:t>+12</a:t>
            </a:r>
            <a:r>
              <a:rPr dirty="0" sz="950" spc="5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FEFEFE"/>
                </a:solidFill>
                <a:latin typeface="Arial"/>
                <a:cs typeface="Arial"/>
              </a:rPr>
              <a:t>percentage</a:t>
            </a:r>
            <a:r>
              <a:rPr dirty="0" sz="950" spc="5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FEFEFE"/>
                </a:solidFill>
                <a:latin typeface="Arial"/>
                <a:cs typeface="Arial"/>
              </a:rPr>
              <a:t>points</a:t>
            </a:r>
            <a:r>
              <a:rPr dirty="0" sz="950" spc="5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950" spc="5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FEFEFE"/>
                </a:solidFill>
                <a:latin typeface="Arial"/>
                <a:cs typeface="Arial"/>
              </a:rPr>
              <a:t>6</a:t>
            </a:r>
            <a:r>
              <a:rPr dirty="0" sz="950" spc="5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FEFEFE"/>
                </a:solidFill>
                <a:latin typeface="Arial"/>
                <a:cs typeface="Arial"/>
              </a:rPr>
              <a:t>gaps</a:t>
            </a:r>
            <a:r>
              <a:rPr dirty="0" sz="950" spc="5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FEFEFE"/>
                </a:solidFill>
                <a:latin typeface="Arial"/>
                <a:cs typeface="Arial"/>
              </a:rPr>
              <a:t>closed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8649" y="2876549"/>
            <a:ext cx="7143750" cy="847725"/>
            <a:chOff x="628649" y="2876549"/>
            <a:chExt cx="7143750" cy="847725"/>
          </a:xfrm>
        </p:grpSpPr>
        <p:sp>
          <p:nvSpPr>
            <p:cNvPr id="21" name="object 21"/>
            <p:cNvSpPr/>
            <p:nvPr/>
          </p:nvSpPr>
          <p:spPr>
            <a:xfrm>
              <a:off x="652462" y="2876549"/>
              <a:ext cx="7120255" cy="847725"/>
            </a:xfrm>
            <a:custGeom>
              <a:avLst/>
              <a:gdLst/>
              <a:ahLst/>
              <a:cxnLst/>
              <a:rect l="l" t="t" r="r" b="b"/>
              <a:pathLst>
                <a:path w="7120255" h="847725">
                  <a:moveTo>
                    <a:pt x="7048740" y="847724"/>
                  </a:moveTo>
                  <a:lnTo>
                    <a:pt x="48947" y="847724"/>
                  </a:lnTo>
                  <a:lnTo>
                    <a:pt x="45540" y="847236"/>
                  </a:lnTo>
                  <a:lnTo>
                    <a:pt x="12911" y="821868"/>
                  </a:lnTo>
                  <a:lnTo>
                    <a:pt x="335" y="781483"/>
                  </a:lnTo>
                  <a:lnTo>
                    <a:pt x="0" y="776528"/>
                  </a:lnTo>
                  <a:lnTo>
                    <a:pt x="0" y="771524"/>
                  </a:lnTo>
                  <a:lnTo>
                    <a:pt x="0" y="71196"/>
                  </a:lnTo>
                  <a:lnTo>
                    <a:pt x="10739" y="29705"/>
                  </a:lnTo>
                  <a:lnTo>
                    <a:pt x="38793" y="2440"/>
                  </a:lnTo>
                  <a:lnTo>
                    <a:pt x="48947" y="0"/>
                  </a:lnTo>
                  <a:lnTo>
                    <a:pt x="7048740" y="0"/>
                  </a:lnTo>
                  <a:lnTo>
                    <a:pt x="7090230" y="15621"/>
                  </a:lnTo>
                  <a:lnTo>
                    <a:pt x="7116050" y="51661"/>
                  </a:lnTo>
                  <a:lnTo>
                    <a:pt x="7119937" y="71196"/>
                  </a:lnTo>
                  <a:lnTo>
                    <a:pt x="7119937" y="776528"/>
                  </a:lnTo>
                  <a:lnTo>
                    <a:pt x="7104314" y="818019"/>
                  </a:lnTo>
                  <a:lnTo>
                    <a:pt x="7068274" y="843838"/>
                  </a:lnTo>
                  <a:lnTo>
                    <a:pt x="7053695" y="847236"/>
                  </a:lnTo>
                  <a:lnTo>
                    <a:pt x="7048740" y="847724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8649" y="2876751"/>
              <a:ext cx="72390" cy="847725"/>
            </a:xfrm>
            <a:custGeom>
              <a:avLst/>
              <a:gdLst/>
              <a:ahLst/>
              <a:cxnLst/>
              <a:rect l="l" t="t" r="r" b="b"/>
              <a:pathLst>
                <a:path w="72390" h="847725">
                  <a:moveTo>
                    <a:pt x="72031" y="847322"/>
                  </a:moveTo>
                  <a:lnTo>
                    <a:pt x="33857" y="834693"/>
                  </a:lnTo>
                  <a:lnTo>
                    <a:pt x="5800" y="800483"/>
                  </a:lnTo>
                  <a:lnTo>
                    <a:pt x="0" y="771323"/>
                  </a:lnTo>
                  <a:lnTo>
                    <a:pt x="0" y="75998"/>
                  </a:lnTo>
                  <a:lnTo>
                    <a:pt x="12830" y="33655"/>
                  </a:lnTo>
                  <a:lnTo>
                    <a:pt x="47039" y="5598"/>
                  </a:lnTo>
                  <a:lnTo>
                    <a:pt x="72031" y="0"/>
                  </a:lnTo>
                  <a:lnTo>
                    <a:pt x="68765" y="1732"/>
                  </a:lnTo>
                  <a:lnTo>
                    <a:pt x="61763" y="9465"/>
                  </a:lnTo>
                  <a:lnTo>
                    <a:pt x="49800" y="46837"/>
                  </a:lnTo>
                  <a:lnTo>
                    <a:pt x="47625" y="75998"/>
                  </a:lnTo>
                  <a:lnTo>
                    <a:pt x="47625" y="771323"/>
                  </a:lnTo>
                  <a:lnTo>
                    <a:pt x="52436" y="813665"/>
                  </a:lnTo>
                  <a:lnTo>
                    <a:pt x="68765" y="845589"/>
                  </a:lnTo>
                  <a:lnTo>
                    <a:pt x="72031" y="847322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35025" y="2959100"/>
            <a:ext cx="78295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C8A74B"/>
                </a:solidFill>
                <a:latin typeface="Arial"/>
                <a:cs typeface="Arial"/>
              </a:rPr>
              <a:t>GAP-</a:t>
            </a:r>
            <a:r>
              <a:rPr dirty="0" sz="1650" spc="-25" b="1">
                <a:solidFill>
                  <a:srgbClr val="C8A74B"/>
                </a:solidFill>
                <a:latin typeface="Arial"/>
                <a:cs typeface="Arial"/>
              </a:rPr>
              <a:t>09</a:t>
            </a:r>
            <a:endParaRPr sz="16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733549" y="3438524"/>
            <a:ext cx="1838325" cy="152400"/>
          </a:xfrm>
          <a:custGeom>
            <a:avLst/>
            <a:gdLst/>
            <a:ahLst/>
            <a:cxnLst/>
            <a:rect l="l" t="t" r="r" b="b"/>
            <a:pathLst>
              <a:path w="1838325" h="152400">
                <a:moveTo>
                  <a:pt x="1813539" y="152399"/>
                </a:moveTo>
                <a:lnTo>
                  <a:pt x="24785" y="152399"/>
                </a:lnTo>
                <a:lnTo>
                  <a:pt x="21140" y="151674"/>
                </a:lnTo>
                <a:lnTo>
                  <a:pt x="0" y="127614"/>
                </a:lnTo>
                <a:lnTo>
                  <a:pt x="0" y="123824"/>
                </a:lnTo>
                <a:lnTo>
                  <a:pt x="0" y="24785"/>
                </a:lnTo>
                <a:lnTo>
                  <a:pt x="24785" y="0"/>
                </a:lnTo>
                <a:lnTo>
                  <a:pt x="1813539" y="0"/>
                </a:lnTo>
                <a:lnTo>
                  <a:pt x="1838324" y="24785"/>
                </a:lnTo>
                <a:lnTo>
                  <a:pt x="1838324" y="127614"/>
                </a:lnTo>
                <a:lnTo>
                  <a:pt x="1817184" y="151674"/>
                </a:lnTo>
                <a:lnTo>
                  <a:pt x="1813539" y="1523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725463" y="2912354"/>
            <a:ext cx="3736340" cy="66484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Material </a:t>
            </a:r>
            <a:r>
              <a:rPr dirty="0" sz="1200" spc="-10" b="1">
                <a:solidFill>
                  <a:srgbClr val="1F2D59"/>
                </a:solidFill>
                <a:latin typeface="Arial"/>
                <a:cs typeface="Arial"/>
              </a:rPr>
              <a:t>Intelligence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Procurement</a:t>
            </a:r>
            <a:r>
              <a:rPr dirty="0" sz="950" spc="1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integration,</a:t>
            </a:r>
            <a:r>
              <a:rPr dirty="0" sz="950" spc="1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Forge+Remy,</a:t>
            </a:r>
            <a:r>
              <a:rPr dirty="0" sz="950" spc="114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supplier</a:t>
            </a:r>
            <a:r>
              <a:rPr dirty="0" sz="950" spc="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API,</a:t>
            </a:r>
            <a:r>
              <a:rPr dirty="0" sz="950" spc="1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carbon</a:t>
            </a:r>
            <a:r>
              <a:rPr dirty="0" sz="950" spc="114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scoring</a:t>
            </a:r>
            <a:endParaRPr sz="950">
              <a:latin typeface="Arial"/>
              <a:cs typeface="Arial"/>
            </a:endParaRPr>
          </a:p>
          <a:p>
            <a:pPr marL="88265">
              <a:lnSpc>
                <a:spcPct val="100000"/>
              </a:lnSpc>
              <a:spcBef>
                <a:spcPts val="660"/>
              </a:spcBef>
            </a:pP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MEDIUM</a:t>
            </a:r>
            <a:r>
              <a:rPr dirty="0" sz="800" spc="3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·</a:t>
            </a:r>
            <a:r>
              <a:rPr dirty="0" sz="800" spc="3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THB</a:t>
            </a:r>
            <a:r>
              <a:rPr dirty="0" sz="800" spc="3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0.8M</a:t>
            </a:r>
            <a:r>
              <a:rPr dirty="0" sz="800" spc="3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·</a:t>
            </a:r>
            <a:r>
              <a:rPr dirty="0" sz="800" spc="3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Q2–Q3</a:t>
            </a:r>
            <a:r>
              <a:rPr dirty="0" sz="800" spc="3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spc="-20" b="1">
                <a:solidFill>
                  <a:srgbClr val="C8A74B"/>
                </a:solidFill>
                <a:latin typeface="Arial"/>
                <a:cs typeface="Arial"/>
              </a:rPr>
              <a:t>2033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28649" y="3838574"/>
            <a:ext cx="7143750" cy="838200"/>
            <a:chOff x="628649" y="3838574"/>
            <a:chExt cx="7143750" cy="838200"/>
          </a:xfrm>
        </p:grpSpPr>
        <p:sp>
          <p:nvSpPr>
            <p:cNvPr id="27" name="object 27"/>
            <p:cNvSpPr/>
            <p:nvPr/>
          </p:nvSpPr>
          <p:spPr>
            <a:xfrm>
              <a:off x="652462" y="3838574"/>
              <a:ext cx="7120255" cy="838200"/>
            </a:xfrm>
            <a:custGeom>
              <a:avLst/>
              <a:gdLst/>
              <a:ahLst/>
              <a:cxnLst/>
              <a:rect l="l" t="t" r="r" b="b"/>
              <a:pathLst>
                <a:path w="7120255" h="838200">
                  <a:moveTo>
                    <a:pt x="7048740" y="838199"/>
                  </a:moveTo>
                  <a:lnTo>
                    <a:pt x="48947" y="838199"/>
                  </a:lnTo>
                  <a:lnTo>
                    <a:pt x="45540" y="837711"/>
                  </a:lnTo>
                  <a:lnTo>
                    <a:pt x="12911" y="812343"/>
                  </a:lnTo>
                  <a:lnTo>
                    <a:pt x="335" y="771958"/>
                  </a:lnTo>
                  <a:lnTo>
                    <a:pt x="0" y="767003"/>
                  </a:lnTo>
                  <a:lnTo>
                    <a:pt x="0" y="7619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7048740" y="0"/>
                  </a:lnTo>
                  <a:lnTo>
                    <a:pt x="7090230" y="15621"/>
                  </a:lnTo>
                  <a:lnTo>
                    <a:pt x="7116050" y="51661"/>
                  </a:lnTo>
                  <a:lnTo>
                    <a:pt x="7119937" y="71196"/>
                  </a:lnTo>
                  <a:lnTo>
                    <a:pt x="7119937" y="767003"/>
                  </a:lnTo>
                  <a:lnTo>
                    <a:pt x="7104314" y="808494"/>
                  </a:lnTo>
                  <a:lnTo>
                    <a:pt x="7068274" y="834313"/>
                  </a:lnTo>
                  <a:lnTo>
                    <a:pt x="7053695" y="837711"/>
                  </a:lnTo>
                  <a:lnTo>
                    <a:pt x="7048740" y="83819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28649" y="3838775"/>
              <a:ext cx="72390" cy="838200"/>
            </a:xfrm>
            <a:custGeom>
              <a:avLst/>
              <a:gdLst/>
              <a:ahLst/>
              <a:cxnLst/>
              <a:rect l="l" t="t" r="r" b="b"/>
              <a:pathLst>
                <a:path w="72390" h="838200">
                  <a:moveTo>
                    <a:pt x="72031" y="837797"/>
                  </a:moveTo>
                  <a:lnTo>
                    <a:pt x="33857" y="825167"/>
                  </a:lnTo>
                  <a:lnTo>
                    <a:pt x="5800" y="790958"/>
                  </a:lnTo>
                  <a:lnTo>
                    <a:pt x="0" y="761798"/>
                  </a:lnTo>
                  <a:lnTo>
                    <a:pt x="0" y="75998"/>
                  </a:lnTo>
                  <a:lnTo>
                    <a:pt x="12830" y="33655"/>
                  </a:lnTo>
                  <a:lnTo>
                    <a:pt x="47039" y="5598"/>
                  </a:lnTo>
                  <a:lnTo>
                    <a:pt x="72031" y="0"/>
                  </a:lnTo>
                  <a:lnTo>
                    <a:pt x="68765" y="1731"/>
                  </a:lnTo>
                  <a:lnTo>
                    <a:pt x="61763" y="9465"/>
                  </a:lnTo>
                  <a:lnTo>
                    <a:pt x="49800" y="46838"/>
                  </a:lnTo>
                  <a:lnTo>
                    <a:pt x="47625" y="75998"/>
                  </a:lnTo>
                  <a:lnTo>
                    <a:pt x="47625" y="761798"/>
                  </a:lnTo>
                  <a:lnTo>
                    <a:pt x="52436" y="804140"/>
                  </a:lnTo>
                  <a:lnTo>
                    <a:pt x="68765" y="836064"/>
                  </a:lnTo>
                  <a:lnTo>
                    <a:pt x="72031" y="837797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35025" y="3921125"/>
            <a:ext cx="78295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C8A74B"/>
                </a:solidFill>
                <a:latin typeface="Arial"/>
                <a:cs typeface="Arial"/>
              </a:rPr>
              <a:t>GAP-</a:t>
            </a:r>
            <a:r>
              <a:rPr dirty="0" sz="1650" spc="-25" b="1">
                <a:solidFill>
                  <a:srgbClr val="C8A74B"/>
                </a:solidFill>
                <a:latin typeface="Arial"/>
                <a:cs typeface="Arial"/>
              </a:rPr>
              <a:t>10</a:t>
            </a:r>
            <a:endParaRPr sz="165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733549" y="4391024"/>
            <a:ext cx="1838325" cy="152400"/>
          </a:xfrm>
          <a:custGeom>
            <a:avLst/>
            <a:gdLst/>
            <a:ahLst/>
            <a:cxnLst/>
            <a:rect l="l" t="t" r="r" b="b"/>
            <a:pathLst>
              <a:path w="1838325" h="152400">
                <a:moveTo>
                  <a:pt x="1813539" y="152399"/>
                </a:moveTo>
                <a:lnTo>
                  <a:pt x="24785" y="152399"/>
                </a:lnTo>
                <a:lnTo>
                  <a:pt x="21140" y="151674"/>
                </a:lnTo>
                <a:lnTo>
                  <a:pt x="0" y="127614"/>
                </a:lnTo>
                <a:lnTo>
                  <a:pt x="0" y="123824"/>
                </a:lnTo>
                <a:lnTo>
                  <a:pt x="0" y="24785"/>
                </a:lnTo>
                <a:lnTo>
                  <a:pt x="24785" y="0"/>
                </a:lnTo>
                <a:lnTo>
                  <a:pt x="1813539" y="0"/>
                </a:lnTo>
                <a:lnTo>
                  <a:pt x="1838324" y="24785"/>
                </a:lnTo>
                <a:lnTo>
                  <a:pt x="1838324" y="127614"/>
                </a:lnTo>
                <a:lnTo>
                  <a:pt x="1817184" y="151674"/>
                </a:lnTo>
                <a:lnTo>
                  <a:pt x="1813539" y="1523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725463" y="3874379"/>
            <a:ext cx="3711575" cy="65532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Contractor</a:t>
            </a:r>
            <a:r>
              <a:rPr dirty="0" sz="1200" spc="-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/</a:t>
            </a:r>
            <a:r>
              <a:rPr dirty="0" sz="1200" spc="-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F2D59"/>
                </a:solidFill>
                <a:latin typeface="Arial"/>
                <a:cs typeface="Arial"/>
              </a:rPr>
              <a:t>Vendor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Contract</a:t>
            </a:r>
            <a:r>
              <a:rPr dirty="0" sz="950" spc="1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lifecycle</a:t>
            </a:r>
            <a:r>
              <a:rPr dirty="0" sz="950" spc="19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management,</a:t>
            </a:r>
            <a:r>
              <a:rPr dirty="0" sz="950" spc="1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Ledger+Compass,</a:t>
            </a:r>
            <a:r>
              <a:rPr dirty="0" sz="950" spc="19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CNTR-001–</a:t>
            </a:r>
            <a:r>
              <a:rPr dirty="0" sz="950" spc="-25">
                <a:solidFill>
                  <a:srgbClr val="666666"/>
                </a:solidFill>
                <a:latin typeface="Arial"/>
                <a:cs typeface="Arial"/>
              </a:rPr>
              <a:t>050</a:t>
            </a:r>
            <a:endParaRPr sz="950">
              <a:latin typeface="Arial"/>
              <a:cs typeface="Arial"/>
            </a:endParaRPr>
          </a:p>
          <a:p>
            <a:pPr marL="88265">
              <a:lnSpc>
                <a:spcPct val="100000"/>
              </a:lnSpc>
              <a:spcBef>
                <a:spcPts val="585"/>
              </a:spcBef>
            </a:pP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MEDIUM</a:t>
            </a:r>
            <a:r>
              <a:rPr dirty="0" sz="800" spc="3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·</a:t>
            </a:r>
            <a:r>
              <a:rPr dirty="0" sz="800" spc="3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THB</a:t>
            </a:r>
            <a:r>
              <a:rPr dirty="0" sz="800" spc="3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0.7M</a:t>
            </a:r>
            <a:r>
              <a:rPr dirty="0" sz="800" spc="3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·</a:t>
            </a:r>
            <a:r>
              <a:rPr dirty="0" sz="800" spc="3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Q2–Q4</a:t>
            </a:r>
            <a:r>
              <a:rPr dirty="0" sz="800" spc="3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spc="-20" b="1">
                <a:solidFill>
                  <a:srgbClr val="C8A74B"/>
                </a:solidFill>
                <a:latin typeface="Arial"/>
                <a:cs typeface="Arial"/>
              </a:rPr>
              <a:t>2033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28649" y="4791074"/>
            <a:ext cx="7143750" cy="838200"/>
            <a:chOff x="628649" y="4791074"/>
            <a:chExt cx="7143750" cy="838200"/>
          </a:xfrm>
        </p:grpSpPr>
        <p:sp>
          <p:nvSpPr>
            <p:cNvPr id="33" name="object 33"/>
            <p:cNvSpPr/>
            <p:nvPr/>
          </p:nvSpPr>
          <p:spPr>
            <a:xfrm>
              <a:off x="652462" y="4791074"/>
              <a:ext cx="7120255" cy="838200"/>
            </a:xfrm>
            <a:custGeom>
              <a:avLst/>
              <a:gdLst/>
              <a:ahLst/>
              <a:cxnLst/>
              <a:rect l="l" t="t" r="r" b="b"/>
              <a:pathLst>
                <a:path w="7120255" h="838200">
                  <a:moveTo>
                    <a:pt x="7048740" y="838199"/>
                  </a:moveTo>
                  <a:lnTo>
                    <a:pt x="48947" y="838199"/>
                  </a:lnTo>
                  <a:lnTo>
                    <a:pt x="45540" y="837711"/>
                  </a:lnTo>
                  <a:lnTo>
                    <a:pt x="12911" y="812343"/>
                  </a:lnTo>
                  <a:lnTo>
                    <a:pt x="335" y="771958"/>
                  </a:lnTo>
                  <a:lnTo>
                    <a:pt x="0" y="767003"/>
                  </a:lnTo>
                  <a:lnTo>
                    <a:pt x="0" y="7619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40"/>
                  </a:lnTo>
                  <a:lnTo>
                    <a:pt x="48947" y="0"/>
                  </a:lnTo>
                  <a:lnTo>
                    <a:pt x="7048740" y="0"/>
                  </a:lnTo>
                  <a:lnTo>
                    <a:pt x="7090230" y="15621"/>
                  </a:lnTo>
                  <a:lnTo>
                    <a:pt x="7116050" y="51661"/>
                  </a:lnTo>
                  <a:lnTo>
                    <a:pt x="7119937" y="71196"/>
                  </a:lnTo>
                  <a:lnTo>
                    <a:pt x="7119937" y="767003"/>
                  </a:lnTo>
                  <a:lnTo>
                    <a:pt x="7104314" y="808494"/>
                  </a:lnTo>
                  <a:lnTo>
                    <a:pt x="7068274" y="834313"/>
                  </a:lnTo>
                  <a:lnTo>
                    <a:pt x="7053695" y="837711"/>
                  </a:lnTo>
                  <a:lnTo>
                    <a:pt x="7048740" y="83819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28649" y="4791275"/>
              <a:ext cx="72390" cy="838200"/>
            </a:xfrm>
            <a:custGeom>
              <a:avLst/>
              <a:gdLst/>
              <a:ahLst/>
              <a:cxnLst/>
              <a:rect l="l" t="t" r="r" b="b"/>
              <a:pathLst>
                <a:path w="72390" h="838200">
                  <a:moveTo>
                    <a:pt x="72031" y="837797"/>
                  </a:moveTo>
                  <a:lnTo>
                    <a:pt x="33857" y="825167"/>
                  </a:lnTo>
                  <a:lnTo>
                    <a:pt x="5800" y="790958"/>
                  </a:lnTo>
                  <a:lnTo>
                    <a:pt x="0" y="761798"/>
                  </a:lnTo>
                  <a:lnTo>
                    <a:pt x="0" y="75998"/>
                  </a:lnTo>
                  <a:lnTo>
                    <a:pt x="12830" y="33655"/>
                  </a:lnTo>
                  <a:lnTo>
                    <a:pt x="47039" y="5598"/>
                  </a:lnTo>
                  <a:lnTo>
                    <a:pt x="72031" y="0"/>
                  </a:lnTo>
                  <a:lnTo>
                    <a:pt x="68765" y="1731"/>
                  </a:lnTo>
                  <a:lnTo>
                    <a:pt x="61763" y="9465"/>
                  </a:lnTo>
                  <a:lnTo>
                    <a:pt x="49800" y="46837"/>
                  </a:lnTo>
                  <a:lnTo>
                    <a:pt x="47625" y="75998"/>
                  </a:lnTo>
                  <a:lnTo>
                    <a:pt x="47625" y="761798"/>
                  </a:lnTo>
                  <a:lnTo>
                    <a:pt x="52436" y="804140"/>
                  </a:lnTo>
                  <a:lnTo>
                    <a:pt x="68765" y="836064"/>
                  </a:lnTo>
                  <a:lnTo>
                    <a:pt x="72031" y="837797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835025" y="4873625"/>
            <a:ext cx="107378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C8A74B"/>
                </a:solidFill>
                <a:latin typeface="Arial"/>
                <a:cs typeface="Arial"/>
              </a:rPr>
              <a:t>GAP-</a:t>
            </a:r>
            <a:r>
              <a:rPr dirty="0" sz="1650" spc="-10" b="1">
                <a:solidFill>
                  <a:srgbClr val="C8A74B"/>
                </a:solidFill>
                <a:latin typeface="Arial"/>
                <a:cs typeface="Arial"/>
              </a:rPr>
              <a:t>11/12</a:t>
            </a:r>
            <a:endParaRPr sz="16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028824" y="5343524"/>
            <a:ext cx="2352675" cy="152400"/>
          </a:xfrm>
          <a:custGeom>
            <a:avLst/>
            <a:gdLst/>
            <a:ahLst/>
            <a:cxnLst/>
            <a:rect l="l" t="t" r="r" b="b"/>
            <a:pathLst>
              <a:path w="2352675" h="152400">
                <a:moveTo>
                  <a:pt x="2327889" y="152399"/>
                </a:moveTo>
                <a:lnTo>
                  <a:pt x="24785" y="152399"/>
                </a:lnTo>
                <a:lnTo>
                  <a:pt x="21140" y="151673"/>
                </a:lnTo>
                <a:lnTo>
                  <a:pt x="0" y="127613"/>
                </a:lnTo>
                <a:lnTo>
                  <a:pt x="0" y="123824"/>
                </a:lnTo>
                <a:lnTo>
                  <a:pt x="0" y="24785"/>
                </a:lnTo>
                <a:lnTo>
                  <a:pt x="24785" y="0"/>
                </a:lnTo>
                <a:lnTo>
                  <a:pt x="2327889" y="0"/>
                </a:lnTo>
                <a:lnTo>
                  <a:pt x="2352674" y="24785"/>
                </a:lnTo>
                <a:lnTo>
                  <a:pt x="2352674" y="127613"/>
                </a:lnTo>
                <a:lnTo>
                  <a:pt x="2331533" y="151673"/>
                </a:lnTo>
                <a:lnTo>
                  <a:pt x="2327889" y="1523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016720" y="4826879"/>
            <a:ext cx="3857625" cy="65532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Spatial</a:t>
            </a:r>
            <a:r>
              <a:rPr dirty="0" sz="1200" spc="-6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Analytics</a:t>
            </a:r>
            <a:r>
              <a:rPr dirty="0" sz="1200" spc="-1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+</a:t>
            </a:r>
            <a:r>
              <a:rPr dirty="0" sz="1200" spc="-10" b="1">
                <a:solidFill>
                  <a:srgbClr val="1F2D59"/>
                </a:solidFill>
                <a:latin typeface="Arial"/>
                <a:cs typeface="Arial"/>
              </a:rPr>
              <a:t> Localisation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BIM</a:t>
            </a:r>
            <a:r>
              <a:rPr dirty="0" sz="950" spc="1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integration,</a:t>
            </a:r>
            <a:r>
              <a:rPr dirty="0" sz="950" spc="1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occupancy</a:t>
            </a:r>
            <a:r>
              <a:rPr dirty="0" sz="950" spc="1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intelligence,</a:t>
            </a:r>
            <a:r>
              <a:rPr dirty="0" sz="950" spc="9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Thai/English/Chinese</a:t>
            </a:r>
            <a:r>
              <a:rPr dirty="0" sz="950" spc="1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support</a:t>
            </a:r>
            <a:endParaRPr sz="950">
              <a:latin typeface="Arial"/>
              <a:cs typeface="Arial"/>
            </a:endParaRPr>
          </a:p>
          <a:p>
            <a:pPr marL="88265">
              <a:lnSpc>
                <a:spcPct val="100000"/>
              </a:lnSpc>
              <a:spcBef>
                <a:spcPts val="585"/>
              </a:spcBef>
            </a:pP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MEDIUM</a:t>
            </a:r>
            <a:r>
              <a:rPr dirty="0" sz="800" spc="3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·</a:t>
            </a:r>
            <a:r>
              <a:rPr dirty="0" sz="800" spc="4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THB</a:t>
            </a:r>
            <a:r>
              <a:rPr dirty="0" sz="800" spc="4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1.4M</a:t>
            </a:r>
            <a:r>
              <a:rPr dirty="0" sz="800" spc="4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combined</a:t>
            </a:r>
            <a:r>
              <a:rPr dirty="0" sz="800" spc="4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·</a:t>
            </a:r>
            <a:r>
              <a:rPr dirty="0" sz="800" spc="4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C8A74B"/>
                </a:solidFill>
                <a:latin typeface="Arial"/>
                <a:cs typeface="Arial"/>
              </a:rPr>
              <a:t>Q3–Q4</a:t>
            </a:r>
            <a:r>
              <a:rPr dirty="0" sz="800" spc="4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800" spc="-20" b="1">
                <a:solidFill>
                  <a:srgbClr val="C8A74B"/>
                </a:solidFill>
                <a:latin typeface="Arial"/>
                <a:cs typeface="Arial"/>
              </a:rPr>
              <a:t>2033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962899" y="3133725"/>
            <a:ext cx="3619500" cy="2905125"/>
            <a:chOff x="7962899" y="3133725"/>
            <a:chExt cx="3619500" cy="2905125"/>
          </a:xfrm>
        </p:grpSpPr>
        <p:sp>
          <p:nvSpPr>
            <p:cNvPr id="46" name="object 46"/>
            <p:cNvSpPr/>
            <p:nvPr/>
          </p:nvSpPr>
          <p:spPr>
            <a:xfrm>
              <a:off x="7962899" y="3152774"/>
              <a:ext cx="3619500" cy="2886075"/>
            </a:xfrm>
            <a:custGeom>
              <a:avLst/>
              <a:gdLst/>
              <a:ahLst/>
              <a:cxnLst/>
              <a:rect l="l" t="t" r="r" b="b"/>
              <a:pathLst>
                <a:path w="3619500" h="2886075">
                  <a:moveTo>
                    <a:pt x="3548302" y="2886074"/>
                  </a:moveTo>
                  <a:lnTo>
                    <a:pt x="71196" y="2886074"/>
                  </a:lnTo>
                  <a:lnTo>
                    <a:pt x="66240" y="2885585"/>
                  </a:lnTo>
                  <a:lnTo>
                    <a:pt x="29703" y="2870452"/>
                  </a:lnTo>
                  <a:lnTo>
                    <a:pt x="3884" y="2834412"/>
                  </a:lnTo>
                  <a:lnTo>
                    <a:pt x="0" y="2814877"/>
                  </a:lnTo>
                  <a:lnTo>
                    <a:pt x="0" y="2809874"/>
                  </a:lnTo>
                  <a:lnTo>
                    <a:pt x="0" y="53397"/>
                  </a:lnTo>
                  <a:lnTo>
                    <a:pt x="18779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548302" y="0"/>
                  </a:lnTo>
                  <a:lnTo>
                    <a:pt x="3589792" y="11716"/>
                  </a:lnTo>
                  <a:lnTo>
                    <a:pt x="3617056" y="42320"/>
                  </a:lnTo>
                  <a:lnTo>
                    <a:pt x="3619498" y="53397"/>
                  </a:lnTo>
                  <a:lnTo>
                    <a:pt x="3619498" y="2814877"/>
                  </a:lnTo>
                  <a:lnTo>
                    <a:pt x="3603876" y="2856368"/>
                  </a:lnTo>
                  <a:lnTo>
                    <a:pt x="3567836" y="2882187"/>
                  </a:lnTo>
                  <a:lnTo>
                    <a:pt x="3553257" y="2885585"/>
                  </a:lnTo>
                  <a:lnTo>
                    <a:pt x="3548302" y="2886074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963177" y="3133725"/>
              <a:ext cx="3619500" cy="70485"/>
            </a:xfrm>
            <a:custGeom>
              <a:avLst/>
              <a:gdLst/>
              <a:ahLst/>
              <a:cxnLst/>
              <a:rect l="l" t="t" r="r" b="b"/>
              <a:pathLst>
                <a:path w="3619500" h="70485">
                  <a:moveTo>
                    <a:pt x="0" y="70450"/>
                  </a:moveTo>
                  <a:lnTo>
                    <a:pt x="12550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3543022" y="0"/>
                  </a:lnTo>
                  <a:lnTo>
                    <a:pt x="3585363" y="12829"/>
                  </a:lnTo>
                  <a:lnTo>
                    <a:pt x="360893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4" y="66286"/>
                  </a:lnTo>
                  <a:lnTo>
                    <a:pt x="0" y="70450"/>
                  </a:lnTo>
                  <a:close/>
                </a:path>
                <a:path w="3619500" h="70485">
                  <a:moveTo>
                    <a:pt x="3618944" y="70450"/>
                  </a:moveTo>
                  <a:lnTo>
                    <a:pt x="3585363" y="44514"/>
                  </a:lnTo>
                  <a:lnTo>
                    <a:pt x="3543022" y="38099"/>
                  </a:lnTo>
                  <a:lnTo>
                    <a:pt x="3608930" y="38099"/>
                  </a:lnTo>
                  <a:lnTo>
                    <a:pt x="3618859" y="68693"/>
                  </a:lnTo>
                  <a:lnTo>
                    <a:pt x="3618944" y="70450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153387" y="3905262"/>
              <a:ext cx="3238500" cy="1666875"/>
            </a:xfrm>
            <a:custGeom>
              <a:avLst/>
              <a:gdLst/>
              <a:ahLst/>
              <a:cxnLst/>
              <a:rect l="l" t="t" r="r" b="b"/>
              <a:pathLst>
                <a:path w="3238500" h="1666875">
                  <a:moveTo>
                    <a:pt x="3238500" y="1657350"/>
                  </a:moveTo>
                  <a:lnTo>
                    <a:pt x="0" y="1657350"/>
                  </a:lnTo>
                  <a:lnTo>
                    <a:pt x="0" y="1666875"/>
                  </a:lnTo>
                  <a:lnTo>
                    <a:pt x="3238500" y="1666875"/>
                  </a:lnTo>
                  <a:lnTo>
                    <a:pt x="3238500" y="1657350"/>
                  </a:lnTo>
                  <a:close/>
                </a:path>
                <a:path w="3238500" h="1666875">
                  <a:moveTo>
                    <a:pt x="3238500" y="1381125"/>
                  </a:moveTo>
                  <a:lnTo>
                    <a:pt x="0" y="1381125"/>
                  </a:lnTo>
                  <a:lnTo>
                    <a:pt x="0" y="1390650"/>
                  </a:lnTo>
                  <a:lnTo>
                    <a:pt x="3238500" y="1390650"/>
                  </a:lnTo>
                  <a:lnTo>
                    <a:pt x="3238500" y="1381125"/>
                  </a:lnTo>
                  <a:close/>
                </a:path>
                <a:path w="3238500" h="1666875">
                  <a:moveTo>
                    <a:pt x="3238500" y="1104900"/>
                  </a:moveTo>
                  <a:lnTo>
                    <a:pt x="0" y="1104900"/>
                  </a:lnTo>
                  <a:lnTo>
                    <a:pt x="0" y="1114425"/>
                  </a:lnTo>
                  <a:lnTo>
                    <a:pt x="3238500" y="1114425"/>
                  </a:lnTo>
                  <a:lnTo>
                    <a:pt x="3238500" y="1104900"/>
                  </a:lnTo>
                  <a:close/>
                </a:path>
                <a:path w="3238500" h="1666875">
                  <a:moveTo>
                    <a:pt x="3238500" y="828675"/>
                  </a:moveTo>
                  <a:lnTo>
                    <a:pt x="0" y="828675"/>
                  </a:lnTo>
                  <a:lnTo>
                    <a:pt x="0" y="838200"/>
                  </a:lnTo>
                  <a:lnTo>
                    <a:pt x="3238500" y="838200"/>
                  </a:lnTo>
                  <a:lnTo>
                    <a:pt x="3238500" y="828675"/>
                  </a:lnTo>
                  <a:close/>
                </a:path>
                <a:path w="3238500" h="1666875">
                  <a:moveTo>
                    <a:pt x="3238500" y="552450"/>
                  </a:moveTo>
                  <a:lnTo>
                    <a:pt x="0" y="552450"/>
                  </a:lnTo>
                  <a:lnTo>
                    <a:pt x="0" y="561975"/>
                  </a:lnTo>
                  <a:lnTo>
                    <a:pt x="3238500" y="561975"/>
                  </a:lnTo>
                  <a:lnTo>
                    <a:pt x="3238500" y="552450"/>
                  </a:lnTo>
                  <a:close/>
                </a:path>
                <a:path w="3238500" h="1666875">
                  <a:moveTo>
                    <a:pt x="3238500" y="276225"/>
                  </a:moveTo>
                  <a:lnTo>
                    <a:pt x="0" y="276225"/>
                  </a:lnTo>
                  <a:lnTo>
                    <a:pt x="0" y="285750"/>
                  </a:lnTo>
                  <a:lnTo>
                    <a:pt x="3238500" y="285750"/>
                  </a:lnTo>
                  <a:lnTo>
                    <a:pt x="3238500" y="276225"/>
                  </a:lnTo>
                  <a:close/>
                </a:path>
                <a:path w="3238500" h="1666875">
                  <a:moveTo>
                    <a:pt x="32385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238500" y="9525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140700" y="3311525"/>
            <a:ext cx="2141220" cy="547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Phase</a:t>
            </a:r>
            <a:r>
              <a:rPr dirty="0" sz="1350" spc="-2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2</a:t>
            </a:r>
            <a:r>
              <a:rPr dirty="0" sz="1350" spc="-1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Budget</a:t>
            </a:r>
            <a:r>
              <a:rPr dirty="0" sz="1350" spc="-1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F2D59"/>
                </a:solidFill>
                <a:latin typeface="Arial"/>
                <a:cs typeface="Arial"/>
              </a:rPr>
              <a:t>Summary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GAP-</a:t>
            </a:r>
            <a:r>
              <a:rPr dirty="0" sz="1050">
                <a:solidFill>
                  <a:srgbClr val="444444"/>
                </a:solidFill>
                <a:latin typeface="Arial"/>
                <a:cs typeface="Arial"/>
              </a:rPr>
              <a:t>05</a:t>
            </a:r>
            <a:r>
              <a:rPr dirty="0" sz="1050" spc="-7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44444"/>
                </a:solidFill>
                <a:latin typeface="Arial"/>
                <a:cs typeface="Arial"/>
              </a:rPr>
              <a:t>AI</a:t>
            </a: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44444"/>
                </a:solidFill>
                <a:latin typeface="Arial"/>
                <a:cs typeface="Arial"/>
              </a:rPr>
              <a:t>Creative</a:t>
            </a:r>
            <a:r>
              <a:rPr dirty="0" sz="1050" spc="-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Engine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771533" y="3673475"/>
            <a:ext cx="6330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444444"/>
                </a:solidFill>
                <a:latin typeface="Arial"/>
                <a:cs typeface="Arial"/>
              </a:rPr>
              <a:t>THB</a:t>
            </a:r>
            <a:r>
              <a:rPr dirty="0" sz="1050" spc="-2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444444"/>
                </a:solidFill>
                <a:latin typeface="Arial"/>
                <a:cs typeface="Arial"/>
              </a:rPr>
              <a:t>1.5M</a:t>
            </a:r>
            <a:endParaRPr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140700" y="3949700"/>
            <a:ext cx="114490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GAP-</a:t>
            </a:r>
            <a:r>
              <a:rPr dirty="0" sz="1050">
                <a:solidFill>
                  <a:srgbClr val="444444"/>
                </a:solidFill>
                <a:latin typeface="Arial"/>
                <a:cs typeface="Arial"/>
              </a:rPr>
              <a:t>06</a:t>
            </a:r>
            <a:r>
              <a:rPr dirty="0" sz="1050" spc="-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44444"/>
                </a:solidFill>
                <a:latin typeface="Arial"/>
                <a:cs typeface="Arial"/>
              </a:rPr>
              <a:t>Event</a:t>
            </a: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Arial"/>
                <a:cs typeface="Arial"/>
              </a:rPr>
              <a:t>Bus</a:t>
            </a:r>
            <a:endParaRPr sz="10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771533" y="3949700"/>
            <a:ext cx="6330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444444"/>
                </a:solidFill>
                <a:latin typeface="Arial"/>
                <a:cs typeface="Arial"/>
              </a:rPr>
              <a:t>THB</a:t>
            </a:r>
            <a:r>
              <a:rPr dirty="0" sz="1050" spc="-2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444444"/>
                </a:solidFill>
                <a:latin typeface="Arial"/>
                <a:cs typeface="Arial"/>
              </a:rPr>
              <a:t>1.0M</a:t>
            </a:r>
            <a:endParaRPr sz="10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140700" y="4225925"/>
            <a:ext cx="17227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GAP-</a:t>
            </a:r>
            <a:r>
              <a:rPr dirty="0" sz="1050">
                <a:solidFill>
                  <a:srgbClr val="444444"/>
                </a:solidFill>
                <a:latin typeface="Arial"/>
                <a:cs typeface="Arial"/>
              </a:rPr>
              <a:t>09</a:t>
            </a:r>
            <a:r>
              <a:rPr dirty="0" sz="1050" spc="-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44444"/>
                </a:solidFill>
                <a:latin typeface="Arial"/>
                <a:cs typeface="Arial"/>
              </a:rPr>
              <a:t>Material</a:t>
            </a:r>
            <a:r>
              <a:rPr dirty="0" sz="1050" spc="-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Intelligence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771533" y="4225925"/>
            <a:ext cx="6330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444444"/>
                </a:solidFill>
                <a:latin typeface="Arial"/>
                <a:cs typeface="Arial"/>
              </a:rPr>
              <a:t>THB</a:t>
            </a:r>
            <a:r>
              <a:rPr dirty="0" sz="1050" spc="-2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444444"/>
                </a:solidFill>
                <a:latin typeface="Arial"/>
                <a:cs typeface="Arial"/>
              </a:rPr>
              <a:t>0.8M</a:t>
            </a:r>
            <a:endParaRPr sz="10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140700" y="4502150"/>
            <a:ext cx="161925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GAP-</a:t>
            </a:r>
            <a:r>
              <a:rPr dirty="0" sz="1050">
                <a:solidFill>
                  <a:srgbClr val="444444"/>
                </a:solidFill>
                <a:latin typeface="Arial"/>
                <a:cs typeface="Arial"/>
              </a:rPr>
              <a:t>10 </a:t>
            </a: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Contractor/Vendor</a:t>
            </a:r>
            <a:endParaRPr sz="10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771533" y="4502150"/>
            <a:ext cx="6330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444444"/>
                </a:solidFill>
                <a:latin typeface="Arial"/>
                <a:cs typeface="Arial"/>
              </a:rPr>
              <a:t>THB</a:t>
            </a:r>
            <a:r>
              <a:rPr dirty="0" sz="1050" spc="-2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444444"/>
                </a:solidFill>
                <a:latin typeface="Arial"/>
                <a:cs typeface="Arial"/>
              </a:rPr>
              <a:t>0.7M</a:t>
            </a:r>
            <a:endParaRPr sz="10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140700" y="4778375"/>
            <a:ext cx="15081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GAP-</a:t>
            </a:r>
            <a:r>
              <a:rPr dirty="0" sz="1050">
                <a:solidFill>
                  <a:srgbClr val="444444"/>
                </a:solidFill>
                <a:latin typeface="Arial"/>
                <a:cs typeface="Arial"/>
              </a:rPr>
              <a:t>11</a:t>
            </a:r>
            <a:r>
              <a:rPr dirty="0" sz="1050" spc="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Spatial</a:t>
            </a:r>
            <a:r>
              <a:rPr dirty="0" sz="1050" spc="-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Analytics</a:t>
            </a:r>
            <a:endParaRPr sz="10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771533" y="4778375"/>
            <a:ext cx="6330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444444"/>
                </a:solidFill>
                <a:latin typeface="Arial"/>
                <a:cs typeface="Arial"/>
              </a:rPr>
              <a:t>THB</a:t>
            </a:r>
            <a:r>
              <a:rPr dirty="0" sz="1050" spc="-2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444444"/>
                </a:solidFill>
                <a:latin typeface="Arial"/>
                <a:cs typeface="Arial"/>
              </a:rPr>
              <a:t>0.8M</a:t>
            </a:r>
            <a:endParaRPr sz="10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140700" y="5054600"/>
            <a:ext cx="141160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GAP-</a:t>
            </a:r>
            <a:r>
              <a:rPr dirty="0" sz="1050">
                <a:solidFill>
                  <a:srgbClr val="444444"/>
                </a:solidFill>
                <a:latin typeface="Arial"/>
                <a:cs typeface="Arial"/>
              </a:rPr>
              <a:t>12</a:t>
            </a:r>
            <a:r>
              <a:rPr dirty="0" sz="1050" spc="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Multi-language</a:t>
            </a:r>
            <a:endParaRPr sz="10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0771533" y="5054600"/>
            <a:ext cx="6330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444444"/>
                </a:solidFill>
                <a:latin typeface="Arial"/>
                <a:cs typeface="Arial"/>
              </a:rPr>
              <a:t>THB</a:t>
            </a:r>
            <a:r>
              <a:rPr dirty="0" sz="1050" spc="-2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444444"/>
                </a:solidFill>
                <a:latin typeface="Arial"/>
                <a:cs typeface="Arial"/>
              </a:rPr>
              <a:t>0.6M</a:t>
            </a:r>
            <a:endParaRPr sz="10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140700" y="5330825"/>
            <a:ext cx="11595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44444"/>
                </a:solidFill>
                <a:latin typeface="Arial"/>
                <a:cs typeface="Arial"/>
              </a:rPr>
              <a:t>Contingency</a:t>
            </a:r>
            <a:r>
              <a:rPr dirty="0" sz="1050" spc="-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44444"/>
                </a:solidFill>
                <a:latin typeface="Arial"/>
                <a:cs typeface="Arial"/>
              </a:rPr>
              <a:t>(10%)</a:t>
            </a:r>
            <a:endParaRPr sz="10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0771533" y="5330825"/>
            <a:ext cx="6330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444444"/>
                </a:solidFill>
                <a:latin typeface="Arial"/>
                <a:cs typeface="Arial"/>
              </a:rPr>
              <a:t>THB</a:t>
            </a:r>
            <a:r>
              <a:rPr dirty="0" sz="1050" spc="-2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444444"/>
                </a:solidFill>
                <a:latin typeface="Arial"/>
                <a:cs typeface="Arial"/>
              </a:rPr>
              <a:t>0.6M</a:t>
            </a:r>
            <a:endParaRPr sz="10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140700" y="5635625"/>
            <a:ext cx="4222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1F2D59"/>
                </a:solidFill>
                <a:latin typeface="Arial"/>
                <a:cs typeface="Arial"/>
              </a:rPr>
              <a:t>Total</a:t>
            </a:r>
            <a:endParaRPr sz="13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598000" y="5635625"/>
            <a:ext cx="80708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THB</a:t>
            </a:r>
            <a:r>
              <a:rPr dirty="0" sz="1350" spc="-3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1F2D59"/>
                </a:solidFill>
                <a:latin typeface="Arial"/>
                <a:cs typeface="Arial"/>
              </a:rPr>
              <a:t>6.0M</a:t>
            </a:r>
            <a:endParaRPr sz="135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57149" y="6581774"/>
            <a:ext cx="12096750" cy="9525"/>
          </a:xfrm>
          <a:custGeom>
            <a:avLst/>
            <a:gdLst/>
            <a:ahLst/>
            <a:cxnLst/>
            <a:rect l="l" t="t" r="r" b="b"/>
            <a:pathLst>
              <a:path w="12096750" h="9525">
                <a:moveTo>
                  <a:pt x="12096749" y="9524"/>
                </a:moveTo>
                <a:lnTo>
                  <a:pt x="0" y="9524"/>
                </a:lnTo>
                <a:lnTo>
                  <a:pt x="0" y="0"/>
                </a:lnTo>
                <a:lnTo>
                  <a:pt x="12096749" y="0"/>
                </a:lnTo>
                <a:lnTo>
                  <a:pt x="12096749" y="9524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615949" y="6635750"/>
            <a:ext cx="499300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MONOLITH</a:t>
            </a:r>
            <a:r>
              <a:rPr dirty="0" sz="800" spc="4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DAPH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Decor</a:t>
            </a:r>
            <a:r>
              <a:rPr dirty="0" sz="800" spc="-1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AI</a:t>
            </a:r>
            <a:r>
              <a:rPr dirty="0" sz="800" spc="-1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Agent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Programme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 spc="4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SC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Review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2569</a:t>
            </a:r>
            <a:r>
              <a:rPr dirty="0" sz="800" spc="4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Section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50</a:t>
            </a:r>
            <a:r>
              <a:rPr dirty="0" sz="800" spc="4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Phase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2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PDD</a:t>
            </a:r>
            <a:r>
              <a:rPr dirty="0" sz="800" spc="4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SC-2032-</a:t>
            </a:r>
            <a:r>
              <a:rPr dirty="0" sz="800" spc="-25">
                <a:solidFill>
                  <a:srgbClr val="8B8B8B"/>
                </a:solidFill>
                <a:latin typeface="Arial"/>
                <a:cs typeface="Arial"/>
              </a:rPr>
              <a:t>XX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49" y="0"/>
            <a:ext cx="12147550" cy="6858000"/>
          </a:xfrm>
          <a:custGeom>
            <a:avLst/>
            <a:gdLst/>
            <a:ahLst/>
            <a:cxnLst/>
            <a:rect l="l" t="t" r="r" b="b"/>
            <a:pathLst>
              <a:path w="12147550" h="6858000">
                <a:moveTo>
                  <a:pt x="0" y="6857999"/>
                </a:moveTo>
                <a:lnTo>
                  <a:pt x="12147040" y="6857999"/>
                </a:lnTo>
                <a:lnTo>
                  <a:pt x="1214704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153898" y="0"/>
            <a:ext cx="50800" cy="6858000"/>
          </a:xfrm>
          <a:custGeom>
            <a:avLst/>
            <a:gdLst/>
            <a:ahLst/>
            <a:cxnLst/>
            <a:rect l="l" t="t" r="r" b="b"/>
            <a:pathLst>
              <a:path w="50800" h="6858000">
                <a:moveTo>
                  <a:pt x="50292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50292" y="0"/>
                </a:lnTo>
                <a:lnTo>
                  <a:pt x="50292" y="68579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1"/>
            <a:ext cx="12153900" cy="6858000"/>
          </a:xfrm>
          <a:custGeom>
            <a:avLst/>
            <a:gdLst/>
            <a:ahLst/>
            <a:cxnLst/>
            <a:rect l="l" t="t" r="r" b="b"/>
            <a:pathLst>
              <a:path w="12153900" h="6858000">
                <a:moveTo>
                  <a:pt x="12153887" y="0"/>
                </a:moveTo>
                <a:lnTo>
                  <a:pt x="57137" y="0"/>
                </a:lnTo>
                <a:lnTo>
                  <a:pt x="0" y="0"/>
                </a:lnTo>
                <a:lnTo>
                  <a:pt x="0" y="6857987"/>
                </a:lnTo>
                <a:lnTo>
                  <a:pt x="57137" y="6857987"/>
                </a:lnTo>
                <a:lnTo>
                  <a:pt x="57137" y="781050"/>
                </a:lnTo>
                <a:lnTo>
                  <a:pt x="12153887" y="781050"/>
                </a:lnTo>
                <a:lnTo>
                  <a:pt x="12153887" y="0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15949" y="168275"/>
            <a:ext cx="442087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Phase</a:t>
            </a:r>
            <a:r>
              <a:rPr dirty="0" spc="-25"/>
              <a:t> </a:t>
            </a:r>
            <a:r>
              <a:rPr dirty="0"/>
              <a:t>2</a:t>
            </a:r>
            <a:r>
              <a:rPr dirty="0" spc="-25"/>
              <a:t> </a:t>
            </a:r>
            <a:r>
              <a:rPr dirty="0"/>
              <a:t>Budget</a:t>
            </a:r>
            <a:r>
              <a:rPr dirty="0" spc="-20"/>
              <a:t> </a:t>
            </a:r>
            <a:r>
              <a:rPr dirty="0"/>
              <a:t>&amp;</a:t>
            </a:r>
            <a:r>
              <a:rPr dirty="0" spc="-25"/>
              <a:t> </a:t>
            </a:r>
            <a:r>
              <a:rPr dirty="0" spc="-10"/>
              <a:t>Timeline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82889" y="358775"/>
            <a:ext cx="39052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THB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6.0M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Estimate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·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Q1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2033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Q4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2033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·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4</a:t>
            </a:r>
            <a:r>
              <a:rPr dirty="0" sz="1200" spc="-1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Milestones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8649" y="971550"/>
            <a:ext cx="7524750" cy="2667000"/>
            <a:chOff x="628649" y="971550"/>
            <a:chExt cx="7524750" cy="2667000"/>
          </a:xfrm>
        </p:grpSpPr>
        <p:sp>
          <p:nvSpPr>
            <p:cNvPr id="8" name="object 8"/>
            <p:cNvSpPr/>
            <p:nvPr/>
          </p:nvSpPr>
          <p:spPr>
            <a:xfrm>
              <a:off x="628649" y="990599"/>
              <a:ext cx="7524750" cy="2647950"/>
            </a:xfrm>
            <a:custGeom>
              <a:avLst/>
              <a:gdLst/>
              <a:ahLst/>
              <a:cxnLst/>
              <a:rect l="l" t="t" r="r" b="b"/>
              <a:pathLst>
                <a:path w="7524750" h="2647950">
                  <a:moveTo>
                    <a:pt x="7453552" y="2647949"/>
                  </a:moveTo>
                  <a:lnTo>
                    <a:pt x="71196" y="2647949"/>
                  </a:lnTo>
                  <a:lnTo>
                    <a:pt x="66241" y="2647461"/>
                  </a:lnTo>
                  <a:lnTo>
                    <a:pt x="29705" y="2632327"/>
                  </a:lnTo>
                  <a:lnTo>
                    <a:pt x="3885" y="2596287"/>
                  </a:lnTo>
                  <a:lnTo>
                    <a:pt x="0" y="2576752"/>
                  </a:lnTo>
                  <a:lnTo>
                    <a:pt x="0" y="25717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7453552" y="0"/>
                  </a:lnTo>
                  <a:lnTo>
                    <a:pt x="7495043" y="11716"/>
                  </a:lnTo>
                  <a:lnTo>
                    <a:pt x="7522308" y="42320"/>
                  </a:lnTo>
                  <a:lnTo>
                    <a:pt x="7524748" y="53397"/>
                  </a:lnTo>
                  <a:lnTo>
                    <a:pt x="7524748" y="2576752"/>
                  </a:lnTo>
                  <a:lnTo>
                    <a:pt x="7509127" y="2618243"/>
                  </a:lnTo>
                  <a:lnTo>
                    <a:pt x="7473086" y="2644063"/>
                  </a:lnTo>
                  <a:lnTo>
                    <a:pt x="7458507" y="2647461"/>
                  </a:lnTo>
                  <a:lnTo>
                    <a:pt x="7453552" y="26479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8927" y="971550"/>
              <a:ext cx="7524750" cy="70485"/>
            </a:xfrm>
            <a:custGeom>
              <a:avLst/>
              <a:gdLst/>
              <a:ahLst/>
              <a:cxnLst/>
              <a:rect l="l" t="t" r="r" b="b"/>
              <a:pathLst>
                <a:path w="7524750" h="70484">
                  <a:moveTo>
                    <a:pt x="0" y="70450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7448271" y="0"/>
                  </a:lnTo>
                  <a:lnTo>
                    <a:pt x="7490613" y="12829"/>
                  </a:lnTo>
                  <a:lnTo>
                    <a:pt x="751418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50"/>
                  </a:lnTo>
                  <a:close/>
                </a:path>
                <a:path w="7524750" h="70484">
                  <a:moveTo>
                    <a:pt x="7524193" y="70450"/>
                  </a:moveTo>
                  <a:lnTo>
                    <a:pt x="7490613" y="44514"/>
                  </a:lnTo>
                  <a:lnTo>
                    <a:pt x="7448271" y="38099"/>
                  </a:lnTo>
                  <a:lnTo>
                    <a:pt x="7514180" y="38099"/>
                  </a:lnTo>
                  <a:lnTo>
                    <a:pt x="7524109" y="68693"/>
                  </a:lnTo>
                  <a:lnTo>
                    <a:pt x="7524193" y="70450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06449" y="1149350"/>
            <a:ext cx="162623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Milestone </a:t>
            </a:r>
            <a:r>
              <a:rPr dirty="0" sz="1350" spc="-10" b="1">
                <a:solidFill>
                  <a:srgbClr val="1F2D59"/>
                </a:solidFill>
                <a:latin typeface="Arial"/>
                <a:cs typeface="Arial"/>
              </a:rPr>
              <a:t>Schedule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19149" y="1514474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80" y="121679"/>
                </a:lnTo>
                <a:lnTo>
                  <a:pt x="24386" y="83315"/>
                </a:lnTo>
                <a:lnTo>
                  <a:pt x="50216" y="50216"/>
                </a:lnTo>
                <a:lnTo>
                  <a:pt x="83315" y="24386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6"/>
                </a:lnTo>
                <a:lnTo>
                  <a:pt x="292683" y="50216"/>
                </a:lnTo>
                <a:lnTo>
                  <a:pt x="318513" y="83315"/>
                </a:lnTo>
                <a:lnTo>
                  <a:pt x="335519" y="121679"/>
                </a:lnTo>
                <a:lnTo>
                  <a:pt x="342694" y="163027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9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06449" y="1520825"/>
            <a:ext cx="218440" cy="31686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170"/>
              </a:spcBef>
            </a:pPr>
            <a:r>
              <a:rPr dirty="0" sz="950" b="1">
                <a:solidFill>
                  <a:srgbClr val="C8A74B"/>
                </a:solidFill>
                <a:latin typeface="Arial"/>
                <a:cs typeface="Arial"/>
              </a:rPr>
              <a:t>P2-</a:t>
            </a:r>
            <a:r>
              <a:rPr dirty="0" sz="950" spc="-25" b="1">
                <a:solidFill>
                  <a:srgbClr val="C8A74B"/>
                </a:solidFill>
                <a:latin typeface="Arial"/>
                <a:cs typeface="Arial"/>
              </a:rPr>
              <a:t>M1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19149" y="20002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6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6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7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9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06449" y="2006600"/>
            <a:ext cx="218440" cy="31686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170"/>
              </a:spcBef>
            </a:pPr>
            <a:r>
              <a:rPr dirty="0" sz="950" b="1">
                <a:solidFill>
                  <a:srgbClr val="1F2D59"/>
                </a:solidFill>
                <a:latin typeface="Arial"/>
                <a:cs typeface="Arial"/>
              </a:rPr>
              <a:t>P2-</a:t>
            </a:r>
            <a:r>
              <a:rPr dirty="0" sz="950" spc="-25" b="1">
                <a:solidFill>
                  <a:srgbClr val="1F2D59"/>
                </a:solidFill>
                <a:latin typeface="Arial"/>
                <a:cs typeface="Arial"/>
              </a:rPr>
              <a:t>M2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2699" y="1416929"/>
            <a:ext cx="6195695" cy="94488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Q1 2033 — Phase 2 </a:t>
            </a:r>
            <a:r>
              <a:rPr dirty="0" sz="1200" spc="-10" b="1">
                <a:solidFill>
                  <a:srgbClr val="1F2D59"/>
                </a:solidFill>
                <a:latin typeface="Arial"/>
                <a:cs typeface="Arial"/>
              </a:rPr>
              <a:t>Kickoff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SC-2032-XX</a:t>
            </a:r>
            <a:r>
              <a:rPr dirty="0" sz="950" spc="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ratified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Programme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Director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onboarded</a:t>
            </a:r>
            <a:r>
              <a:rPr dirty="0" sz="950" spc="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GAP-05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+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GAP-06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commenced</a:t>
            </a:r>
            <a:r>
              <a:rPr dirty="0" sz="950" spc="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src/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branches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initialised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Q2 2033 — Mid-Phase </a:t>
            </a:r>
            <a:r>
              <a:rPr dirty="0" sz="1200" spc="-20" b="1">
                <a:solidFill>
                  <a:srgbClr val="1F2D59"/>
                </a:solidFill>
                <a:latin typeface="Arial"/>
                <a:cs typeface="Arial"/>
              </a:rPr>
              <a:t>Gate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GAP-06</a:t>
            </a:r>
            <a:r>
              <a:rPr dirty="0" sz="950" spc="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Event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Bus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MVP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delivered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GAP-09/10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design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approved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Coverage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spot-check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&gt;70%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19149" y="2486024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5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6"/>
                </a:lnTo>
                <a:lnTo>
                  <a:pt x="292683" y="50216"/>
                </a:lnTo>
                <a:lnTo>
                  <a:pt x="318513" y="83315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4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B6770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06449" y="2492375"/>
            <a:ext cx="218440" cy="31686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170"/>
              </a:spcBef>
            </a:pPr>
            <a:r>
              <a:rPr dirty="0" sz="950" b="1">
                <a:solidFill>
                  <a:srgbClr val="1F2D59"/>
                </a:solidFill>
                <a:latin typeface="Arial"/>
                <a:cs typeface="Arial"/>
              </a:rPr>
              <a:t>P2-</a:t>
            </a:r>
            <a:r>
              <a:rPr dirty="0" sz="950" spc="-25" b="1">
                <a:solidFill>
                  <a:srgbClr val="1F2D59"/>
                </a:solidFill>
                <a:latin typeface="Arial"/>
                <a:cs typeface="Arial"/>
              </a:rPr>
              <a:t>M3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82699" y="2388479"/>
            <a:ext cx="6136640" cy="45910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Q3 2033 — 75% Coverage </a:t>
            </a:r>
            <a:r>
              <a:rPr dirty="0" sz="1200" spc="-20" b="1">
                <a:solidFill>
                  <a:srgbClr val="1F2D59"/>
                </a:solidFill>
                <a:latin typeface="Arial"/>
                <a:cs typeface="Arial"/>
              </a:rPr>
              <a:t>Gate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GAP-05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AI</a:t>
            </a:r>
            <a:r>
              <a:rPr dirty="0" sz="950" spc="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Engine</a:t>
            </a:r>
            <a:r>
              <a:rPr dirty="0" sz="950" spc="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delivered</a:t>
            </a:r>
            <a:r>
              <a:rPr dirty="0" sz="950" spc="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dirty="0" sz="950" spc="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GAP-09/10</a:t>
            </a:r>
            <a:r>
              <a:rPr dirty="0" sz="950" spc="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UAT</a:t>
            </a:r>
            <a:r>
              <a:rPr dirty="0" sz="950" spc="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passed</a:t>
            </a:r>
            <a:r>
              <a:rPr dirty="0" sz="950" spc="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dirty="0" sz="950" spc="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GAP-11/12</a:t>
            </a:r>
            <a:r>
              <a:rPr dirty="0" sz="950" spc="6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build</a:t>
            </a:r>
            <a:r>
              <a:rPr dirty="0" sz="950" spc="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commenced</a:t>
            </a:r>
            <a:r>
              <a:rPr dirty="0" sz="950" spc="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dirty="0" sz="950" spc="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Coverage</a:t>
            </a:r>
            <a:r>
              <a:rPr dirty="0" sz="950" spc="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&gt;75%</a:t>
            </a:r>
            <a:r>
              <a:rPr dirty="0" sz="950" spc="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verified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19149" y="2981324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79" y="7380"/>
                </a:lnTo>
                <a:lnTo>
                  <a:pt x="163027" y="206"/>
                </a:lnTo>
                <a:lnTo>
                  <a:pt x="171449" y="0"/>
                </a:lnTo>
                <a:lnTo>
                  <a:pt x="179872" y="206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4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26A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06449" y="2987675"/>
            <a:ext cx="218440" cy="31686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170"/>
              </a:spcBef>
            </a:pP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P2-</a:t>
            </a:r>
            <a:r>
              <a:rPr dirty="0" sz="950" spc="-25" b="1">
                <a:solidFill>
                  <a:srgbClr val="FFFFFF"/>
                </a:solidFill>
                <a:latin typeface="Arial"/>
                <a:cs typeface="Arial"/>
              </a:rPr>
              <a:t>M4</a:t>
            </a:r>
            <a:endParaRPr sz="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82699" y="2883779"/>
            <a:ext cx="5910580" cy="45910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Q4 2033 — Phase 2 </a:t>
            </a:r>
            <a:r>
              <a:rPr dirty="0" sz="1200" spc="-10" b="1">
                <a:solidFill>
                  <a:srgbClr val="1F2D59"/>
                </a:solidFill>
                <a:latin typeface="Arial"/>
                <a:cs typeface="Arial"/>
              </a:rPr>
              <a:t>Completion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All</a:t>
            </a:r>
            <a:r>
              <a:rPr dirty="0" sz="950" spc="4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6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Phase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2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gaps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closed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Coverage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80%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verified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Phase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2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Completion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Certificate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·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Phase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3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gate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initiated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343898" y="971550"/>
            <a:ext cx="3238500" cy="2857500"/>
            <a:chOff x="8343898" y="971550"/>
            <a:chExt cx="3238500" cy="2857500"/>
          </a:xfrm>
        </p:grpSpPr>
        <p:sp>
          <p:nvSpPr>
            <p:cNvPr id="23" name="object 23"/>
            <p:cNvSpPr/>
            <p:nvPr/>
          </p:nvSpPr>
          <p:spPr>
            <a:xfrm>
              <a:off x="8343898" y="990599"/>
              <a:ext cx="3238500" cy="2838450"/>
            </a:xfrm>
            <a:custGeom>
              <a:avLst/>
              <a:gdLst/>
              <a:ahLst/>
              <a:cxnLst/>
              <a:rect l="l" t="t" r="r" b="b"/>
              <a:pathLst>
                <a:path w="3238500" h="2838450">
                  <a:moveTo>
                    <a:pt x="3167303" y="2838449"/>
                  </a:moveTo>
                  <a:lnTo>
                    <a:pt x="71196" y="2838449"/>
                  </a:lnTo>
                  <a:lnTo>
                    <a:pt x="66241" y="2837961"/>
                  </a:lnTo>
                  <a:lnTo>
                    <a:pt x="29705" y="2822828"/>
                  </a:lnTo>
                  <a:lnTo>
                    <a:pt x="3885" y="2786787"/>
                  </a:lnTo>
                  <a:lnTo>
                    <a:pt x="0" y="2767252"/>
                  </a:lnTo>
                  <a:lnTo>
                    <a:pt x="0" y="2762249"/>
                  </a:lnTo>
                  <a:lnTo>
                    <a:pt x="0" y="53397"/>
                  </a:lnTo>
                  <a:lnTo>
                    <a:pt x="18779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167303" y="0"/>
                  </a:lnTo>
                  <a:lnTo>
                    <a:pt x="3208792" y="11716"/>
                  </a:lnTo>
                  <a:lnTo>
                    <a:pt x="3236057" y="42320"/>
                  </a:lnTo>
                  <a:lnTo>
                    <a:pt x="3238499" y="53397"/>
                  </a:lnTo>
                  <a:lnTo>
                    <a:pt x="3238499" y="2767252"/>
                  </a:lnTo>
                  <a:lnTo>
                    <a:pt x="3222876" y="2808744"/>
                  </a:lnTo>
                  <a:lnTo>
                    <a:pt x="3186837" y="2834563"/>
                  </a:lnTo>
                  <a:lnTo>
                    <a:pt x="3172257" y="2837961"/>
                  </a:lnTo>
                  <a:lnTo>
                    <a:pt x="3167303" y="2838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344177" y="971550"/>
              <a:ext cx="3238500" cy="70485"/>
            </a:xfrm>
            <a:custGeom>
              <a:avLst/>
              <a:gdLst/>
              <a:ahLst/>
              <a:cxnLst/>
              <a:rect l="l" t="t" r="r" b="b"/>
              <a:pathLst>
                <a:path w="3238500" h="70484">
                  <a:moveTo>
                    <a:pt x="0" y="70450"/>
                  </a:moveTo>
                  <a:lnTo>
                    <a:pt x="12551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3162022" y="0"/>
                  </a:lnTo>
                  <a:lnTo>
                    <a:pt x="3204363" y="12829"/>
                  </a:lnTo>
                  <a:lnTo>
                    <a:pt x="322793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3238500" h="70484">
                  <a:moveTo>
                    <a:pt x="3237944" y="70450"/>
                  </a:moveTo>
                  <a:lnTo>
                    <a:pt x="3204363" y="44514"/>
                  </a:lnTo>
                  <a:lnTo>
                    <a:pt x="3162022" y="38099"/>
                  </a:lnTo>
                  <a:lnTo>
                    <a:pt x="3227930" y="38099"/>
                  </a:lnTo>
                  <a:lnTo>
                    <a:pt x="3237859" y="68693"/>
                  </a:lnTo>
                  <a:lnTo>
                    <a:pt x="3237944" y="70450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534399" y="3362324"/>
              <a:ext cx="2857500" cy="19050"/>
            </a:xfrm>
            <a:custGeom>
              <a:avLst/>
              <a:gdLst/>
              <a:ahLst/>
              <a:cxnLst/>
              <a:rect l="l" t="t" r="r" b="b"/>
              <a:pathLst>
                <a:path w="2857500" h="19050">
                  <a:moveTo>
                    <a:pt x="28574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2857499" y="0"/>
                  </a:lnTo>
                  <a:lnTo>
                    <a:pt x="2857499" y="19049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521700" y="1149350"/>
            <a:ext cx="1949450" cy="516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Budget</a:t>
            </a:r>
            <a:r>
              <a:rPr dirty="0" sz="1350" spc="-2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by</a:t>
            </a:r>
            <a:r>
              <a:rPr dirty="0" sz="1350" spc="-2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Gap</a:t>
            </a:r>
            <a:r>
              <a:rPr dirty="0" sz="1350" spc="-2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(THB</a:t>
            </a:r>
            <a:r>
              <a:rPr dirty="0" sz="1350" spc="-2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1F2D59"/>
                </a:solidFill>
                <a:latin typeface="Arial"/>
                <a:cs typeface="Arial"/>
              </a:rPr>
              <a:t>M)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950" b="1">
                <a:solidFill>
                  <a:srgbClr val="1F2D59"/>
                </a:solidFill>
                <a:latin typeface="Arial"/>
                <a:cs typeface="Arial"/>
              </a:rPr>
              <a:t>GAP-</a:t>
            </a:r>
            <a:r>
              <a:rPr dirty="0" sz="950" spc="-25" b="1">
                <a:solidFill>
                  <a:srgbClr val="1F2D59"/>
                </a:solidFill>
                <a:latin typeface="Arial"/>
                <a:cs typeface="Arial"/>
              </a:rPr>
              <a:t>05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343898" y="1495424"/>
            <a:ext cx="3238500" cy="3781425"/>
            <a:chOff x="8343898" y="1495424"/>
            <a:chExt cx="3238500" cy="3781425"/>
          </a:xfrm>
        </p:grpSpPr>
        <p:sp>
          <p:nvSpPr>
            <p:cNvPr id="28" name="object 28"/>
            <p:cNvSpPr/>
            <p:nvPr/>
          </p:nvSpPr>
          <p:spPr>
            <a:xfrm>
              <a:off x="9391648" y="1495424"/>
              <a:ext cx="1371600" cy="171450"/>
            </a:xfrm>
            <a:custGeom>
              <a:avLst/>
              <a:gdLst/>
              <a:ahLst/>
              <a:cxnLst/>
              <a:rect l="l" t="t" r="r" b="b"/>
              <a:pathLst>
                <a:path w="1371600" h="171450">
                  <a:moveTo>
                    <a:pt x="1338551" y="171449"/>
                  </a:moveTo>
                  <a:lnTo>
                    <a:pt x="33047" y="171449"/>
                  </a:lnTo>
                  <a:lnTo>
                    <a:pt x="28187" y="170483"/>
                  </a:lnTo>
                  <a:lnTo>
                    <a:pt x="966" y="143262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38551" y="0"/>
                  </a:lnTo>
                  <a:lnTo>
                    <a:pt x="1370631" y="28187"/>
                  </a:lnTo>
                  <a:lnTo>
                    <a:pt x="1371599" y="33047"/>
                  </a:lnTo>
                  <a:lnTo>
                    <a:pt x="1371599" y="138402"/>
                  </a:lnTo>
                  <a:lnTo>
                    <a:pt x="1343410" y="170483"/>
                  </a:lnTo>
                  <a:lnTo>
                    <a:pt x="1338551" y="1714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391648" y="1495424"/>
              <a:ext cx="1028700" cy="171450"/>
            </a:xfrm>
            <a:custGeom>
              <a:avLst/>
              <a:gdLst/>
              <a:ahLst/>
              <a:cxnLst/>
              <a:rect l="l" t="t" r="r" b="b"/>
              <a:pathLst>
                <a:path w="1028700" h="171450">
                  <a:moveTo>
                    <a:pt x="995652" y="171449"/>
                  </a:moveTo>
                  <a:lnTo>
                    <a:pt x="33047" y="171449"/>
                  </a:lnTo>
                  <a:lnTo>
                    <a:pt x="28187" y="170483"/>
                  </a:lnTo>
                  <a:lnTo>
                    <a:pt x="966" y="143262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995652" y="0"/>
                  </a:lnTo>
                  <a:lnTo>
                    <a:pt x="1027733" y="28187"/>
                  </a:lnTo>
                  <a:lnTo>
                    <a:pt x="1028699" y="33047"/>
                  </a:lnTo>
                  <a:lnTo>
                    <a:pt x="1028699" y="138402"/>
                  </a:lnTo>
                  <a:lnTo>
                    <a:pt x="1000511" y="170483"/>
                  </a:lnTo>
                  <a:lnTo>
                    <a:pt x="995652" y="171449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391648" y="1762124"/>
              <a:ext cx="1371600" cy="171450"/>
            </a:xfrm>
            <a:custGeom>
              <a:avLst/>
              <a:gdLst/>
              <a:ahLst/>
              <a:cxnLst/>
              <a:rect l="l" t="t" r="r" b="b"/>
              <a:pathLst>
                <a:path w="1371600" h="171450">
                  <a:moveTo>
                    <a:pt x="1338551" y="171449"/>
                  </a:moveTo>
                  <a:lnTo>
                    <a:pt x="33047" y="171449"/>
                  </a:lnTo>
                  <a:lnTo>
                    <a:pt x="28187" y="170483"/>
                  </a:lnTo>
                  <a:lnTo>
                    <a:pt x="966" y="143262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38551" y="0"/>
                  </a:lnTo>
                  <a:lnTo>
                    <a:pt x="1370631" y="28187"/>
                  </a:lnTo>
                  <a:lnTo>
                    <a:pt x="1371599" y="33047"/>
                  </a:lnTo>
                  <a:lnTo>
                    <a:pt x="1371599" y="138402"/>
                  </a:lnTo>
                  <a:lnTo>
                    <a:pt x="1343410" y="170483"/>
                  </a:lnTo>
                  <a:lnTo>
                    <a:pt x="1338551" y="1714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391648" y="1762124"/>
              <a:ext cx="685800" cy="171450"/>
            </a:xfrm>
            <a:custGeom>
              <a:avLst/>
              <a:gdLst/>
              <a:ahLst/>
              <a:cxnLst/>
              <a:rect l="l" t="t" r="r" b="b"/>
              <a:pathLst>
                <a:path w="685800" h="171450">
                  <a:moveTo>
                    <a:pt x="652752" y="171449"/>
                  </a:moveTo>
                  <a:lnTo>
                    <a:pt x="33047" y="171449"/>
                  </a:lnTo>
                  <a:lnTo>
                    <a:pt x="28187" y="170483"/>
                  </a:lnTo>
                  <a:lnTo>
                    <a:pt x="966" y="143262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652752" y="0"/>
                  </a:lnTo>
                  <a:lnTo>
                    <a:pt x="684833" y="28187"/>
                  </a:lnTo>
                  <a:lnTo>
                    <a:pt x="685799" y="33047"/>
                  </a:lnTo>
                  <a:lnTo>
                    <a:pt x="685799" y="138402"/>
                  </a:lnTo>
                  <a:lnTo>
                    <a:pt x="657611" y="170483"/>
                  </a:lnTo>
                  <a:lnTo>
                    <a:pt x="652752" y="171449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391648" y="2028824"/>
              <a:ext cx="1371600" cy="171450"/>
            </a:xfrm>
            <a:custGeom>
              <a:avLst/>
              <a:gdLst/>
              <a:ahLst/>
              <a:cxnLst/>
              <a:rect l="l" t="t" r="r" b="b"/>
              <a:pathLst>
                <a:path w="1371600" h="171450">
                  <a:moveTo>
                    <a:pt x="1338551" y="171449"/>
                  </a:moveTo>
                  <a:lnTo>
                    <a:pt x="33047" y="171449"/>
                  </a:lnTo>
                  <a:lnTo>
                    <a:pt x="28187" y="170483"/>
                  </a:lnTo>
                  <a:lnTo>
                    <a:pt x="966" y="143262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38551" y="0"/>
                  </a:lnTo>
                  <a:lnTo>
                    <a:pt x="1370631" y="28187"/>
                  </a:lnTo>
                  <a:lnTo>
                    <a:pt x="1371599" y="33047"/>
                  </a:lnTo>
                  <a:lnTo>
                    <a:pt x="1371599" y="138402"/>
                  </a:lnTo>
                  <a:lnTo>
                    <a:pt x="1343410" y="170483"/>
                  </a:lnTo>
                  <a:lnTo>
                    <a:pt x="1338551" y="1714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9391648" y="2028824"/>
              <a:ext cx="552450" cy="171450"/>
            </a:xfrm>
            <a:custGeom>
              <a:avLst/>
              <a:gdLst/>
              <a:ahLst/>
              <a:cxnLst/>
              <a:rect l="l" t="t" r="r" b="b"/>
              <a:pathLst>
                <a:path w="552450" h="171450">
                  <a:moveTo>
                    <a:pt x="519402" y="171449"/>
                  </a:moveTo>
                  <a:lnTo>
                    <a:pt x="33047" y="171449"/>
                  </a:lnTo>
                  <a:lnTo>
                    <a:pt x="28187" y="170483"/>
                  </a:lnTo>
                  <a:lnTo>
                    <a:pt x="966" y="143262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19402" y="0"/>
                  </a:lnTo>
                  <a:lnTo>
                    <a:pt x="551482" y="28187"/>
                  </a:lnTo>
                  <a:lnTo>
                    <a:pt x="552449" y="33047"/>
                  </a:lnTo>
                  <a:lnTo>
                    <a:pt x="552449" y="138402"/>
                  </a:lnTo>
                  <a:lnTo>
                    <a:pt x="524261" y="170483"/>
                  </a:lnTo>
                  <a:lnTo>
                    <a:pt x="519402" y="171449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9391648" y="2295524"/>
              <a:ext cx="1371600" cy="171450"/>
            </a:xfrm>
            <a:custGeom>
              <a:avLst/>
              <a:gdLst/>
              <a:ahLst/>
              <a:cxnLst/>
              <a:rect l="l" t="t" r="r" b="b"/>
              <a:pathLst>
                <a:path w="1371600" h="171450">
                  <a:moveTo>
                    <a:pt x="1338551" y="171449"/>
                  </a:moveTo>
                  <a:lnTo>
                    <a:pt x="33047" y="171449"/>
                  </a:lnTo>
                  <a:lnTo>
                    <a:pt x="28187" y="170482"/>
                  </a:lnTo>
                  <a:lnTo>
                    <a:pt x="966" y="143262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38551" y="0"/>
                  </a:lnTo>
                  <a:lnTo>
                    <a:pt x="1370631" y="28187"/>
                  </a:lnTo>
                  <a:lnTo>
                    <a:pt x="1371599" y="33047"/>
                  </a:lnTo>
                  <a:lnTo>
                    <a:pt x="1371599" y="138402"/>
                  </a:lnTo>
                  <a:lnTo>
                    <a:pt x="1343410" y="170482"/>
                  </a:lnTo>
                  <a:lnTo>
                    <a:pt x="1338551" y="1714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391648" y="2295524"/>
              <a:ext cx="476250" cy="171450"/>
            </a:xfrm>
            <a:custGeom>
              <a:avLst/>
              <a:gdLst/>
              <a:ahLst/>
              <a:cxnLst/>
              <a:rect l="l" t="t" r="r" b="b"/>
              <a:pathLst>
                <a:path w="476250" h="171450">
                  <a:moveTo>
                    <a:pt x="443202" y="171449"/>
                  </a:moveTo>
                  <a:lnTo>
                    <a:pt x="33047" y="171449"/>
                  </a:lnTo>
                  <a:lnTo>
                    <a:pt x="28187" y="170482"/>
                  </a:lnTo>
                  <a:lnTo>
                    <a:pt x="966" y="143262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443202" y="0"/>
                  </a:lnTo>
                  <a:lnTo>
                    <a:pt x="475282" y="28187"/>
                  </a:lnTo>
                  <a:lnTo>
                    <a:pt x="476249" y="33047"/>
                  </a:lnTo>
                  <a:lnTo>
                    <a:pt x="476249" y="138402"/>
                  </a:lnTo>
                  <a:lnTo>
                    <a:pt x="448061" y="170482"/>
                  </a:lnTo>
                  <a:lnTo>
                    <a:pt x="443202" y="171449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391648" y="2562224"/>
              <a:ext cx="1371600" cy="171450"/>
            </a:xfrm>
            <a:custGeom>
              <a:avLst/>
              <a:gdLst/>
              <a:ahLst/>
              <a:cxnLst/>
              <a:rect l="l" t="t" r="r" b="b"/>
              <a:pathLst>
                <a:path w="1371600" h="171450">
                  <a:moveTo>
                    <a:pt x="1338551" y="171449"/>
                  </a:moveTo>
                  <a:lnTo>
                    <a:pt x="33047" y="171449"/>
                  </a:lnTo>
                  <a:lnTo>
                    <a:pt x="28187" y="170482"/>
                  </a:lnTo>
                  <a:lnTo>
                    <a:pt x="966" y="143262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38551" y="0"/>
                  </a:lnTo>
                  <a:lnTo>
                    <a:pt x="1370631" y="28187"/>
                  </a:lnTo>
                  <a:lnTo>
                    <a:pt x="1371599" y="33047"/>
                  </a:lnTo>
                  <a:lnTo>
                    <a:pt x="1371599" y="138402"/>
                  </a:lnTo>
                  <a:lnTo>
                    <a:pt x="1343410" y="170482"/>
                  </a:lnTo>
                  <a:lnTo>
                    <a:pt x="1338551" y="1714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9391648" y="2562224"/>
              <a:ext cx="552450" cy="171450"/>
            </a:xfrm>
            <a:custGeom>
              <a:avLst/>
              <a:gdLst/>
              <a:ahLst/>
              <a:cxnLst/>
              <a:rect l="l" t="t" r="r" b="b"/>
              <a:pathLst>
                <a:path w="552450" h="171450">
                  <a:moveTo>
                    <a:pt x="519402" y="171449"/>
                  </a:moveTo>
                  <a:lnTo>
                    <a:pt x="33047" y="171449"/>
                  </a:lnTo>
                  <a:lnTo>
                    <a:pt x="28187" y="170482"/>
                  </a:lnTo>
                  <a:lnTo>
                    <a:pt x="966" y="143262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19402" y="0"/>
                  </a:lnTo>
                  <a:lnTo>
                    <a:pt x="551482" y="28187"/>
                  </a:lnTo>
                  <a:lnTo>
                    <a:pt x="552449" y="33047"/>
                  </a:lnTo>
                  <a:lnTo>
                    <a:pt x="552449" y="138402"/>
                  </a:lnTo>
                  <a:lnTo>
                    <a:pt x="524261" y="170482"/>
                  </a:lnTo>
                  <a:lnTo>
                    <a:pt x="519402" y="171449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9391648" y="2828924"/>
              <a:ext cx="1371600" cy="171450"/>
            </a:xfrm>
            <a:custGeom>
              <a:avLst/>
              <a:gdLst/>
              <a:ahLst/>
              <a:cxnLst/>
              <a:rect l="l" t="t" r="r" b="b"/>
              <a:pathLst>
                <a:path w="1371600" h="171450">
                  <a:moveTo>
                    <a:pt x="1338551" y="171449"/>
                  </a:moveTo>
                  <a:lnTo>
                    <a:pt x="33047" y="171449"/>
                  </a:lnTo>
                  <a:lnTo>
                    <a:pt x="28187" y="170483"/>
                  </a:lnTo>
                  <a:lnTo>
                    <a:pt x="966" y="143262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38551" y="0"/>
                  </a:lnTo>
                  <a:lnTo>
                    <a:pt x="1370631" y="28187"/>
                  </a:lnTo>
                  <a:lnTo>
                    <a:pt x="1371599" y="33047"/>
                  </a:lnTo>
                  <a:lnTo>
                    <a:pt x="1371599" y="138402"/>
                  </a:lnTo>
                  <a:lnTo>
                    <a:pt x="1343410" y="170483"/>
                  </a:lnTo>
                  <a:lnTo>
                    <a:pt x="1338551" y="1714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9391648" y="2828924"/>
              <a:ext cx="409575" cy="171450"/>
            </a:xfrm>
            <a:custGeom>
              <a:avLst/>
              <a:gdLst/>
              <a:ahLst/>
              <a:cxnLst/>
              <a:rect l="l" t="t" r="r" b="b"/>
              <a:pathLst>
                <a:path w="409575" h="171450">
                  <a:moveTo>
                    <a:pt x="376527" y="171449"/>
                  </a:moveTo>
                  <a:lnTo>
                    <a:pt x="33047" y="171449"/>
                  </a:lnTo>
                  <a:lnTo>
                    <a:pt x="28187" y="170483"/>
                  </a:lnTo>
                  <a:lnTo>
                    <a:pt x="966" y="143262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76527" y="0"/>
                  </a:lnTo>
                  <a:lnTo>
                    <a:pt x="408608" y="28187"/>
                  </a:lnTo>
                  <a:lnTo>
                    <a:pt x="409574" y="33047"/>
                  </a:lnTo>
                  <a:lnTo>
                    <a:pt x="409574" y="138402"/>
                  </a:lnTo>
                  <a:lnTo>
                    <a:pt x="381386" y="170483"/>
                  </a:lnTo>
                  <a:lnTo>
                    <a:pt x="376527" y="171449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391648" y="3095624"/>
              <a:ext cx="1371600" cy="171450"/>
            </a:xfrm>
            <a:custGeom>
              <a:avLst/>
              <a:gdLst/>
              <a:ahLst/>
              <a:cxnLst/>
              <a:rect l="l" t="t" r="r" b="b"/>
              <a:pathLst>
                <a:path w="1371600" h="171450">
                  <a:moveTo>
                    <a:pt x="1338551" y="171449"/>
                  </a:moveTo>
                  <a:lnTo>
                    <a:pt x="33047" y="171449"/>
                  </a:lnTo>
                  <a:lnTo>
                    <a:pt x="28187" y="170482"/>
                  </a:lnTo>
                  <a:lnTo>
                    <a:pt x="966" y="143262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38551" y="0"/>
                  </a:lnTo>
                  <a:lnTo>
                    <a:pt x="1370631" y="28187"/>
                  </a:lnTo>
                  <a:lnTo>
                    <a:pt x="1371599" y="33047"/>
                  </a:lnTo>
                  <a:lnTo>
                    <a:pt x="1371599" y="138402"/>
                  </a:lnTo>
                  <a:lnTo>
                    <a:pt x="1343410" y="170482"/>
                  </a:lnTo>
                  <a:lnTo>
                    <a:pt x="1338551" y="1714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9391648" y="3095624"/>
              <a:ext cx="409575" cy="171450"/>
            </a:xfrm>
            <a:custGeom>
              <a:avLst/>
              <a:gdLst/>
              <a:ahLst/>
              <a:cxnLst/>
              <a:rect l="l" t="t" r="r" b="b"/>
              <a:pathLst>
                <a:path w="409575" h="171450">
                  <a:moveTo>
                    <a:pt x="376527" y="171449"/>
                  </a:moveTo>
                  <a:lnTo>
                    <a:pt x="33047" y="171449"/>
                  </a:lnTo>
                  <a:lnTo>
                    <a:pt x="28187" y="170482"/>
                  </a:lnTo>
                  <a:lnTo>
                    <a:pt x="966" y="143262"/>
                  </a:lnTo>
                  <a:lnTo>
                    <a:pt x="0" y="138402"/>
                  </a:lnTo>
                  <a:lnTo>
                    <a:pt x="0" y="133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76527" y="0"/>
                  </a:lnTo>
                  <a:lnTo>
                    <a:pt x="408608" y="28187"/>
                  </a:lnTo>
                  <a:lnTo>
                    <a:pt x="409574" y="33047"/>
                  </a:lnTo>
                  <a:lnTo>
                    <a:pt x="409574" y="138402"/>
                  </a:lnTo>
                  <a:lnTo>
                    <a:pt x="381386" y="170482"/>
                  </a:lnTo>
                  <a:lnTo>
                    <a:pt x="376527" y="171449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343898" y="3943349"/>
              <a:ext cx="3238500" cy="1333500"/>
            </a:xfrm>
            <a:custGeom>
              <a:avLst/>
              <a:gdLst/>
              <a:ahLst/>
              <a:cxnLst/>
              <a:rect l="l" t="t" r="r" b="b"/>
              <a:pathLst>
                <a:path w="3238500" h="1333500">
                  <a:moveTo>
                    <a:pt x="3167303" y="1333499"/>
                  </a:moveTo>
                  <a:lnTo>
                    <a:pt x="71196" y="1333499"/>
                  </a:lnTo>
                  <a:lnTo>
                    <a:pt x="66241" y="1333011"/>
                  </a:lnTo>
                  <a:lnTo>
                    <a:pt x="29705" y="1317877"/>
                  </a:lnTo>
                  <a:lnTo>
                    <a:pt x="3885" y="1281837"/>
                  </a:lnTo>
                  <a:lnTo>
                    <a:pt x="0" y="1262303"/>
                  </a:lnTo>
                  <a:lnTo>
                    <a:pt x="0" y="1257299"/>
                  </a:lnTo>
                  <a:lnTo>
                    <a:pt x="0" y="71196"/>
                  </a:lnTo>
                  <a:lnTo>
                    <a:pt x="15620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167303" y="0"/>
                  </a:lnTo>
                  <a:lnTo>
                    <a:pt x="3208792" y="15621"/>
                  </a:lnTo>
                  <a:lnTo>
                    <a:pt x="3234612" y="51661"/>
                  </a:lnTo>
                  <a:lnTo>
                    <a:pt x="3238499" y="71196"/>
                  </a:lnTo>
                  <a:lnTo>
                    <a:pt x="3238499" y="1262303"/>
                  </a:lnTo>
                  <a:lnTo>
                    <a:pt x="3222876" y="1303794"/>
                  </a:lnTo>
                  <a:lnTo>
                    <a:pt x="3186837" y="1329614"/>
                  </a:lnTo>
                  <a:lnTo>
                    <a:pt x="3172257" y="1333011"/>
                  </a:lnTo>
                  <a:lnTo>
                    <a:pt x="3167303" y="1333499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534387" y="4610112"/>
              <a:ext cx="2857500" cy="266700"/>
            </a:xfrm>
            <a:custGeom>
              <a:avLst/>
              <a:gdLst/>
              <a:ahLst/>
              <a:cxnLst/>
              <a:rect l="l" t="t" r="r" b="b"/>
              <a:pathLst>
                <a:path w="2857500" h="266700">
                  <a:moveTo>
                    <a:pt x="2857500" y="257175"/>
                  </a:moveTo>
                  <a:lnTo>
                    <a:pt x="0" y="257175"/>
                  </a:lnTo>
                  <a:lnTo>
                    <a:pt x="0" y="266700"/>
                  </a:lnTo>
                  <a:lnTo>
                    <a:pt x="2857500" y="266700"/>
                  </a:lnTo>
                  <a:lnTo>
                    <a:pt x="2857500" y="257175"/>
                  </a:lnTo>
                  <a:close/>
                </a:path>
                <a:path w="2857500" h="266700">
                  <a:moveTo>
                    <a:pt x="28575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857500" y="9525"/>
                  </a:lnTo>
                  <a:lnTo>
                    <a:pt x="2857500" y="0"/>
                  </a:lnTo>
                  <a:close/>
                </a:path>
              </a:pathLst>
            </a:custGeom>
            <a:solidFill>
              <a:srgbClr val="FFFFFF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1103867" y="1492250"/>
            <a:ext cx="30099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 b="1">
                <a:solidFill>
                  <a:srgbClr val="1F2D59"/>
                </a:solidFill>
                <a:latin typeface="Arial"/>
                <a:cs typeface="Arial"/>
              </a:rPr>
              <a:t>1.5M</a:t>
            </a:r>
            <a:endParaRPr sz="9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521700" y="1758950"/>
            <a:ext cx="4730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1F2D59"/>
                </a:solidFill>
                <a:latin typeface="Arial"/>
                <a:cs typeface="Arial"/>
              </a:rPr>
              <a:t>GAP-</a:t>
            </a:r>
            <a:r>
              <a:rPr dirty="0" sz="950" spc="-25" b="1">
                <a:solidFill>
                  <a:srgbClr val="1F2D59"/>
                </a:solidFill>
                <a:latin typeface="Arial"/>
                <a:cs typeface="Arial"/>
              </a:rPr>
              <a:t>06</a:t>
            </a:r>
            <a:endParaRPr sz="9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103867" y="1758950"/>
            <a:ext cx="30099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 b="1">
                <a:solidFill>
                  <a:srgbClr val="1F2D59"/>
                </a:solidFill>
                <a:latin typeface="Arial"/>
                <a:cs typeface="Arial"/>
              </a:rPr>
              <a:t>1.0M</a:t>
            </a:r>
            <a:endParaRPr sz="9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521700" y="2025650"/>
            <a:ext cx="4730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1F2D59"/>
                </a:solidFill>
                <a:latin typeface="Arial"/>
                <a:cs typeface="Arial"/>
              </a:rPr>
              <a:t>GAP-</a:t>
            </a:r>
            <a:r>
              <a:rPr dirty="0" sz="950" spc="-25" b="1">
                <a:solidFill>
                  <a:srgbClr val="1F2D59"/>
                </a:solidFill>
                <a:latin typeface="Arial"/>
                <a:cs typeface="Arial"/>
              </a:rPr>
              <a:t>09</a:t>
            </a:r>
            <a:endParaRPr sz="9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103867" y="2025650"/>
            <a:ext cx="30099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 b="1">
                <a:solidFill>
                  <a:srgbClr val="1F2D59"/>
                </a:solidFill>
                <a:latin typeface="Arial"/>
                <a:cs typeface="Arial"/>
              </a:rPr>
              <a:t>0.8M</a:t>
            </a:r>
            <a:endParaRPr sz="9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21700" y="2292350"/>
            <a:ext cx="4730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1F2D59"/>
                </a:solidFill>
                <a:latin typeface="Arial"/>
                <a:cs typeface="Arial"/>
              </a:rPr>
              <a:t>GAP-</a:t>
            </a:r>
            <a:r>
              <a:rPr dirty="0" sz="950" spc="-25" b="1">
                <a:solidFill>
                  <a:srgbClr val="1F2D59"/>
                </a:solidFill>
                <a:latin typeface="Arial"/>
                <a:cs typeface="Arial"/>
              </a:rPr>
              <a:t>10</a:t>
            </a:r>
            <a:endParaRPr sz="9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1103867" y="2292350"/>
            <a:ext cx="30099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 b="1">
                <a:solidFill>
                  <a:srgbClr val="1F2D59"/>
                </a:solidFill>
                <a:latin typeface="Arial"/>
                <a:cs typeface="Arial"/>
              </a:rPr>
              <a:t>0.7M</a:t>
            </a:r>
            <a:endParaRPr sz="9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521700" y="2559050"/>
            <a:ext cx="4730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1F2D59"/>
                </a:solidFill>
                <a:latin typeface="Arial"/>
                <a:cs typeface="Arial"/>
              </a:rPr>
              <a:t>GAP-</a:t>
            </a:r>
            <a:r>
              <a:rPr dirty="0" sz="950" spc="-25" b="1">
                <a:solidFill>
                  <a:srgbClr val="1F2D59"/>
                </a:solidFill>
                <a:latin typeface="Arial"/>
                <a:cs typeface="Arial"/>
              </a:rPr>
              <a:t>11</a:t>
            </a:r>
            <a:endParaRPr sz="9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103867" y="2559050"/>
            <a:ext cx="30099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 b="1">
                <a:solidFill>
                  <a:srgbClr val="1F2D59"/>
                </a:solidFill>
                <a:latin typeface="Arial"/>
                <a:cs typeface="Arial"/>
              </a:rPr>
              <a:t>0.8M</a:t>
            </a:r>
            <a:endParaRPr sz="9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521700" y="2825750"/>
            <a:ext cx="4730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1F2D59"/>
                </a:solidFill>
                <a:latin typeface="Arial"/>
                <a:cs typeface="Arial"/>
              </a:rPr>
              <a:t>GAP-</a:t>
            </a:r>
            <a:r>
              <a:rPr dirty="0" sz="950" spc="-25" b="1">
                <a:solidFill>
                  <a:srgbClr val="1F2D59"/>
                </a:solidFill>
                <a:latin typeface="Arial"/>
                <a:cs typeface="Arial"/>
              </a:rPr>
              <a:t>12</a:t>
            </a:r>
            <a:endParaRPr sz="9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103867" y="2825750"/>
            <a:ext cx="30099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 b="1">
                <a:solidFill>
                  <a:srgbClr val="1F2D59"/>
                </a:solidFill>
                <a:latin typeface="Arial"/>
                <a:cs typeface="Arial"/>
              </a:rPr>
              <a:t>0.6M</a:t>
            </a:r>
            <a:endParaRPr sz="9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521700" y="3092450"/>
            <a:ext cx="77533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 b="1">
                <a:solidFill>
                  <a:srgbClr val="1F2D59"/>
                </a:solidFill>
                <a:latin typeface="Arial"/>
                <a:cs typeface="Arial"/>
              </a:rPr>
              <a:t>Contingency</a:t>
            </a:r>
            <a:endParaRPr sz="9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103867" y="3092450"/>
            <a:ext cx="30099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 b="1">
                <a:solidFill>
                  <a:srgbClr val="1F2D59"/>
                </a:solidFill>
                <a:latin typeface="Arial"/>
                <a:cs typeface="Arial"/>
              </a:rPr>
              <a:t>0.6M</a:t>
            </a:r>
            <a:endParaRPr sz="9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521700" y="3416300"/>
            <a:ext cx="378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F2D59"/>
                </a:solidFill>
                <a:latin typeface="Arial"/>
                <a:cs typeface="Arial"/>
              </a:rPr>
              <a:t>Total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598000" y="3425825"/>
            <a:ext cx="80708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C8A74B"/>
                </a:solidFill>
                <a:latin typeface="Arial"/>
                <a:cs typeface="Arial"/>
              </a:rPr>
              <a:t>THB</a:t>
            </a:r>
            <a:r>
              <a:rPr dirty="0" sz="1350" spc="-3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C8A74B"/>
                </a:solidFill>
                <a:latin typeface="Arial"/>
                <a:cs typeface="Arial"/>
              </a:rPr>
              <a:t>6.0M</a:t>
            </a:r>
            <a:endParaRPr sz="13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521700" y="4054475"/>
            <a:ext cx="18891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8A74B"/>
                </a:solidFill>
                <a:latin typeface="Arial"/>
                <a:cs typeface="Arial"/>
              </a:rPr>
              <a:t>Budget</a:t>
            </a:r>
            <a:r>
              <a:rPr dirty="0" sz="1200" spc="-2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8A74B"/>
                </a:solidFill>
                <a:latin typeface="Arial"/>
                <a:cs typeface="Arial"/>
              </a:rPr>
              <a:t>Release</a:t>
            </a:r>
            <a:r>
              <a:rPr dirty="0" sz="1200" spc="-2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8A74B"/>
                </a:solidFill>
                <a:latin typeface="Arial"/>
                <a:cs typeface="Arial"/>
              </a:rPr>
              <a:t>Schedule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521700" y="4387850"/>
            <a:ext cx="5372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Q1 </a:t>
            </a:r>
            <a:r>
              <a:rPr dirty="0" sz="1050" spc="-20">
                <a:solidFill>
                  <a:srgbClr val="FEFEFE"/>
                </a:solidFill>
                <a:latin typeface="Arial"/>
                <a:cs typeface="Arial"/>
              </a:rPr>
              <a:t>2033</a:t>
            </a:r>
            <a:endParaRPr sz="10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0771533" y="4387850"/>
            <a:ext cx="6330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C8A74B"/>
                </a:solidFill>
                <a:latin typeface="Arial"/>
                <a:cs typeface="Arial"/>
              </a:rPr>
              <a:t>THB</a:t>
            </a:r>
            <a:r>
              <a:rPr dirty="0" sz="1050" spc="-2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C8A74B"/>
                </a:solidFill>
                <a:latin typeface="Arial"/>
                <a:cs typeface="Arial"/>
              </a:rPr>
              <a:t>2.5M</a:t>
            </a:r>
            <a:endParaRPr sz="10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521700" y="4645025"/>
            <a:ext cx="5372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Q2 </a:t>
            </a:r>
            <a:r>
              <a:rPr dirty="0" sz="1050" spc="-20">
                <a:solidFill>
                  <a:srgbClr val="FEFEFE"/>
                </a:solidFill>
                <a:latin typeface="Arial"/>
                <a:cs typeface="Arial"/>
              </a:rPr>
              <a:t>2033</a:t>
            </a:r>
            <a:endParaRPr sz="10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0771533" y="4645025"/>
            <a:ext cx="6330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C8A74B"/>
                </a:solidFill>
                <a:latin typeface="Arial"/>
                <a:cs typeface="Arial"/>
              </a:rPr>
              <a:t>THB</a:t>
            </a:r>
            <a:r>
              <a:rPr dirty="0" sz="1050" spc="-2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C8A74B"/>
                </a:solidFill>
                <a:latin typeface="Arial"/>
                <a:cs typeface="Arial"/>
              </a:rPr>
              <a:t>1.5M</a:t>
            </a:r>
            <a:endParaRPr sz="10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521700" y="4902200"/>
            <a:ext cx="78930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FEFEFE"/>
                </a:solidFill>
                <a:latin typeface="Arial"/>
                <a:cs typeface="Arial"/>
              </a:rPr>
              <a:t>Q3–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Q4</a:t>
            </a:r>
            <a:r>
              <a:rPr dirty="0" sz="1050" spc="-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FEFEFE"/>
                </a:solidFill>
                <a:latin typeface="Arial"/>
                <a:cs typeface="Arial"/>
              </a:rPr>
              <a:t>2033</a:t>
            </a:r>
            <a:endParaRPr sz="10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0771533" y="4902200"/>
            <a:ext cx="6330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C8A74B"/>
                </a:solidFill>
                <a:latin typeface="Arial"/>
                <a:cs typeface="Arial"/>
              </a:rPr>
              <a:t>THB</a:t>
            </a:r>
            <a:r>
              <a:rPr dirty="0" sz="1050" spc="-2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C8A74B"/>
                </a:solidFill>
                <a:latin typeface="Arial"/>
                <a:cs typeface="Arial"/>
              </a:rPr>
              <a:t>2.0M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57149" y="6581774"/>
            <a:ext cx="12096750" cy="276225"/>
            <a:chOff x="57149" y="6581774"/>
            <a:chExt cx="12096750" cy="276225"/>
          </a:xfrm>
        </p:grpSpPr>
        <p:sp>
          <p:nvSpPr>
            <p:cNvPr id="67" name="object 67"/>
            <p:cNvSpPr/>
            <p:nvPr/>
          </p:nvSpPr>
          <p:spPr>
            <a:xfrm>
              <a:off x="57149" y="6581774"/>
              <a:ext cx="12096750" cy="276225"/>
            </a:xfrm>
            <a:custGeom>
              <a:avLst/>
              <a:gdLst/>
              <a:ahLst/>
              <a:cxnLst/>
              <a:rect l="l" t="t" r="r" b="b"/>
              <a:pathLst>
                <a:path w="12096750" h="276225">
                  <a:moveTo>
                    <a:pt x="12096749" y="276224"/>
                  </a:moveTo>
                  <a:lnTo>
                    <a:pt x="0" y="276224"/>
                  </a:lnTo>
                  <a:lnTo>
                    <a:pt x="0" y="0"/>
                  </a:lnTo>
                  <a:lnTo>
                    <a:pt x="12096749" y="0"/>
                  </a:lnTo>
                  <a:lnTo>
                    <a:pt x="12096749" y="276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57149" y="6581774"/>
              <a:ext cx="12096750" cy="9525"/>
            </a:xfrm>
            <a:custGeom>
              <a:avLst/>
              <a:gdLst/>
              <a:ahLst/>
              <a:cxnLst/>
              <a:rect l="l" t="t" r="r" b="b"/>
              <a:pathLst>
                <a:path w="12096750" h="9525">
                  <a:moveTo>
                    <a:pt x="120967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096749" y="0"/>
                  </a:lnTo>
                  <a:lnTo>
                    <a:pt x="12096749" y="952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615949" y="6635750"/>
            <a:ext cx="588454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MONOLITH</a:t>
            </a:r>
            <a:r>
              <a:rPr dirty="0" sz="800" spc="4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DAPH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Decor</a:t>
            </a:r>
            <a:r>
              <a:rPr dirty="0" sz="800" spc="-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AI</a:t>
            </a:r>
            <a:r>
              <a:rPr dirty="0" sz="800" spc="-1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Agent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Programme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SC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Review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2569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Section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50.4–50.5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Phase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2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PDD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 spc="4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Budget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per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SC-2032-</a:t>
            </a:r>
            <a:r>
              <a:rPr dirty="0" sz="800" spc="-25">
                <a:solidFill>
                  <a:srgbClr val="8B8B8B"/>
                </a:solidFill>
                <a:latin typeface="Arial"/>
                <a:cs typeface="Arial"/>
              </a:rPr>
              <a:t>XX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53898" y="0"/>
            <a:ext cx="50800" cy="6858000"/>
          </a:xfrm>
          <a:custGeom>
            <a:avLst/>
            <a:gdLst/>
            <a:ahLst/>
            <a:cxnLst/>
            <a:rect l="l" t="t" r="r" b="b"/>
            <a:pathLst>
              <a:path w="50800" h="6858000">
                <a:moveTo>
                  <a:pt x="50292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50292" y="0"/>
                </a:lnTo>
                <a:lnTo>
                  <a:pt x="50292" y="68579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53900" cy="6858000"/>
            <a:chOff x="0" y="0"/>
            <a:chExt cx="12153900" cy="6858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150" cy="6858000"/>
            </a:xfrm>
            <a:custGeom>
              <a:avLst/>
              <a:gdLst/>
              <a:ahLst/>
              <a:cxnLst/>
              <a:rect l="l" t="t" r="r" b="b"/>
              <a:pathLst>
                <a:path w="57150" h="6858000">
                  <a:moveTo>
                    <a:pt x="5714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6857999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149" y="0"/>
              <a:ext cx="12096750" cy="1181100"/>
            </a:xfrm>
            <a:custGeom>
              <a:avLst/>
              <a:gdLst/>
              <a:ahLst/>
              <a:cxnLst/>
              <a:rect l="l" t="t" r="r" b="b"/>
              <a:pathLst>
                <a:path w="12096750" h="1181100">
                  <a:moveTo>
                    <a:pt x="12096749" y="1181099"/>
                  </a:moveTo>
                  <a:lnTo>
                    <a:pt x="0" y="1181099"/>
                  </a:lnTo>
                  <a:lnTo>
                    <a:pt x="0" y="0"/>
                  </a:lnTo>
                  <a:lnTo>
                    <a:pt x="12096749" y="0"/>
                  </a:lnTo>
                  <a:lnTo>
                    <a:pt x="12096749" y="1181099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15949" y="168275"/>
            <a:ext cx="4580890" cy="836930"/>
          </a:xfrm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280"/>
              </a:spcBef>
            </a:pPr>
            <a:r>
              <a:rPr dirty="0"/>
              <a:t>Phase 2 Governance &amp; </a:t>
            </a:r>
            <a:r>
              <a:rPr dirty="0" spc="-20"/>
              <a:t>Next </a:t>
            </a:r>
            <a:r>
              <a:rPr dirty="0" spc="-10"/>
              <a:t>Steps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18299" y="358775"/>
            <a:ext cx="4607560" cy="37973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219"/>
              </a:spcBef>
            </a:pP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SC</a:t>
            </a:r>
            <a:r>
              <a:rPr dirty="0" sz="1200" spc="-2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Gate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·</a:t>
            </a:r>
            <a:r>
              <a:rPr dirty="0" sz="1200" spc="-2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Programme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Director</a:t>
            </a:r>
            <a:r>
              <a:rPr dirty="0" sz="1200" spc="-2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Nomination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·</a:t>
            </a:r>
            <a:r>
              <a:rPr dirty="0" sz="1200" spc="-2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Phase</a:t>
            </a:r>
            <a:r>
              <a:rPr dirty="0" sz="1200" spc="-20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CAE5B"/>
                </a:solidFill>
                <a:latin typeface="Arial"/>
                <a:cs typeface="Arial"/>
              </a:rPr>
              <a:t>2</a:t>
            </a:r>
            <a:r>
              <a:rPr dirty="0" sz="1200" spc="-25" b="1">
                <a:solidFill>
                  <a:srgbClr val="CCAE5B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CAE5B"/>
                </a:solidFill>
                <a:latin typeface="Arial"/>
                <a:cs typeface="Arial"/>
              </a:rPr>
              <a:t>Readiness Checklist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8649" y="1390649"/>
            <a:ext cx="7105650" cy="2543175"/>
            <a:chOff x="628649" y="1390649"/>
            <a:chExt cx="7105650" cy="2543175"/>
          </a:xfrm>
        </p:grpSpPr>
        <p:sp>
          <p:nvSpPr>
            <p:cNvPr id="9" name="object 9"/>
            <p:cNvSpPr/>
            <p:nvPr/>
          </p:nvSpPr>
          <p:spPr>
            <a:xfrm>
              <a:off x="652462" y="1390649"/>
              <a:ext cx="7082155" cy="2543175"/>
            </a:xfrm>
            <a:custGeom>
              <a:avLst/>
              <a:gdLst/>
              <a:ahLst/>
              <a:cxnLst/>
              <a:rect l="l" t="t" r="r" b="b"/>
              <a:pathLst>
                <a:path w="7082155" h="2543175">
                  <a:moveTo>
                    <a:pt x="7010640" y="2543174"/>
                  </a:moveTo>
                  <a:lnTo>
                    <a:pt x="48947" y="2543174"/>
                  </a:lnTo>
                  <a:lnTo>
                    <a:pt x="45540" y="2542686"/>
                  </a:lnTo>
                  <a:lnTo>
                    <a:pt x="12911" y="2517318"/>
                  </a:lnTo>
                  <a:lnTo>
                    <a:pt x="335" y="2476932"/>
                  </a:lnTo>
                  <a:lnTo>
                    <a:pt x="0" y="2471977"/>
                  </a:lnTo>
                  <a:lnTo>
                    <a:pt x="0" y="2466974"/>
                  </a:lnTo>
                  <a:lnTo>
                    <a:pt x="0" y="71196"/>
                  </a:lnTo>
                  <a:lnTo>
                    <a:pt x="10739" y="29705"/>
                  </a:lnTo>
                  <a:lnTo>
                    <a:pt x="38793" y="2440"/>
                  </a:lnTo>
                  <a:lnTo>
                    <a:pt x="48947" y="0"/>
                  </a:lnTo>
                  <a:lnTo>
                    <a:pt x="7010640" y="0"/>
                  </a:lnTo>
                  <a:lnTo>
                    <a:pt x="7052130" y="15621"/>
                  </a:lnTo>
                  <a:lnTo>
                    <a:pt x="7077950" y="51661"/>
                  </a:lnTo>
                  <a:lnTo>
                    <a:pt x="7081836" y="71196"/>
                  </a:lnTo>
                  <a:lnTo>
                    <a:pt x="7081836" y="2471977"/>
                  </a:lnTo>
                  <a:lnTo>
                    <a:pt x="7066214" y="2513469"/>
                  </a:lnTo>
                  <a:lnTo>
                    <a:pt x="7030173" y="2539288"/>
                  </a:lnTo>
                  <a:lnTo>
                    <a:pt x="7015595" y="2542686"/>
                  </a:lnTo>
                  <a:lnTo>
                    <a:pt x="7010640" y="2543174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8649" y="1390851"/>
              <a:ext cx="72390" cy="2543175"/>
            </a:xfrm>
            <a:custGeom>
              <a:avLst/>
              <a:gdLst/>
              <a:ahLst/>
              <a:cxnLst/>
              <a:rect l="l" t="t" r="r" b="b"/>
              <a:pathLst>
                <a:path w="72390" h="2543175">
                  <a:moveTo>
                    <a:pt x="72031" y="2542772"/>
                  </a:moveTo>
                  <a:lnTo>
                    <a:pt x="33857" y="2530142"/>
                  </a:lnTo>
                  <a:lnTo>
                    <a:pt x="5800" y="2495933"/>
                  </a:lnTo>
                  <a:lnTo>
                    <a:pt x="0" y="2466773"/>
                  </a:lnTo>
                  <a:lnTo>
                    <a:pt x="0" y="75998"/>
                  </a:lnTo>
                  <a:lnTo>
                    <a:pt x="12830" y="33656"/>
                  </a:lnTo>
                  <a:lnTo>
                    <a:pt x="47039" y="5598"/>
                  </a:lnTo>
                  <a:lnTo>
                    <a:pt x="72031" y="0"/>
                  </a:lnTo>
                  <a:lnTo>
                    <a:pt x="68765" y="1732"/>
                  </a:lnTo>
                  <a:lnTo>
                    <a:pt x="61763" y="9465"/>
                  </a:lnTo>
                  <a:lnTo>
                    <a:pt x="49800" y="46838"/>
                  </a:lnTo>
                  <a:lnTo>
                    <a:pt x="47625" y="75998"/>
                  </a:lnTo>
                  <a:lnTo>
                    <a:pt x="47625" y="2466773"/>
                  </a:lnTo>
                  <a:lnTo>
                    <a:pt x="52436" y="2509115"/>
                  </a:lnTo>
                  <a:lnTo>
                    <a:pt x="68765" y="2541039"/>
                  </a:lnTo>
                  <a:lnTo>
                    <a:pt x="72031" y="2542772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66762" y="2181236"/>
              <a:ext cx="6677025" cy="1276350"/>
            </a:xfrm>
            <a:custGeom>
              <a:avLst/>
              <a:gdLst/>
              <a:ahLst/>
              <a:cxnLst/>
              <a:rect l="l" t="t" r="r" b="b"/>
              <a:pathLst>
                <a:path w="6677025" h="1276350">
                  <a:moveTo>
                    <a:pt x="6677025" y="1266825"/>
                  </a:moveTo>
                  <a:lnTo>
                    <a:pt x="0" y="1266825"/>
                  </a:lnTo>
                  <a:lnTo>
                    <a:pt x="0" y="1276350"/>
                  </a:lnTo>
                  <a:lnTo>
                    <a:pt x="6677025" y="1276350"/>
                  </a:lnTo>
                  <a:lnTo>
                    <a:pt x="6677025" y="1266825"/>
                  </a:lnTo>
                  <a:close/>
                </a:path>
                <a:path w="6677025" h="1276350">
                  <a:moveTo>
                    <a:pt x="6677025" y="952500"/>
                  </a:moveTo>
                  <a:lnTo>
                    <a:pt x="0" y="952500"/>
                  </a:lnTo>
                  <a:lnTo>
                    <a:pt x="0" y="962025"/>
                  </a:lnTo>
                  <a:lnTo>
                    <a:pt x="6677025" y="962025"/>
                  </a:lnTo>
                  <a:lnTo>
                    <a:pt x="6677025" y="952500"/>
                  </a:lnTo>
                  <a:close/>
                </a:path>
                <a:path w="6677025" h="1276350">
                  <a:moveTo>
                    <a:pt x="6677025" y="638175"/>
                  </a:moveTo>
                  <a:lnTo>
                    <a:pt x="0" y="638175"/>
                  </a:lnTo>
                  <a:lnTo>
                    <a:pt x="0" y="647700"/>
                  </a:lnTo>
                  <a:lnTo>
                    <a:pt x="6677025" y="647700"/>
                  </a:lnTo>
                  <a:lnTo>
                    <a:pt x="6677025" y="638175"/>
                  </a:lnTo>
                  <a:close/>
                </a:path>
                <a:path w="6677025" h="1276350">
                  <a:moveTo>
                    <a:pt x="6677025" y="314325"/>
                  </a:moveTo>
                  <a:lnTo>
                    <a:pt x="0" y="314325"/>
                  </a:lnTo>
                  <a:lnTo>
                    <a:pt x="0" y="323850"/>
                  </a:lnTo>
                  <a:lnTo>
                    <a:pt x="6677025" y="323850"/>
                  </a:lnTo>
                  <a:lnTo>
                    <a:pt x="6677025" y="314325"/>
                  </a:lnTo>
                  <a:close/>
                </a:path>
                <a:path w="6677025" h="1276350">
                  <a:moveTo>
                    <a:pt x="66770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6677025" y="9525"/>
                  </a:lnTo>
                  <a:lnTo>
                    <a:pt x="6677025" y="0"/>
                  </a:lnTo>
                  <a:close/>
                </a:path>
              </a:pathLst>
            </a:custGeom>
            <a:solidFill>
              <a:srgbClr val="DDDF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Phase 2 Governance Structure (Section </a:t>
            </a:r>
            <a:r>
              <a:rPr dirty="0" spc="-10"/>
              <a:t>50.6)</a:t>
            </a:r>
          </a:p>
          <a:p>
            <a:pPr algn="just" marL="12700" marR="5080">
              <a:lnSpc>
                <a:spcPct val="197600"/>
              </a:lnSpc>
              <a:spcBef>
                <a:spcPts val="225"/>
              </a:spcBef>
              <a:tabLst>
                <a:tab pos="3124200" algn="l"/>
                <a:tab pos="3357879" algn="l"/>
                <a:tab pos="3529965" algn="l"/>
                <a:tab pos="3929379" algn="l"/>
                <a:tab pos="4328795" algn="l"/>
                <a:tab pos="4583430" algn="l"/>
              </a:tabLst>
            </a:pPr>
            <a:r>
              <a:rPr dirty="0" sz="1050"/>
              <a:t>Steering</a:t>
            </a:r>
            <a:r>
              <a:rPr dirty="0" sz="1050" spc="-30"/>
              <a:t> </a:t>
            </a:r>
            <a:r>
              <a:rPr dirty="0" sz="1050"/>
              <a:t>Committee</a:t>
            </a:r>
            <a:r>
              <a:rPr dirty="0" sz="1050" spc="-25"/>
              <a:t> </a:t>
            </a:r>
            <a:r>
              <a:rPr dirty="0" sz="1050" spc="-20"/>
              <a:t>(SC)</a:t>
            </a:r>
            <a:r>
              <a:rPr dirty="0" sz="1050"/>
              <a:t>			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Oversight</a:t>
            </a:r>
            <a:r>
              <a:rPr dirty="0" sz="950" spc="60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authority</a:t>
            </a:r>
            <a:r>
              <a:rPr dirty="0" sz="950" spc="60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·</a:t>
            </a:r>
            <a:r>
              <a:rPr dirty="0" sz="950" spc="6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Gate</a:t>
            </a:r>
            <a:r>
              <a:rPr dirty="0" sz="950" spc="60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releases</a:t>
            </a:r>
            <a:r>
              <a:rPr dirty="0" sz="950" spc="6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·</a:t>
            </a:r>
            <a:r>
              <a:rPr dirty="0" sz="950" spc="60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Escalation</a:t>
            </a:r>
            <a:r>
              <a:rPr dirty="0" sz="950" spc="60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10" b="0">
                <a:solidFill>
                  <a:srgbClr val="545454"/>
                </a:solidFill>
                <a:latin typeface="Arial"/>
                <a:cs typeface="Arial"/>
              </a:rPr>
              <a:t>resolution </a:t>
            </a:r>
            <a:r>
              <a:rPr dirty="0" sz="1050"/>
              <a:t>Phase</a:t>
            </a:r>
            <a:r>
              <a:rPr dirty="0" sz="1050" spc="-35"/>
              <a:t> </a:t>
            </a:r>
            <a:r>
              <a:rPr dirty="0" sz="1050"/>
              <a:t>2</a:t>
            </a:r>
            <a:r>
              <a:rPr dirty="0" sz="1050" spc="-30"/>
              <a:t> </a:t>
            </a:r>
            <a:r>
              <a:rPr dirty="0" sz="1050"/>
              <a:t>Programme</a:t>
            </a:r>
            <a:r>
              <a:rPr dirty="0" sz="1050" spc="-35"/>
              <a:t> </a:t>
            </a:r>
            <a:r>
              <a:rPr dirty="0" sz="1050" spc="-10"/>
              <a:t>Director</a:t>
            </a:r>
            <a:r>
              <a:rPr dirty="0" sz="1050"/>
              <a:t>		</a:t>
            </a:r>
            <a:r>
              <a:rPr dirty="0" sz="950" spc="-10" b="0">
                <a:solidFill>
                  <a:srgbClr val="545454"/>
                </a:solidFill>
                <a:latin typeface="Arial"/>
                <a:cs typeface="Arial"/>
              </a:rPr>
              <a:t>To</a:t>
            </a:r>
            <a:r>
              <a:rPr dirty="0" sz="950" spc="50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be</a:t>
            </a:r>
            <a:r>
              <a:rPr dirty="0" sz="950" spc="5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nominated</a:t>
            </a:r>
            <a:r>
              <a:rPr dirty="0" sz="950" spc="50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via</a:t>
            </a:r>
            <a:r>
              <a:rPr dirty="0" sz="950" spc="5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SC-2032-XX</a:t>
            </a:r>
            <a:r>
              <a:rPr dirty="0" sz="950" spc="50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·</a:t>
            </a:r>
            <a:r>
              <a:rPr dirty="0" sz="950" spc="5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P2-M1–M4</a:t>
            </a:r>
            <a:r>
              <a:rPr dirty="0" sz="950" spc="50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10" b="0">
                <a:solidFill>
                  <a:srgbClr val="545454"/>
                </a:solidFill>
                <a:latin typeface="Arial"/>
                <a:cs typeface="Arial"/>
              </a:rPr>
              <a:t>accountability </a:t>
            </a:r>
            <a:r>
              <a:rPr dirty="0" sz="1050"/>
              <a:t>Nexus</a:t>
            </a:r>
            <a:r>
              <a:rPr dirty="0" sz="1050" spc="-15"/>
              <a:t> </a:t>
            </a:r>
            <a:r>
              <a:rPr dirty="0" sz="1050"/>
              <a:t>(Group</a:t>
            </a:r>
            <a:r>
              <a:rPr dirty="0" sz="1050" spc="-15"/>
              <a:t> </a:t>
            </a:r>
            <a:r>
              <a:rPr dirty="0" sz="1050"/>
              <a:t>D</a:t>
            </a:r>
            <a:r>
              <a:rPr dirty="0" sz="1050" spc="-10"/>
              <a:t> ≥97%)</a:t>
            </a:r>
            <a:r>
              <a:rPr dirty="0" sz="1050"/>
              <a:t>					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Governance</a:t>
            </a:r>
            <a:r>
              <a:rPr dirty="0" sz="950" spc="10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registry</a:t>
            </a:r>
            <a:r>
              <a:rPr dirty="0" sz="950" spc="10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&amp;</a:t>
            </a:r>
            <a:r>
              <a:rPr dirty="0" sz="950" spc="10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compliance</a:t>
            </a:r>
            <a:r>
              <a:rPr dirty="0" sz="950" spc="10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10" b="0">
                <a:solidFill>
                  <a:srgbClr val="545454"/>
                </a:solidFill>
                <a:latin typeface="Arial"/>
                <a:cs typeface="Arial"/>
              </a:rPr>
              <a:t>tracking </a:t>
            </a:r>
            <a:r>
              <a:rPr dirty="0" sz="1050"/>
              <a:t>Guardian</a:t>
            </a:r>
            <a:r>
              <a:rPr dirty="0" sz="1050" spc="-5"/>
              <a:t> </a:t>
            </a:r>
            <a:r>
              <a:rPr dirty="0" sz="1050"/>
              <a:t>(Group</a:t>
            </a:r>
            <a:r>
              <a:rPr dirty="0" sz="1050" spc="-5"/>
              <a:t> </a:t>
            </a:r>
            <a:r>
              <a:rPr dirty="0" sz="1050"/>
              <a:t>D </a:t>
            </a:r>
            <a:r>
              <a:rPr dirty="0" sz="1050" spc="-10"/>
              <a:t>≥97%)</a:t>
            </a:r>
            <a:r>
              <a:rPr dirty="0" sz="1050"/>
              <a:t>				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Risk</a:t>
            </a:r>
            <a:r>
              <a:rPr dirty="0" sz="950" spc="60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&amp;</a:t>
            </a:r>
            <a:r>
              <a:rPr dirty="0" sz="950" spc="6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escalation</a:t>
            </a:r>
            <a:r>
              <a:rPr dirty="0" sz="950" spc="6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management</a:t>
            </a:r>
            <a:r>
              <a:rPr dirty="0" sz="950" spc="60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·</a:t>
            </a:r>
            <a:r>
              <a:rPr dirty="0" sz="950" spc="6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P0/P1</a:t>
            </a:r>
            <a:r>
              <a:rPr dirty="0" sz="950" spc="6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10" b="0">
                <a:solidFill>
                  <a:srgbClr val="545454"/>
                </a:solidFill>
                <a:latin typeface="Arial"/>
                <a:cs typeface="Arial"/>
              </a:rPr>
              <a:t>monitoring </a:t>
            </a:r>
            <a:r>
              <a:rPr dirty="0" sz="1050" spc="-10"/>
              <a:t>Vega</a:t>
            </a:r>
            <a:r>
              <a:rPr dirty="0" sz="1050" spc="-20"/>
              <a:t> </a:t>
            </a:r>
            <a:r>
              <a:rPr dirty="0" sz="1050"/>
              <a:t>(Group</a:t>
            </a:r>
            <a:r>
              <a:rPr dirty="0" sz="1050" spc="-15"/>
              <a:t> </a:t>
            </a:r>
            <a:r>
              <a:rPr dirty="0" sz="1050"/>
              <a:t>D</a:t>
            </a:r>
            <a:r>
              <a:rPr dirty="0" sz="1050" spc="-15"/>
              <a:t> </a:t>
            </a:r>
            <a:r>
              <a:rPr dirty="0" sz="1050" spc="-10"/>
              <a:t>≥97%)</a:t>
            </a:r>
            <a:r>
              <a:rPr dirty="0" sz="1050"/>
              <a:t>						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Financial</a:t>
            </a:r>
            <a:r>
              <a:rPr dirty="0" sz="950" spc="80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controls</a:t>
            </a:r>
            <a:r>
              <a:rPr dirty="0" sz="950" spc="8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&amp;</a:t>
            </a:r>
            <a:r>
              <a:rPr dirty="0" sz="950" spc="80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budget</a:t>
            </a:r>
            <a:r>
              <a:rPr dirty="0" sz="950" spc="8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10" b="0">
                <a:solidFill>
                  <a:srgbClr val="545454"/>
                </a:solidFill>
                <a:latin typeface="Arial"/>
                <a:cs typeface="Arial"/>
              </a:rPr>
              <a:t>monitoring </a:t>
            </a:r>
            <a:r>
              <a:rPr dirty="0" sz="1050"/>
              <a:t>Reporting </a:t>
            </a:r>
            <a:r>
              <a:rPr dirty="0" sz="1050" spc="-10"/>
              <a:t>cadence</a:t>
            </a:r>
            <a:r>
              <a:rPr dirty="0" sz="1050"/>
              <a:t>	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Monthly</a:t>
            </a:r>
            <a:r>
              <a:rPr dirty="0" sz="950" spc="60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progress</a:t>
            </a:r>
            <a:r>
              <a:rPr dirty="0" sz="950" spc="6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report</a:t>
            </a:r>
            <a:r>
              <a:rPr dirty="0" sz="950" spc="6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·</a:t>
            </a:r>
            <a:r>
              <a:rPr dirty="0" sz="950" spc="6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Quarterly</a:t>
            </a:r>
            <a:r>
              <a:rPr dirty="0" sz="950" spc="6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SC</a:t>
            </a:r>
            <a:r>
              <a:rPr dirty="0" sz="950" spc="6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report</a:t>
            </a:r>
            <a:r>
              <a:rPr dirty="0" sz="950" spc="6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50" b="0">
                <a:solidFill>
                  <a:srgbClr val="545454"/>
                </a:solidFill>
                <a:latin typeface="Arial"/>
                <a:cs typeface="Arial"/>
              </a:rPr>
              <a:t>·</a:t>
            </a:r>
            <a:r>
              <a:rPr dirty="0" sz="950" spc="-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b="0">
                <a:solidFill>
                  <a:srgbClr val="545454"/>
                </a:solidFill>
                <a:latin typeface="Arial"/>
                <a:cs typeface="Arial"/>
              </a:rPr>
              <a:t>Ad-hoc</a:t>
            </a:r>
            <a:r>
              <a:rPr dirty="0" sz="950" spc="65" b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950" spc="-10" b="0">
                <a:solidFill>
                  <a:srgbClr val="545454"/>
                </a:solidFill>
                <a:latin typeface="Arial"/>
                <a:cs typeface="Arial"/>
              </a:rPr>
              <a:t>escalation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962899" y="1390650"/>
            <a:ext cx="3619500" cy="3181350"/>
            <a:chOff x="7962899" y="1390650"/>
            <a:chExt cx="3619500" cy="3181350"/>
          </a:xfrm>
        </p:grpSpPr>
        <p:sp>
          <p:nvSpPr>
            <p:cNvPr id="14" name="object 14"/>
            <p:cNvSpPr/>
            <p:nvPr/>
          </p:nvSpPr>
          <p:spPr>
            <a:xfrm>
              <a:off x="7962899" y="1409699"/>
              <a:ext cx="3619500" cy="3162300"/>
            </a:xfrm>
            <a:custGeom>
              <a:avLst/>
              <a:gdLst/>
              <a:ahLst/>
              <a:cxnLst/>
              <a:rect l="l" t="t" r="r" b="b"/>
              <a:pathLst>
                <a:path w="3619500" h="3162300">
                  <a:moveTo>
                    <a:pt x="3548302" y="3162299"/>
                  </a:moveTo>
                  <a:lnTo>
                    <a:pt x="71196" y="3162299"/>
                  </a:lnTo>
                  <a:lnTo>
                    <a:pt x="66240" y="3161811"/>
                  </a:lnTo>
                  <a:lnTo>
                    <a:pt x="29703" y="3146677"/>
                  </a:lnTo>
                  <a:lnTo>
                    <a:pt x="3884" y="3110636"/>
                  </a:lnTo>
                  <a:lnTo>
                    <a:pt x="0" y="3091102"/>
                  </a:lnTo>
                  <a:lnTo>
                    <a:pt x="0" y="3086099"/>
                  </a:lnTo>
                  <a:lnTo>
                    <a:pt x="0" y="53397"/>
                  </a:lnTo>
                  <a:lnTo>
                    <a:pt x="18779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548302" y="0"/>
                  </a:lnTo>
                  <a:lnTo>
                    <a:pt x="3589792" y="11716"/>
                  </a:lnTo>
                  <a:lnTo>
                    <a:pt x="3617056" y="42320"/>
                  </a:lnTo>
                  <a:lnTo>
                    <a:pt x="3619498" y="53397"/>
                  </a:lnTo>
                  <a:lnTo>
                    <a:pt x="3619498" y="3091102"/>
                  </a:lnTo>
                  <a:lnTo>
                    <a:pt x="3603876" y="3132593"/>
                  </a:lnTo>
                  <a:lnTo>
                    <a:pt x="3567836" y="3158413"/>
                  </a:lnTo>
                  <a:lnTo>
                    <a:pt x="3553257" y="3161811"/>
                  </a:lnTo>
                  <a:lnTo>
                    <a:pt x="3548302" y="3162299"/>
                  </a:lnTo>
                  <a:close/>
                </a:path>
              </a:pathLst>
            </a:custGeom>
            <a:solidFill>
              <a:srgbClr val="F5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963177" y="1390650"/>
              <a:ext cx="3619500" cy="70485"/>
            </a:xfrm>
            <a:custGeom>
              <a:avLst/>
              <a:gdLst/>
              <a:ahLst/>
              <a:cxnLst/>
              <a:rect l="l" t="t" r="r" b="b"/>
              <a:pathLst>
                <a:path w="3619500" h="70484">
                  <a:moveTo>
                    <a:pt x="0" y="70450"/>
                  </a:moveTo>
                  <a:lnTo>
                    <a:pt x="12550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3543022" y="0"/>
                  </a:lnTo>
                  <a:lnTo>
                    <a:pt x="3585363" y="12829"/>
                  </a:lnTo>
                  <a:lnTo>
                    <a:pt x="360893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3619500" h="70484">
                  <a:moveTo>
                    <a:pt x="3618944" y="70450"/>
                  </a:moveTo>
                  <a:lnTo>
                    <a:pt x="3585363" y="44514"/>
                  </a:lnTo>
                  <a:lnTo>
                    <a:pt x="3543022" y="38099"/>
                  </a:lnTo>
                  <a:lnTo>
                    <a:pt x="3608930" y="38099"/>
                  </a:lnTo>
                  <a:lnTo>
                    <a:pt x="3618859" y="68693"/>
                  </a:lnTo>
                  <a:lnTo>
                    <a:pt x="3618944" y="70450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8140700" y="1568450"/>
            <a:ext cx="173164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Next Steps (Q3 </a:t>
            </a:r>
            <a:r>
              <a:rPr dirty="0" sz="1350" spc="-10" b="1">
                <a:solidFill>
                  <a:srgbClr val="1F2D59"/>
                </a:solidFill>
                <a:latin typeface="Arial"/>
                <a:cs typeface="Arial"/>
              </a:rPr>
              <a:t>2032)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153399" y="193357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8" y="260959"/>
                </a:lnTo>
                <a:lnTo>
                  <a:pt x="59263" y="244226"/>
                </a:lnTo>
                <a:lnTo>
                  <a:pt x="30267" y="217947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59" y="126798"/>
                </a:lnTo>
                <a:lnTo>
                  <a:pt x="7790" y="88432"/>
                </a:lnTo>
                <a:lnTo>
                  <a:pt x="26245" y="53906"/>
                </a:lnTo>
                <a:lnTo>
                  <a:pt x="53905" y="26246"/>
                </a:lnTo>
                <a:lnTo>
                  <a:pt x="88431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2" y="26245"/>
                </a:lnTo>
                <a:lnTo>
                  <a:pt x="240452" y="53906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7" y="178266"/>
                </a:lnTo>
                <a:lnTo>
                  <a:pt x="240452" y="212793"/>
                </a:lnTo>
                <a:lnTo>
                  <a:pt x="212792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236842" y="1968500"/>
            <a:ext cx="996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 b="1">
                <a:solidFill>
                  <a:srgbClr val="1F2D59"/>
                </a:solidFill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21700" y="1836029"/>
            <a:ext cx="2675890" cy="63055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SC</a:t>
            </a:r>
            <a:r>
              <a:rPr dirty="0" sz="1200" spc="-3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Resolution</a:t>
            </a:r>
            <a:r>
              <a:rPr dirty="0" sz="1200" spc="-3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SC-2032-</a:t>
            </a:r>
            <a:r>
              <a:rPr dirty="0" sz="1200" spc="-25" b="1">
                <a:solidFill>
                  <a:srgbClr val="1F2D59"/>
                </a:solidFill>
                <a:latin typeface="Arial"/>
                <a:cs typeface="Arial"/>
              </a:rPr>
              <a:t>XX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18400"/>
              </a:lnSpc>
              <a:spcBef>
                <a:spcPts val="175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Pass</a:t>
            </a:r>
            <a:r>
              <a:rPr dirty="0" sz="950" spc="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Phase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2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authorisation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resolution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at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this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666666"/>
                </a:solidFill>
                <a:latin typeface="Arial"/>
                <a:cs typeface="Arial"/>
              </a:rPr>
              <a:t>SC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meeting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153399" y="259079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8" y="260958"/>
                </a:lnTo>
                <a:lnTo>
                  <a:pt x="59263" y="244226"/>
                </a:lnTo>
                <a:lnTo>
                  <a:pt x="30267" y="217946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59" y="126798"/>
                </a:lnTo>
                <a:lnTo>
                  <a:pt x="7790" y="88432"/>
                </a:lnTo>
                <a:lnTo>
                  <a:pt x="26245" y="53906"/>
                </a:lnTo>
                <a:lnTo>
                  <a:pt x="53905" y="26246"/>
                </a:lnTo>
                <a:lnTo>
                  <a:pt x="88431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2" y="26246"/>
                </a:lnTo>
                <a:lnTo>
                  <a:pt x="240452" y="53906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7" y="178266"/>
                </a:lnTo>
                <a:lnTo>
                  <a:pt x="240452" y="212793"/>
                </a:lnTo>
                <a:lnTo>
                  <a:pt x="212792" y="240453"/>
                </a:lnTo>
                <a:lnTo>
                  <a:pt x="178266" y="258907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236842" y="2625725"/>
            <a:ext cx="996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 b="1">
                <a:solidFill>
                  <a:srgbClr val="1F2D59"/>
                </a:solidFill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21700" y="2493254"/>
            <a:ext cx="2799715" cy="45910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Programme Director </a:t>
            </a:r>
            <a:r>
              <a:rPr dirty="0" sz="1200" spc="-10" b="1">
                <a:solidFill>
                  <a:srgbClr val="1F2D59"/>
                </a:solidFill>
                <a:latin typeface="Arial"/>
                <a:cs typeface="Arial"/>
              </a:rPr>
              <a:t>Nomination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Nominate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Phase</a:t>
            </a:r>
            <a:r>
              <a:rPr dirty="0" sz="950" spc="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2</a:t>
            </a:r>
            <a:r>
              <a:rPr dirty="0" sz="950" spc="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PD</a:t>
            </a:r>
            <a:r>
              <a:rPr dirty="0" sz="950" spc="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within</a:t>
            </a:r>
            <a:r>
              <a:rPr dirty="0" sz="950" spc="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4</a:t>
            </a:r>
            <a:r>
              <a:rPr dirty="0" sz="950" spc="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weeks</a:t>
            </a:r>
            <a:r>
              <a:rPr dirty="0" sz="950" spc="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dirty="0" sz="950" spc="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resolution</a:t>
            </a:r>
            <a:endParaRPr sz="9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153399" y="308609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8" y="260958"/>
                </a:lnTo>
                <a:lnTo>
                  <a:pt x="59263" y="244226"/>
                </a:lnTo>
                <a:lnTo>
                  <a:pt x="30267" y="217947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59" y="126798"/>
                </a:lnTo>
                <a:lnTo>
                  <a:pt x="7790" y="88432"/>
                </a:lnTo>
                <a:lnTo>
                  <a:pt x="26245" y="53906"/>
                </a:lnTo>
                <a:lnTo>
                  <a:pt x="53905" y="26246"/>
                </a:lnTo>
                <a:lnTo>
                  <a:pt x="88431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2" y="26245"/>
                </a:lnTo>
                <a:lnTo>
                  <a:pt x="240452" y="53906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7" y="178266"/>
                </a:lnTo>
                <a:lnTo>
                  <a:pt x="240452" y="212793"/>
                </a:lnTo>
                <a:lnTo>
                  <a:pt x="212792" y="240453"/>
                </a:lnTo>
                <a:lnTo>
                  <a:pt x="178266" y="258907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236842" y="3121025"/>
            <a:ext cx="996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 b="1">
                <a:solidFill>
                  <a:srgbClr val="1F2D59"/>
                </a:solidFill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21700" y="2988554"/>
            <a:ext cx="2572385" cy="63055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ct val="122600"/>
              </a:lnSpc>
              <a:spcBef>
                <a:spcPts val="215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P2-CHK-01–12 Readiness </a:t>
            </a:r>
            <a:r>
              <a:rPr dirty="0" sz="1200" spc="-20" b="1">
                <a:solidFill>
                  <a:srgbClr val="1F2D59"/>
                </a:solidFill>
                <a:latin typeface="Arial"/>
                <a:cs typeface="Arial"/>
              </a:rPr>
              <a:t>Gate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Complete</a:t>
            </a:r>
            <a:r>
              <a:rPr dirty="0" sz="950" spc="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12-item</a:t>
            </a:r>
            <a:r>
              <a:rPr dirty="0" sz="950" spc="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Phase</a:t>
            </a:r>
            <a:r>
              <a:rPr dirty="0" sz="950" spc="9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2</a:t>
            </a:r>
            <a:r>
              <a:rPr dirty="0" sz="950" spc="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readiness</a:t>
            </a:r>
            <a:r>
              <a:rPr dirty="0" sz="950" spc="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checklist (S50.7)</a:t>
            </a:r>
            <a:endParaRPr sz="9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153399" y="374332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8" y="260958"/>
                </a:lnTo>
                <a:lnTo>
                  <a:pt x="59263" y="244226"/>
                </a:lnTo>
                <a:lnTo>
                  <a:pt x="30267" y="217947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59" y="126798"/>
                </a:lnTo>
                <a:lnTo>
                  <a:pt x="7790" y="88432"/>
                </a:lnTo>
                <a:lnTo>
                  <a:pt x="26245" y="53906"/>
                </a:lnTo>
                <a:lnTo>
                  <a:pt x="53905" y="26245"/>
                </a:lnTo>
                <a:lnTo>
                  <a:pt x="88431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2" y="26245"/>
                </a:lnTo>
                <a:lnTo>
                  <a:pt x="240452" y="53905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0"/>
                </a:lnTo>
                <a:lnTo>
                  <a:pt x="258907" y="178266"/>
                </a:lnTo>
                <a:lnTo>
                  <a:pt x="240452" y="212793"/>
                </a:lnTo>
                <a:lnTo>
                  <a:pt x="212792" y="240453"/>
                </a:lnTo>
                <a:lnTo>
                  <a:pt x="178266" y="258907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8236842" y="3778250"/>
            <a:ext cx="996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 b="1">
                <a:solidFill>
                  <a:srgbClr val="1F2D59"/>
                </a:solidFill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21700" y="3645779"/>
            <a:ext cx="2625090" cy="63055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Budget</a:t>
            </a:r>
            <a:r>
              <a:rPr dirty="0" sz="1200" spc="-1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Release</a:t>
            </a:r>
            <a:r>
              <a:rPr dirty="0" sz="1200" spc="-1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F2D59"/>
                </a:solidFill>
                <a:latin typeface="Arial"/>
                <a:cs typeface="Arial"/>
              </a:rPr>
              <a:t>Q1</a:t>
            </a:r>
            <a:r>
              <a:rPr dirty="0" sz="1200" spc="-15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1F2D59"/>
                </a:solidFill>
                <a:latin typeface="Arial"/>
                <a:cs typeface="Arial"/>
              </a:rPr>
              <a:t>2033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18400"/>
              </a:lnSpc>
              <a:spcBef>
                <a:spcPts val="175"/>
              </a:spcBef>
            </a:pP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Finance</a:t>
            </a:r>
            <a:r>
              <a:rPr dirty="0" sz="950" spc="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release</a:t>
            </a:r>
            <a:r>
              <a:rPr dirty="0" sz="950" spc="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THB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2.5M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first</a:t>
            </a:r>
            <a:r>
              <a:rPr dirty="0" sz="950" spc="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tranche</a:t>
            </a:r>
            <a:r>
              <a:rPr dirty="0" sz="950" spc="7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upon 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readiness</a:t>
            </a:r>
            <a:r>
              <a:rPr dirty="0" sz="950" spc="1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66666"/>
                </a:solidFill>
                <a:latin typeface="Arial"/>
                <a:cs typeface="Arial"/>
              </a:rPr>
              <a:t>confirmation</a:t>
            </a:r>
            <a:endParaRPr sz="9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62899" y="4705349"/>
            <a:ext cx="3619500" cy="2124075"/>
          </a:xfrm>
          <a:custGeom>
            <a:avLst/>
            <a:gdLst/>
            <a:ahLst/>
            <a:cxnLst/>
            <a:rect l="l" t="t" r="r" b="b"/>
            <a:pathLst>
              <a:path w="3619500" h="2124075">
                <a:moveTo>
                  <a:pt x="3548302" y="2124074"/>
                </a:moveTo>
                <a:lnTo>
                  <a:pt x="71196" y="2124074"/>
                </a:lnTo>
                <a:lnTo>
                  <a:pt x="66240" y="2123586"/>
                </a:lnTo>
                <a:lnTo>
                  <a:pt x="29703" y="2108452"/>
                </a:lnTo>
                <a:lnTo>
                  <a:pt x="3884" y="2072412"/>
                </a:lnTo>
                <a:lnTo>
                  <a:pt x="0" y="2052878"/>
                </a:lnTo>
                <a:lnTo>
                  <a:pt x="0" y="2047874"/>
                </a:lnTo>
                <a:lnTo>
                  <a:pt x="0" y="71196"/>
                </a:lnTo>
                <a:lnTo>
                  <a:pt x="15620" y="29704"/>
                </a:lnTo>
                <a:lnTo>
                  <a:pt x="51660" y="3885"/>
                </a:lnTo>
                <a:lnTo>
                  <a:pt x="71196" y="0"/>
                </a:lnTo>
                <a:lnTo>
                  <a:pt x="3548302" y="0"/>
                </a:lnTo>
                <a:lnTo>
                  <a:pt x="3589792" y="15621"/>
                </a:lnTo>
                <a:lnTo>
                  <a:pt x="3615611" y="51661"/>
                </a:lnTo>
                <a:lnTo>
                  <a:pt x="3619498" y="71196"/>
                </a:lnTo>
                <a:lnTo>
                  <a:pt x="3619498" y="2052878"/>
                </a:lnTo>
                <a:lnTo>
                  <a:pt x="3603876" y="2094369"/>
                </a:lnTo>
                <a:lnTo>
                  <a:pt x="3567836" y="2120188"/>
                </a:lnTo>
                <a:lnTo>
                  <a:pt x="3553257" y="2123586"/>
                </a:lnTo>
                <a:lnTo>
                  <a:pt x="3548302" y="2124074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140700" y="4845050"/>
            <a:ext cx="19215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C8A74B"/>
                </a:solidFill>
                <a:latin typeface="Arial"/>
                <a:cs typeface="Arial"/>
              </a:rPr>
              <a:t>Phase 2 Pre-</a:t>
            </a:r>
            <a:r>
              <a:rPr dirty="0" sz="1350" spc="-10" b="1">
                <a:solidFill>
                  <a:srgbClr val="C8A74B"/>
                </a:solidFill>
                <a:latin typeface="Arial"/>
                <a:cs typeface="Arial"/>
              </a:rPr>
              <a:t>conditions</a:t>
            </a:r>
            <a:endParaRPr sz="13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40700" y="5154872"/>
            <a:ext cx="152400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solidFill>
                  <a:srgbClr val="C8A74B"/>
                </a:solidFill>
                <a:latin typeface="Segoe UI Emoji"/>
                <a:cs typeface="Segoe UI Emoji"/>
              </a:rPr>
              <a:t>✓</a:t>
            </a:r>
            <a:endParaRPr sz="1300">
              <a:latin typeface="Segoe UI Emoji"/>
              <a:cs typeface="Segoe UI Emoj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40700" y="5593022"/>
            <a:ext cx="152400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0">
                <a:solidFill>
                  <a:srgbClr val="C8A74B"/>
                </a:solidFill>
                <a:latin typeface="Segoe UI Emoji"/>
                <a:cs typeface="Segoe UI Emoji"/>
              </a:rPr>
              <a:t>✓</a:t>
            </a:r>
            <a:endParaRPr sz="1300">
              <a:latin typeface="Segoe UI Emoji"/>
              <a:cs typeface="Segoe UI Emoj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40700" y="5809935"/>
            <a:ext cx="152400" cy="60960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300" spc="-50">
                <a:solidFill>
                  <a:srgbClr val="C8A74B"/>
                </a:solidFill>
                <a:latin typeface="Segoe UI Emoji"/>
                <a:cs typeface="Segoe UI Emoji"/>
              </a:rPr>
              <a:t>✓</a:t>
            </a:r>
            <a:endParaRPr sz="13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350" spc="-50" b="1">
                <a:solidFill>
                  <a:srgbClr val="C8A74B"/>
                </a:solidFill>
                <a:latin typeface="Arial"/>
                <a:cs typeface="Arial"/>
              </a:rPr>
              <a:t>&gt;</a:t>
            </a:r>
            <a:endParaRPr sz="13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59800" y="5130800"/>
            <a:ext cx="2559050" cy="142748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436880">
              <a:lnSpc>
                <a:spcPts val="1350"/>
              </a:lnSpc>
              <a:spcBef>
                <a:spcPts val="219"/>
              </a:spcBef>
            </a:pPr>
            <a:r>
              <a:rPr dirty="0" sz="1200">
                <a:solidFill>
                  <a:srgbClr val="1A1A2E"/>
                </a:solidFill>
                <a:latin typeface="Arial"/>
                <a:cs typeface="Arial"/>
              </a:rPr>
              <a:t>Phase 1 Completion </a:t>
            </a:r>
            <a:r>
              <a:rPr dirty="0" sz="1200" spc="-10">
                <a:solidFill>
                  <a:srgbClr val="1A1A2E"/>
                </a:solidFill>
                <a:latin typeface="Arial"/>
                <a:cs typeface="Arial"/>
              </a:rPr>
              <a:t>Certificate acknowledged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200">
                <a:solidFill>
                  <a:srgbClr val="1A1A2E"/>
                </a:solidFill>
                <a:latin typeface="Arial"/>
                <a:cs typeface="Arial"/>
              </a:rPr>
              <a:t>AMD4-CLOSE-01–05</a:t>
            </a:r>
            <a:r>
              <a:rPr dirty="0" sz="1200" spc="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1A1A2E"/>
                </a:solidFill>
                <a:latin typeface="Arial"/>
                <a:cs typeface="Arial"/>
              </a:rPr>
              <a:t>all</a:t>
            </a:r>
            <a:r>
              <a:rPr dirty="0" sz="1200" spc="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1A1A2E"/>
                </a:solidFill>
                <a:latin typeface="Arial"/>
                <a:cs typeface="Arial"/>
              </a:rPr>
              <a:t>completed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>
                <a:solidFill>
                  <a:srgbClr val="1A1A2E"/>
                </a:solidFill>
                <a:latin typeface="Arial"/>
                <a:cs typeface="Arial"/>
              </a:rPr>
              <a:t>Coverage 68% independently </a:t>
            </a:r>
            <a:r>
              <a:rPr dirty="0" sz="1200" spc="-10">
                <a:solidFill>
                  <a:srgbClr val="1A1A2E"/>
                </a:solidFill>
                <a:latin typeface="Arial"/>
                <a:cs typeface="Arial"/>
              </a:rPr>
              <a:t>verified</a:t>
            </a:r>
            <a:endParaRPr sz="1200">
              <a:latin typeface="Arial"/>
              <a:cs typeface="Arial"/>
            </a:endParaRPr>
          </a:p>
          <a:p>
            <a:pPr marL="12700" marR="318135">
              <a:lnSpc>
                <a:spcPts val="1350"/>
              </a:lnSpc>
              <a:spcBef>
                <a:spcPts val="1080"/>
              </a:spcBef>
            </a:pPr>
            <a:r>
              <a:rPr dirty="0" sz="1200">
                <a:solidFill>
                  <a:srgbClr val="1A1A2E"/>
                </a:solidFill>
                <a:latin typeface="Arial"/>
                <a:cs typeface="Arial"/>
              </a:rPr>
              <a:t>SC-2032-XX to be passed at </a:t>
            </a:r>
            <a:r>
              <a:rPr dirty="0" sz="1200" spc="-20">
                <a:solidFill>
                  <a:srgbClr val="1A1A2E"/>
                </a:solidFill>
                <a:latin typeface="Arial"/>
                <a:cs typeface="Arial"/>
              </a:rPr>
              <a:t>this </a:t>
            </a:r>
            <a:r>
              <a:rPr dirty="0" sz="1200" spc="-10">
                <a:solidFill>
                  <a:srgbClr val="1A1A2E"/>
                </a:solidFill>
                <a:latin typeface="Arial"/>
                <a:cs typeface="Arial"/>
              </a:rPr>
              <a:t>meeting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7149" y="6829424"/>
            <a:ext cx="12096750" cy="9525"/>
          </a:xfrm>
          <a:custGeom>
            <a:avLst/>
            <a:gdLst/>
            <a:ahLst/>
            <a:cxnLst/>
            <a:rect l="l" t="t" r="r" b="b"/>
            <a:pathLst>
              <a:path w="12096750" h="9525">
                <a:moveTo>
                  <a:pt x="12096749" y="9524"/>
                </a:moveTo>
                <a:lnTo>
                  <a:pt x="0" y="9524"/>
                </a:lnTo>
                <a:lnTo>
                  <a:pt x="0" y="0"/>
                </a:lnTo>
                <a:lnTo>
                  <a:pt x="12096749" y="0"/>
                </a:lnTo>
                <a:lnTo>
                  <a:pt x="12096749" y="9524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49" y="0"/>
            <a:ext cx="12147550" cy="6858000"/>
          </a:xfrm>
          <a:custGeom>
            <a:avLst/>
            <a:gdLst/>
            <a:ahLst/>
            <a:cxnLst/>
            <a:rect l="l" t="t" r="r" b="b"/>
            <a:pathLst>
              <a:path w="12147550" h="6858000">
                <a:moveTo>
                  <a:pt x="0" y="6857999"/>
                </a:moveTo>
                <a:lnTo>
                  <a:pt x="12147040" y="6857999"/>
                </a:lnTo>
                <a:lnTo>
                  <a:pt x="1214704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153898" y="0"/>
            <a:ext cx="50800" cy="6858000"/>
          </a:xfrm>
          <a:custGeom>
            <a:avLst/>
            <a:gdLst/>
            <a:ahLst/>
            <a:cxnLst/>
            <a:rect l="l" t="t" r="r" b="b"/>
            <a:pathLst>
              <a:path w="50800" h="6858000">
                <a:moveTo>
                  <a:pt x="50292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50292" y="0"/>
                </a:lnTo>
                <a:lnTo>
                  <a:pt x="50292" y="68579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53900" cy="6858000"/>
            <a:chOff x="0" y="0"/>
            <a:chExt cx="12153900" cy="68580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150" cy="6858000"/>
            </a:xfrm>
            <a:custGeom>
              <a:avLst/>
              <a:gdLst/>
              <a:ahLst/>
              <a:cxnLst/>
              <a:rect l="l" t="t" r="r" b="b"/>
              <a:pathLst>
                <a:path w="57150" h="6858000">
                  <a:moveTo>
                    <a:pt x="5714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6857999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7149" y="0"/>
              <a:ext cx="12096750" cy="1085850"/>
            </a:xfrm>
            <a:custGeom>
              <a:avLst/>
              <a:gdLst/>
              <a:ahLst/>
              <a:cxnLst/>
              <a:rect l="l" t="t" r="r" b="b"/>
              <a:pathLst>
                <a:path w="12096750" h="1085850">
                  <a:moveTo>
                    <a:pt x="12096749" y="1085849"/>
                  </a:moveTo>
                  <a:lnTo>
                    <a:pt x="0" y="1085849"/>
                  </a:lnTo>
                  <a:lnTo>
                    <a:pt x="0" y="0"/>
                  </a:lnTo>
                  <a:lnTo>
                    <a:pt x="12096749" y="0"/>
                  </a:lnTo>
                  <a:lnTo>
                    <a:pt x="12096749" y="1085849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3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dirty="0" sz="3000">
                <a:solidFill>
                  <a:srgbClr val="C8A74B"/>
                </a:solidFill>
              </a:rPr>
              <a:t>Recommendation</a:t>
            </a:r>
            <a:r>
              <a:rPr dirty="0" sz="3000" spc="-15">
                <a:solidFill>
                  <a:srgbClr val="C8A74B"/>
                </a:solidFill>
              </a:rPr>
              <a:t> </a:t>
            </a:r>
            <a:r>
              <a:rPr dirty="0" sz="3000">
                <a:solidFill>
                  <a:srgbClr val="C8A74B"/>
                </a:solidFill>
              </a:rPr>
              <a:t>for</a:t>
            </a:r>
            <a:r>
              <a:rPr dirty="0" sz="3000" spc="-15">
                <a:solidFill>
                  <a:srgbClr val="C8A74B"/>
                </a:solidFill>
              </a:rPr>
              <a:t> </a:t>
            </a:r>
            <a:r>
              <a:rPr dirty="0" sz="3000">
                <a:solidFill>
                  <a:srgbClr val="C8A74B"/>
                </a:solidFill>
              </a:rPr>
              <a:t>SC</a:t>
            </a:r>
            <a:r>
              <a:rPr dirty="0" sz="3000" spc="-125">
                <a:solidFill>
                  <a:srgbClr val="C8A74B"/>
                </a:solidFill>
              </a:rPr>
              <a:t> </a:t>
            </a:r>
            <a:r>
              <a:rPr dirty="0" sz="3000" spc="-10">
                <a:solidFill>
                  <a:srgbClr val="C8A74B"/>
                </a:solidFill>
              </a:rPr>
              <a:t>Approval</a:t>
            </a:r>
            <a:endParaRPr sz="300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200" b="0">
                <a:solidFill>
                  <a:srgbClr val="FEFEFE"/>
                </a:solidFill>
                <a:latin typeface="Arial"/>
                <a:cs typeface="Arial"/>
              </a:rPr>
              <a:t>Three</a:t>
            </a:r>
            <a:r>
              <a:rPr dirty="0" sz="1200" spc="-15" b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200" b="0">
                <a:solidFill>
                  <a:srgbClr val="FEFEFE"/>
                </a:solidFill>
                <a:latin typeface="Arial"/>
                <a:cs typeface="Arial"/>
              </a:rPr>
              <a:t>items</a:t>
            </a:r>
            <a:r>
              <a:rPr dirty="0" sz="1200" spc="-15" b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200" b="0">
                <a:solidFill>
                  <a:srgbClr val="FEFEFE"/>
                </a:solidFill>
                <a:latin typeface="Arial"/>
                <a:cs typeface="Arial"/>
              </a:rPr>
              <a:t>for</a:t>
            </a:r>
            <a:r>
              <a:rPr dirty="0" sz="1200" spc="-15" b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200" b="0">
                <a:solidFill>
                  <a:srgbClr val="FEFEFE"/>
                </a:solidFill>
                <a:latin typeface="Arial"/>
                <a:cs typeface="Arial"/>
              </a:rPr>
              <a:t>resolution</a:t>
            </a:r>
            <a:r>
              <a:rPr dirty="0" sz="1200" spc="-10" b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200" b="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1200" spc="-15" b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200" b="0">
                <a:solidFill>
                  <a:srgbClr val="FEFEFE"/>
                </a:solidFill>
                <a:latin typeface="Arial"/>
                <a:cs typeface="Arial"/>
              </a:rPr>
              <a:t>SC</a:t>
            </a:r>
            <a:r>
              <a:rPr dirty="0" sz="1200" spc="-15" b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200" b="0">
                <a:solidFill>
                  <a:srgbClr val="FEFEFE"/>
                </a:solidFill>
                <a:latin typeface="Arial"/>
                <a:cs typeface="Arial"/>
              </a:rPr>
              <a:t>Meeting</a:t>
            </a:r>
            <a:r>
              <a:rPr dirty="0" sz="1200" spc="-15" b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200" b="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1200" spc="-10" b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200" spc="95" b="0">
                <a:solidFill>
                  <a:srgbClr val="FEFEFE"/>
                </a:solidFill>
                <a:latin typeface="Microsoft Sans Serif"/>
                <a:cs typeface="Microsoft Sans Serif"/>
              </a:rPr>
              <a:t>กันยายน</a:t>
            </a:r>
            <a:r>
              <a:rPr dirty="0" sz="1200" spc="-5" b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0" b="0">
                <a:solidFill>
                  <a:srgbClr val="FEFEFE"/>
                </a:solidFill>
                <a:latin typeface="Arial"/>
                <a:cs typeface="Arial"/>
              </a:rPr>
              <a:t>2569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8649" y="1295399"/>
            <a:ext cx="7391400" cy="4857750"/>
            <a:chOff x="628649" y="1295399"/>
            <a:chExt cx="7391400" cy="4857750"/>
          </a:xfrm>
        </p:grpSpPr>
        <p:sp>
          <p:nvSpPr>
            <p:cNvPr id="9" name="object 9"/>
            <p:cNvSpPr/>
            <p:nvPr/>
          </p:nvSpPr>
          <p:spPr>
            <a:xfrm>
              <a:off x="638174" y="1304924"/>
              <a:ext cx="7372350" cy="4838700"/>
            </a:xfrm>
            <a:custGeom>
              <a:avLst/>
              <a:gdLst/>
              <a:ahLst/>
              <a:cxnLst/>
              <a:rect l="l" t="t" r="r" b="b"/>
              <a:pathLst>
                <a:path w="7372350" h="4838700">
                  <a:moveTo>
                    <a:pt x="7274453" y="4838699"/>
                  </a:moveTo>
                  <a:lnTo>
                    <a:pt x="97895" y="4838699"/>
                  </a:lnTo>
                  <a:lnTo>
                    <a:pt x="91081" y="4838028"/>
                  </a:lnTo>
                  <a:lnTo>
                    <a:pt x="52285" y="4824863"/>
                  </a:lnTo>
                  <a:lnTo>
                    <a:pt x="21479" y="4797854"/>
                  </a:lnTo>
                  <a:lnTo>
                    <a:pt x="3355" y="4761111"/>
                  </a:lnTo>
                  <a:lnTo>
                    <a:pt x="0" y="4740803"/>
                  </a:lnTo>
                  <a:lnTo>
                    <a:pt x="0" y="4733924"/>
                  </a:lnTo>
                  <a:lnTo>
                    <a:pt x="0" y="97895"/>
                  </a:lnTo>
                  <a:lnTo>
                    <a:pt x="10608" y="58323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7274453" y="0"/>
                  </a:lnTo>
                  <a:lnTo>
                    <a:pt x="7314025" y="10608"/>
                  </a:lnTo>
                  <a:lnTo>
                    <a:pt x="7346524" y="35552"/>
                  </a:lnTo>
                  <a:lnTo>
                    <a:pt x="7367005" y="71035"/>
                  </a:lnTo>
                  <a:lnTo>
                    <a:pt x="7372348" y="97895"/>
                  </a:lnTo>
                  <a:lnTo>
                    <a:pt x="7372348" y="4740803"/>
                  </a:lnTo>
                  <a:lnTo>
                    <a:pt x="7361739" y="4780375"/>
                  </a:lnTo>
                  <a:lnTo>
                    <a:pt x="7336795" y="4812876"/>
                  </a:lnTo>
                  <a:lnTo>
                    <a:pt x="7301313" y="4833356"/>
                  </a:lnTo>
                  <a:lnTo>
                    <a:pt x="7281267" y="4838028"/>
                  </a:lnTo>
                  <a:lnTo>
                    <a:pt x="7274453" y="483869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38174" y="1304924"/>
              <a:ext cx="7372350" cy="4838700"/>
            </a:xfrm>
            <a:custGeom>
              <a:avLst/>
              <a:gdLst/>
              <a:ahLst/>
              <a:cxnLst/>
              <a:rect l="l" t="t" r="r" b="b"/>
              <a:pathLst>
                <a:path w="7372350" h="4838700">
                  <a:moveTo>
                    <a:pt x="0" y="473392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2013" y="84334"/>
                  </a:lnTo>
                  <a:lnTo>
                    <a:pt x="3355" y="77586"/>
                  </a:lnTo>
                  <a:lnTo>
                    <a:pt x="5342" y="71035"/>
                  </a:lnTo>
                  <a:lnTo>
                    <a:pt x="7975" y="64679"/>
                  </a:lnTo>
                  <a:lnTo>
                    <a:pt x="10608" y="58323"/>
                  </a:lnTo>
                  <a:lnTo>
                    <a:pt x="13835" y="52285"/>
                  </a:lnTo>
                  <a:lnTo>
                    <a:pt x="17657" y="46565"/>
                  </a:lnTo>
                  <a:lnTo>
                    <a:pt x="21479" y="40844"/>
                  </a:lnTo>
                  <a:lnTo>
                    <a:pt x="25823" y="35552"/>
                  </a:lnTo>
                  <a:lnTo>
                    <a:pt x="30687" y="30687"/>
                  </a:lnTo>
                  <a:lnTo>
                    <a:pt x="35552" y="25823"/>
                  </a:lnTo>
                  <a:lnTo>
                    <a:pt x="40844" y="21479"/>
                  </a:lnTo>
                  <a:lnTo>
                    <a:pt x="46564" y="17657"/>
                  </a:lnTo>
                  <a:lnTo>
                    <a:pt x="52285" y="13835"/>
                  </a:lnTo>
                  <a:lnTo>
                    <a:pt x="58323" y="10608"/>
                  </a:lnTo>
                  <a:lnTo>
                    <a:pt x="64679" y="7975"/>
                  </a:lnTo>
                  <a:lnTo>
                    <a:pt x="71035" y="5342"/>
                  </a:lnTo>
                  <a:lnTo>
                    <a:pt x="77586" y="3355"/>
                  </a:lnTo>
                  <a:lnTo>
                    <a:pt x="84334" y="2013"/>
                  </a:lnTo>
                  <a:lnTo>
                    <a:pt x="91081" y="671"/>
                  </a:lnTo>
                  <a:lnTo>
                    <a:pt x="97895" y="0"/>
                  </a:lnTo>
                  <a:lnTo>
                    <a:pt x="104774" y="0"/>
                  </a:lnTo>
                  <a:lnTo>
                    <a:pt x="7267574" y="0"/>
                  </a:lnTo>
                  <a:lnTo>
                    <a:pt x="7274453" y="0"/>
                  </a:lnTo>
                  <a:lnTo>
                    <a:pt x="7281267" y="671"/>
                  </a:lnTo>
                  <a:lnTo>
                    <a:pt x="7288014" y="2013"/>
                  </a:lnTo>
                  <a:lnTo>
                    <a:pt x="7294762" y="3355"/>
                  </a:lnTo>
                  <a:lnTo>
                    <a:pt x="7301313" y="5342"/>
                  </a:lnTo>
                  <a:lnTo>
                    <a:pt x="7307669" y="7975"/>
                  </a:lnTo>
                  <a:lnTo>
                    <a:pt x="7314025" y="10608"/>
                  </a:lnTo>
                  <a:lnTo>
                    <a:pt x="7346524" y="35552"/>
                  </a:lnTo>
                  <a:lnTo>
                    <a:pt x="7367005" y="71035"/>
                  </a:lnTo>
                  <a:lnTo>
                    <a:pt x="7370335" y="84334"/>
                  </a:lnTo>
                  <a:lnTo>
                    <a:pt x="7371677" y="91081"/>
                  </a:lnTo>
                  <a:lnTo>
                    <a:pt x="7372348" y="97895"/>
                  </a:lnTo>
                  <a:lnTo>
                    <a:pt x="7372349" y="104774"/>
                  </a:lnTo>
                  <a:lnTo>
                    <a:pt x="7372349" y="4733924"/>
                  </a:lnTo>
                  <a:lnTo>
                    <a:pt x="7364372" y="4774019"/>
                  </a:lnTo>
                  <a:lnTo>
                    <a:pt x="7354690" y="4792133"/>
                  </a:lnTo>
                  <a:lnTo>
                    <a:pt x="7350867" y="4797854"/>
                  </a:lnTo>
                  <a:lnTo>
                    <a:pt x="7325783" y="4821040"/>
                  </a:lnTo>
                  <a:lnTo>
                    <a:pt x="7320063" y="4824863"/>
                  </a:lnTo>
                  <a:lnTo>
                    <a:pt x="7314024" y="4828090"/>
                  </a:lnTo>
                  <a:lnTo>
                    <a:pt x="7307668" y="4830723"/>
                  </a:lnTo>
                  <a:lnTo>
                    <a:pt x="7301313" y="4833356"/>
                  </a:lnTo>
                  <a:lnTo>
                    <a:pt x="7267574" y="4838699"/>
                  </a:lnTo>
                  <a:lnTo>
                    <a:pt x="104774" y="4838699"/>
                  </a:lnTo>
                  <a:lnTo>
                    <a:pt x="64679" y="4830723"/>
                  </a:lnTo>
                  <a:lnTo>
                    <a:pt x="58323" y="4828090"/>
                  </a:lnTo>
                  <a:lnTo>
                    <a:pt x="52285" y="4824863"/>
                  </a:lnTo>
                  <a:lnTo>
                    <a:pt x="46565" y="4821040"/>
                  </a:lnTo>
                  <a:lnTo>
                    <a:pt x="40844" y="4817219"/>
                  </a:lnTo>
                  <a:lnTo>
                    <a:pt x="35552" y="4812876"/>
                  </a:lnTo>
                  <a:lnTo>
                    <a:pt x="30687" y="4808011"/>
                  </a:lnTo>
                  <a:lnTo>
                    <a:pt x="25823" y="4803147"/>
                  </a:lnTo>
                  <a:lnTo>
                    <a:pt x="7975" y="4774019"/>
                  </a:lnTo>
                  <a:lnTo>
                    <a:pt x="5342" y="4767663"/>
                  </a:lnTo>
                  <a:lnTo>
                    <a:pt x="3355" y="4761111"/>
                  </a:lnTo>
                  <a:lnTo>
                    <a:pt x="2013" y="4754364"/>
                  </a:lnTo>
                  <a:lnTo>
                    <a:pt x="671" y="4747617"/>
                  </a:lnTo>
                  <a:lnTo>
                    <a:pt x="0" y="4740803"/>
                  </a:lnTo>
                  <a:lnTo>
                    <a:pt x="0" y="4733924"/>
                  </a:lnTo>
                  <a:close/>
                </a:path>
              </a:pathLst>
            </a:custGeom>
            <a:ln w="19049">
              <a:solidFill>
                <a:srgbClr val="C8A7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14387" y="2828937"/>
              <a:ext cx="6819900" cy="1019175"/>
            </a:xfrm>
            <a:custGeom>
              <a:avLst/>
              <a:gdLst/>
              <a:ahLst/>
              <a:cxnLst/>
              <a:rect l="l" t="t" r="r" b="b"/>
              <a:pathLst>
                <a:path w="6819900" h="1019175">
                  <a:moveTo>
                    <a:pt x="6819900" y="1009650"/>
                  </a:moveTo>
                  <a:lnTo>
                    <a:pt x="0" y="1009650"/>
                  </a:lnTo>
                  <a:lnTo>
                    <a:pt x="0" y="1019175"/>
                  </a:lnTo>
                  <a:lnTo>
                    <a:pt x="6819900" y="1019175"/>
                  </a:lnTo>
                  <a:lnTo>
                    <a:pt x="6819900" y="1009650"/>
                  </a:lnTo>
                  <a:close/>
                </a:path>
                <a:path w="6819900" h="1019175">
                  <a:moveTo>
                    <a:pt x="68199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6819900" y="9525"/>
                  </a:lnTo>
                  <a:lnTo>
                    <a:pt x="6819900" y="0"/>
                  </a:lnTo>
                  <a:close/>
                </a:path>
              </a:pathLst>
            </a:custGeom>
            <a:solidFill>
              <a:srgbClr val="C8A74B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01700" y="1501775"/>
            <a:ext cx="67894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8A74B"/>
                </a:solidFill>
                <a:latin typeface="Arial"/>
                <a:cs typeface="Arial"/>
              </a:rPr>
              <a:t>SC</a:t>
            </a:r>
            <a:r>
              <a:rPr dirty="0" sz="1800" spc="19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1800" spc="60" b="1">
                <a:solidFill>
                  <a:srgbClr val="C8A74B"/>
                </a:solidFill>
                <a:latin typeface="Arial"/>
                <a:cs typeface="Arial"/>
              </a:rPr>
              <a:t>RESOLUTION</a:t>
            </a:r>
            <a:r>
              <a:rPr dirty="0" sz="1800" spc="19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1800" spc="65" b="1">
                <a:solidFill>
                  <a:srgbClr val="C8A74B"/>
                </a:solidFill>
                <a:latin typeface="Arial"/>
                <a:cs typeface="Arial"/>
              </a:rPr>
              <a:t>SC-</a:t>
            </a:r>
            <a:r>
              <a:rPr dirty="0" sz="1800" spc="70" b="1">
                <a:solidFill>
                  <a:srgbClr val="C8A74B"/>
                </a:solidFill>
                <a:latin typeface="Arial"/>
                <a:cs typeface="Arial"/>
              </a:rPr>
              <a:t>2032-</a:t>
            </a:r>
            <a:r>
              <a:rPr dirty="0" sz="1800" b="1">
                <a:solidFill>
                  <a:srgbClr val="C8A74B"/>
                </a:solidFill>
                <a:latin typeface="Arial"/>
                <a:cs typeface="Arial"/>
              </a:rPr>
              <a:t>XX</a:t>
            </a:r>
            <a:r>
              <a:rPr dirty="0" sz="1800" spc="19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8A74B"/>
                </a:solidFill>
                <a:latin typeface="Arial"/>
                <a:cs typeface="Arial"/>
              </a:rPr>
              <a:t>—</a:t>
            </a:r>
            <a:r>
              <a:rPr dirty="0" sz="1800" spc="20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8A74B"/>
                </a:solidFill>
                <a:latin typeface="Arial"/>
                <a:cs typeface="Arial"/>
              </a:rPr>
              <a:t>3</a:t>
            </a:r>
            <a:r>
              <a:rPr dirty="0" sz="1800" spc="20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1800" spc="50" b="1">
                <a:solidFill>
                  <a:srgbClr val="C8A74B"/>
                </a:solidFill>
                <a:latin typeface="Arial"/>
                <a:cs typeface="Arial"/>
              </a:rPr>
              <a:t>ITEMS</a:t>
            </a:r>
            <a:r>
              <a:rPr dirty="0" sz="1800" spc="195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8A74B"/>
                </a:solidFill>
                <a:latin typeface="Arial"/>
                <a:cs typeface="Arial"/>
              </a:rPr>
              <a:t>FOR</a:t>
            </a:r>
            <a:r>
              <a:rPr dirty="0" sz="1800" spc="120" b="1">
                <a:solidFill>
                  <a:srgbClr val="C8A74B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8A74B"/>
                </a:solidFill>
                <a:latin typeface="Arial"/>
                <a:cs typeface="Arial"/>
              </a:rPr>
              <a:t>APPROVAL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399" y="19811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200" y="375289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4" y="296335"/>
                </a:lnTo>
                <a:lnTo>
                  <a:pt x="11130" y="254667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5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5"/>
                </a:lnTo>
                <a:lnTo>
                  <a:pt x="353904" y="92572"/>
                </a:lnTo>
                <a:lnTo>
                  <a:pt x="372799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7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8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44426" y="2044700"/>
            <a:ext cx="12128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 b="1">
                <a:solidFill>
                  <a:srgbClr val="1F2D59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248649" y="1295399"/>
            <a:ext cx="3333750" cy="933450"/>
            <a:chOff x="8248649" y="1295399"/>
            <a:chExt cx="3333750" cy="933450"/>
          </a:xfrm>
        </p:grpSpPr>
        <p:sp>
          <p:nvSpPr>
            <p:cNvPr id="23" name="object 23"/>
            <p:cNvSpPr/>
            <p:nvPr/>
          </p:nvSpPr>
          <p:spPr>
            <a:xfrm>
              <a:off x="8267699" y="1295399"/>
              <a:ext cx="3314700" cy="933450"/>
            </a:xfrm>
            <a:custGeom>
              <a:avLst/>
              <a:gdLst/>
              <a:ahLst/>
              <a:cxnLst/>
              <a:rect l="l" t="t" r="r" b="b"/>
              <a:pathLst>
                <a:path w="3314700" h="933450">
                  <a:moveTo>
                    <a:pt x="3243503" y="933449"/>
                  </a:moveTo>
                  <a:lnTo>
                    <a:pt x="53397" y="933449"/>
                  </a:lnTo>
                  <a:lnTo>
                    <a:pt x="49680" y="932961"/>
                  </a:lnTo>
                  <a:lnTo>
                    <a:pt x="14085" y="907593"/>
                  </a:lnTo>
                  <a:lnTo>
                    <a:pt x="366" y="867208"/>
                  </a:lnTo>
                  <a:lnTo>
                    <a:pt x="0" y="862253"/>
                  </a:lnTo>
                  <a:lnTo>
                    <a:pt x="0" y="85724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3243503" y="0"/>
                  </a:lnTo>
                  <a:lnTo>
                    <a:pt x="3284992" y="15621"/>
                  </a:lnTo>
                  <a:lnTo>
                    <a:pt x="3310812" y="51661"/>
                  </a:lnTo>
                  <a:lnTo>
                    <a:pt x="3314699" y="71196"/>
                  </a:lnTo>
                  <a:lnTo>
                    <a:pt x="3314699" y="862253"/>
                  </a:lnTo>
                  <a:lnTo>
                    <a:pt x="3299076" y="903744"/>
                  </a:lnTo>
                  <a:lnTo>
                    <a:pt x="3263037" y="929564"/>
                  </a:lnTo>
                  <a:lnTo>
                    <a:pt x="3248457" y="932961"/>
                  </a:lnTo>
                  <a:lnTo>
                    <a:pt x="3243503" y="93344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248649" y="1295677"/>
              <a:ext cx="70485" cy="933450"/>
            </a:xfrm>
            <a:custGeom>
              <a:avLst/>
              <a:gdLst/>
              <a:ahLst/>
              <a:cxnLst/>
              <a:rect l="l" t="t" r="r" b="b"/>
              <a:pathLst>
                <a:path w="70484" h="933450">
                  <a:moveTo>
                    <a:pt x="70449" y="932894"/>
                  </a:moveTo>
                  <a:lnTo>
                    <a:pt x="33856" y="920341"/>
                  </a:lnTo>
                  <a:lnTo>
                    <a:pt x="5799" y="886132"/>
                  </a:lnTo>
                  <a:lnTo>
                    <a:pt x="0" y="856972"/>
                  </a:lnTo>
                  <a:lnTo>
                    <a:pt x="0" y="75922"/>
                  </a:lnTo>
                  <a:lnTo>
                    <a:pt x="12828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856972"/>
                  </a:lnTo>
                  <a:lnTo>
                    <a:pt x="44513" y="899314"/>
                  </a:lnTo>
                  <a:lnTo>
                    <a:pt x="66287" y="931238"/>
                  </a:lnTo>
                  <a:lnTo>
                    <a:pt x="70449" y="932894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464550" y="1310730"/>
            <a:ext cx="2743835" cy="74803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200" b="1">
                <a:solidFill>
                  <a:srgbClr val="C8A74B"/>
                </a:solidFill>
                <a:latin typeface="Arial"/>
                <a:cs typeface="Arial"/>
              </a:rPr>
              <a:t>Phase 1 — </a:t>
            </a:r>
            <a:r>
              <a:rPr dirty="0" sz="1200" spc="-10" b="1">
                <a:solidFill>
                  <a:srgbClr val="C8A74B"/>
                </a:solidFill>
                <a:latin typeface="Arial"/>
                <a:cs typeface="Arial"/>
              </a:rPr>
              <a:t>Delivered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345"/>
              </a:spcBef>
            </a:pP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49</a:t>
            </a:r>
            <a:r>
              <a:rPr dirty="0" sz="1050" spc="-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SOP</a:t>
            </a:r>
            <a:r>
              <a:rPr dirty="0" sz="1050" spc="-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sections</a:t>
            </a:r>
            <a:r>
              <a:rPr dirty="0" sz="1050" spc="-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28</a:t>
            </a:r>
            <a:r>
              <a:rPr dirty="0" sz="1050" spc="-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agents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active</a:t>
            </a:r>
            <a:r>
              <a:rPr dirty="0" sz="1050" spc="-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6</a:t>
            </a:r>
            <a:r>
              <a:rPr dirty="0" sz="1050" spc="-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FEFEFE"/>
                </a:solidFill>
                <a:latin typeface="Arial"/>
                <a:cs typeface="Arial"/>
              </a:rPr>
              <a:t>gaps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closed</a:t>
            </a:r>
            <a:r>
              <a:rPr dirty="0" sz="1050" spc="-5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Coverage</a:t>
            </a:r>
            <a:r>
              <a:rPr dirty="0" sz="1050" spc="-2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68%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 spc="-6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1050" spc="-2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THB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5.2M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on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EFEFE"/>
                </a:solidFill>
                <a:latin typeface="Arial"/>
                <a:cs typeface="Arial"/>
              </a:rPr>
              <a:t>budget</a:t>
            </a:r>
            <a:endParaRPr sz="1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5099" y="1851025"/>
            <a:ext cx="6230620" cy="80010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Endorse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Completion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30700"/>
              </a:lnSpc>
              <a:spcBef>
                <a:spcPts val="145"/>
              </a:spcBef>
            </a:pP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Formally</a:t>
            </a:r>
            <a:r>
              <a:rPr dirty="0" sz="1100" spc="7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acknowledge</a:t>
            </a:r>
            <a:r>
              <a:rPr dirty="0" sz="1100" spc="-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AMD-004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Phase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1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completion: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49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SOP</a:t>
            </a:r>
            <a:r>
              <a:rPr dirty="0" sz="1100" spc="5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sections,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coverage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68%,</a:t>
            </a:r>
            <a:r>
              <a:rPr dirty="0" sz="1100" spc="5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THB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EFEFE"/>
                </a:solidFill>
                <a:latin typeface="Arial"/>
                <a:cs typeface="Arial"/>
              </a:rPr>
              <a:t>5.2M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delivered,</a:t>
            </a:r>
            <a:r>
              <a:rPr dirty="0" sz="1100" spc="9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GAP-01/02/03/04/07/08</a:t>
            </a:r>
            <a:r>
              <a:rPr dirty="0" sz="1100" spc="9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closed.</a:t>
            </a:r>
            <a:r>
              <a:rPr dirty="0" sz="1100" spc="9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Receive</a:t>
            </a:r>
            <a:r>
              <a:rPr dirty="0" sz="1100" spc="9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Phase</a:t>
            </a:r>
            <a:r>
              <a:rPr dirty="0" sz="1100" spc="9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1</a:t>
            </a:r>
            <a:r>
              <a:rPr dirty="0" sz="1100" spc="9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Completion</a:t>
            </a:r>
            <a:r>
              <a:rPr dirty="0" sz="1100" spc="9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EFEFE"/>
                </a:solidFill>
                <a:latin typeface="Arial"/>
                <a:cs typeface="Arial"/>
              </a:rPr>
              <a:t>Certificate.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4399" y="299084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200" y="375289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4" y="296335"/>
                </a:lnTo>
                <a:lnTo>
                  <a:pt x="11130" y="254666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5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5"/>
                </a:lnTo>
                <a:lnTo>
                  <a:pt x="353904" y="92572"/>
                </a:lnTo>
                <a:lnTo>
                  <a:pt x="372799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7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8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44426" y="3054350"/>
            <a:ext cx="12128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 b="1">
                <a:solidFill>
                  <a:srgbClr val="1F2D59"/>
                </a:solidFill>
                <a:latin typeface="Arial"/>
                <a:cs typeface="Arial"/>
              </a:rPr>
              <a:t>2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248649" y="2362199"/>
            <a:ext cx="3333750" cy="933450"/>
            <a:chOff x="8248649" y="2362199"/>
            <a:chExt cx="3333750" cy="933450"/>
          </a:xfrm>
        </p:grpSpPr>
        <p:sp>
          <p:nvSpPr>
            <p:cNvPr id="27" name="object 27"/>
            <p:cNvSpPr/>
            <p:nvPr/>
          </p:nvSpPr>
          <p:spPr>
            <a:xfrm>
              <a:off x="8267699" y="2362199"/>
              <a:ext cx="3314700" cy="933450"/>
            </a:xfrm>
            <a:custGeom>
              <a:avLst/>
              <a:gdLst/>
              <a:ahLst/>
              <a:cxnLst/>
              <a:rect l="l" t="t" r="r" b="b"/>
              <a:pathLst>
                <a:path w="3314700" h="933450">
                  <a:moveTo>
                    <a:pt x="3243503" y="933449"/>
                  </a:moveTo>
                  <a:lnTo>
                    <a:pt x="53397" y="933449"/>
                  </a:lnTo>
                  <a:lnTo>
                    <a:pt x="49680" y="932961"/>
                  </a:lnTo>
                  <a:lnTo>
                    <a:pt x="14085" y="907593"/>
                  </a:lnTo>
                  <a:lnTo>
                    <a:pt x="366" y="867208"/>
                  </a:lnTo>
                  <a:lnTo>
                    <a:pt x="0" y="862253"/>
                  </a:lnTo>
                  <a:lnTo>
                    <a:pt x="0" y="85724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3243503" y="0"/>
                  </a:lnTo>
                  <a:lnTo>
                    <a:pt x="3284992" y="15621"/>
                  </a:lnTo>
                  <a:lnTo>
                    <a:pt x="3310812" y="51661"/>
                  </a:lnTo>
                  <a:lnTo>
                    <a:pt x="3314699" y="71196"/>
                  </a:lnTo>
                  <a:lnTo>
                    <a:pt x="3314699" y="862253"/>
                  </a:lnTo>
                  <a:lnTo>
                    <a:pt x="3299076" y="903744"/>
                  </a:lnTo>
                  <a:lnTo>
                    <a:pt x="3263037" y="929563"/>
                  </a:lnTo>
                  <a:lnTo>
                    <a:pt x="3248457" y="932961"/>
                  </a:lnTo>
                  <a:lnTo>
                    <a:pt x="3243503" y="93344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248649" y="2362477"/>
              <a:ext cx="70485" cy="933450"/>
            </a:xfrm>
            <a:custGeom>
              <a:avLst/>
              <a:gdLst/>
              <a:ahLst/>
              <a:cxnLst/>
              <a:rect l="l" t="t" r="r" b="b"/>
              <a:pathLst>
                <a:path w="70484" h="933450">
                  <a:moveTo>
                    <a:pt x="70450" y="932894"/>
                  </a:moveTo>
                  <a:lnTo>
                    <a:pt x="33856" y="920341"/>
                  </a:lnTo>
                  <a:lnTo>
                    <a:pt x="5799" y="886132"/>
                  </a:lnTo>
                  <a:lnTo>
                    <a:pt x="0" y="856972"/>
                  </a:lnTo>
                  <a:lnTo>
                    <a:pt x="0" y="75922"/>
                  </a:lnTo>
                  <a:lnTo>
                    <a:pt x="12828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856972"/>
                  </a:lnTo>
                  <a:lnTo>
                    <a:pt x="44513" y="899314"/>
                  </a:lnTo>
                  <a:lnTo>
                    <a:pt x="66287" y="931238"/>
                  </a:lnTo>
                  <a:lnTo>
                    <a:pt x="70450" y="932894"/>
                  </a:lnTo>
                  <a:close/>
                </a:path>
              </a:pathLst>
            </a:custGeom>
            <a:solidFill>
              <a:srgbClr val="26AE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464550" y="2377530"/>
            <a:ext cx="2669540" cy="74803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200" b="1">
                <a:solidFill>
                  <a:srgbClr val="C8A74B"/>
                </a:solidFill>
                <a:latin typeface="Arial"/>
                <a:cs typeface="Arial"/>
              </a:rPr>
              <a:t>Phase 2 — </a:t>
            </a:r>
            <a:r>
              <a:rPr dirty="0" sz="1200" spc="-10" b="1">
                <a:solidFill>
                  <a:srgbClr val="C8A74B"/>
                </a:solidFill>
                <a:latin typeface="Arial"/>
                <a:cs typeface="Arial"/>
              </a:rPr>
              <a:t>Proposed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345"/>
              </a:spcBef>
            </a:pP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6</a:t>
            </a:r>
            <a:r>
              <a:rPr dirty="0" sz="1050" spc="-5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gaps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1050" spc="-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Coverage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80%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 spc="-6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1050" spc="-2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THB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6.0M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EFEFE"/>
                </a:solidFill>
                <a:latin typeface="Arial"/>
                <a:cs typeface="Arial"/>
              </a:rPr>
              <a:t>Q1–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Q4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2033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EFEFE"/>
                </a:solidFill>
                <a:latin typeface="Arial"/>
                <a:cs typeface="Arial"/>
              </a:rPr>
              <a:t>SC-2032-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XX</a:t>
            </a:r>
            <a:endParaRPr sz="1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35099" y="2860675"/>
            <a:ext cx="5995035" cy="80010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Approve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PDD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Budget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30700"/>
              </a:lnSpc>
              <a:spcBef>
                <a:spcPts val="145"/>
              </a:spcBef>
            </a:pP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Authorise</a:t>
            </a:r>
            <a:r>
              <a:rPr dirty="0" sz="1100" spc="6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Phase</a:t>
            </a:r>
            <a:r>
              <a:rPr dirty="0" sz="1100" spc="7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2</a:t>
            </a:r>
            <a:r>
              <a:rPr dirty="0" sz="1100" spc="6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Programme</a:t>
            </a:r>
            <a:r>
              <a:rPr dirty="0" sz="1100" spc="7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Definition</a:t>
            </a:r>
            <a:r>
              <a:rPr dirty="0" sz="1100" spc="6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Document</a:t>
            </a:r>
            <a:r>
              <a:rPr dirty="0" sz="1100" spc="7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(Section</a:t>
            </a:r>
            <a:r>
              <a:rPr dirty="0" sz="1100" spc="6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50)</a:t>
            </a:r>
            <a:r>
              <a:rPr dirty="0" sz="1100" spc="7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—</a:t>
            </a:r>
            <a:r>
              <a:rPr dirty="0" sz="1100" spc="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THB</a:t>
            </a:r>
            <a:r>
              <a:rPr dirty="0" sz="1100" spc="6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6.0M</a:t>
            </a:r>
            <a:r>
              <a:rPr dirty="0" sz="1100" spc="7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budget,</a:t>
            </a:r>
            <a:r>
              <a:rPr dirty="0" sz="1100" spc="6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Q1–</a:t>
            </a:r>
            <a:r>
              <a:rPr dirty="0" sz="1100" spc="-25">
                <a:solidFill>
                  <a:srgbClr val="FEFEFE"/>
                </a:solidFill>
                <a:latin typeface="Arial"/>
                <a:cs typeface="Arial"/>
              </a:rPr>
              <a:t>Q4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2033</a:t>
            </a:r>
            <a:r>
              <a:rPr dirty="0" sz="1100" spc="10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timeline,</a:t>
            </a:r>
            <a:r>
              <a:rPr dirty="0" sz="1100" spc="10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GAP-05/06/09/10/11/12</a:t>
            </a:r>
            <a:r>
              <a:rPr dirty="0" sz="1100" spc="10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workplan</a:t>
            </a:r>
            <a:r>
              <a:rPr dirty="0" sz="1100" spc="10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targeting</a:t>
            </a:r>
            <a:r>
              <a:rPr dirty="0" sz="1100" spc="10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80%</a:t>
            </a:r>
            <a:r>
              <a:rPr dirty="0" sz="1100" spc="10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EFEFE"/>
                </a:solidFill>
                <a:latin typeface="Arial"/>
                <a:cs typeface="Arial"/>
              </a:rPr>
              <a:t>coverage.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4399" y="40004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200" y="375288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4" y="296335"/>
                </a:lnTo>
                <a:lnTo>
                  <a:pt x="11130" y="254666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4" y="92572"/>
                </a:lnTo>
                <a:lnTo>
                  <a:pt x="372799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6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8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44426" y="4064000"/>
            <a:ext cx="12128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 b="1">
                <a:solidFill>
                  <a:srgbClr val="1F2D59"/>
                </a:solidFill>
                <a:latin typeface="Arial"/>
                <a:cs typeface="Arial"/>
              </a:rPr>
              <a:t>3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35099" y="3870324"/>
            <a:ext cx="5925820" cy="80010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Nominate</a:t>
            </a:r>
            <a:r>
              <a:rPr dirty="0" sz="15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dirty="0" sz="15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5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Programme</a:t>
            </a:r>
            <a:r>
              <a:rPr dirty="0" sz="15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Director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30700"/>
              </a:lnSpc>
              <a:spcBef>
                <a:spcPts val="145"/>
              </a:spcBef>
            </a:pP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Appoint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Phase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2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Programme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Director</a:t>
            </a:r>
            <a:r>
              <a:rPr dirty="0" sz="1100" spc="8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within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4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weeks.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Director</a:t>
            </a:r>
            <a:r>
              <a:rPr dirty="0" sz="1100" spc="8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accountable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for</a:t>
            </a:r>
            <a:r>
              <a:rPr dirty="0" sz="1100" spc="7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P2-M1–P2-</a:t>
            </a:r>
            <a:r>
              <a:rPr dirty="0" sz="1100" spc="-25">
                <a:solidFill>
                  <a:srgbClr val="FEFEFE"/>
                </a:solidFill>
                <a:latin typeface="Arial"/>
                <a:cs typeface="Arial"/>
              </a:rPr>
              <a:t>M4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milestones,</a:t>
            </a:r>
            <a:r>
              <a:rPr dirty="0" sz="1100" spc="4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THB</a:t>
            </a:r>
            <a:r>
              <a:rPr dirty="0" sz="1100" spc="7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6.0M</a:t>
            </a:r>
            <a:r>
              <a:rPr dirty="0" sz="1100" spc="6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budget</a:t>
            </a:r>
            <a:r>
              <a:rPr dirty="0" sz="1100" spc="6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ownership,</a:t>
            </a:r>
            <a:r>
              <a:rPr dirty="0" sz="1100" spc="7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and</a:t>
            </a:r>
            <a:r>
              <a:rPr dirty="0" sz="1100" spc="6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quarterly</a:t>
            </a:r>
            <a:r>
              <a:rPr dirty="0" sz="1100" spc="7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EFEFE"/>
                </a:solidFill>
                <a:latin typeface="Arial"/>
                <a:cs typeface="Arial"/>
              </a:rPr>
              <a:t>SC</a:t>
            </a:r>
            <a:r>
              <a:rPr dirty="0" sz="1100" spc="6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EFEFE"/>
                </a:solidFill>
                <a:latin typeface="Arial"/>
                <a:cs typeface="Arial"/>
              </a:rPr>
              <a:t>reporting.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248649" y="3428999"/>
            <a:ext cx="3333750" cy="933450"/>
            <a:chOff x="8248649" y="3428999"/>
            <a:chExt cx="3333750" cy="933450"/>
          </a:xfrm>
        </p:grpSpPr>
        <p:sp>
          <p:nvSpPr>
            <p:cNvPr id="31" name="object 31"/>
            <p:cNvSpPr/>
            <p:nvPr/>
          </p:nvSpPr>
          <p:spPr>
            <a:xfrm>
              <a:off x="8248649" y="3428999"/>
              <a:ext cx="3333750" cy="933450"/>
            </a:xfrm>
            <a:custGeom>
              <a:avLst/>
              <a:gdLst/>
              <a:ahLst/>
              <a:cxnLst/>
              <a:rect l="l" t="t" r="r" b="b"/>
              <a:pathLst>
                <a:path w="3333750" h="933450">
                  <a:moveTo>
                    <a:pt x="3257549" y="933449"/>
                  </a:moveTo>
                  <a:lnTo>
                    <a:pt x="76199" y="933449"/>
                  </a:lnTo>
                  <a:lnTo>
                    <a:pt x="68692" y="933087"/>
                  </a:lnTo>
                  <a:lnTo>
                    <a:pt x="27881" y="916182"/>
                  </a:lnTo>
                  <a:lnTo>
                    <a:pt x="3261" y="879336"/>
                  </a:lnTo>
                  <a:lnTo>
                    <a:pt x="0" y="857249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7" y="5800"/>
                  </a:lnTo>
                  <a:lnTo>
                    <a:pt x="76199" y="0"/>
                  </a:lnTo>
                  <a:lnTo>
                    <a:pt x="3257549" y="0"/>
                  </a:lnTo>
                  <a:lnTo>
                    <a:pt x="3299891" y="12829"/>
                  </a:lnTo>
                  <a:lnTo>
                    <a:pt x="3327948" y="47038"/>
                  </a:lnTo>
                  <a:lnTo>
                    <a:pt x="3333749" y="76199"/>
                  </a:lnTo>
                  <a:lnTo>
                    <a:pt x="3333749" y="857249"/>
                  </a:lnTo>
                  <a:lnTo>
                    <a:pt x="3320918" y="899591"/>
                  </a:lnTo>
                  <a:lnTo>
                    <a:pt x="3286709" y="927648"/>
                  </a:lnTo>
                  <a:lnTo>
                    <a:pt x="3257549" y="93344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248649" y="3429277"/>
              <a:ext cx="70485" cy="933450"/>
            </a:xfrm>
            <a:custGeom>
              <a:avLst/>
              <a:gdLst/>
              <a:ahLst/>
              <a:cxnLst/>
              <a:rect l="l" t="t" r="r" b="b"/>
              <a:pathLst>
                <a:path w="70484" h="933450">
                  <a:moveTo>
                    <a:pt x="70450" y="932894"/>
                  </a:moveTo>
                  <a:lnTo>
                    <a:pt x="33856" y="920341"/>
                  </a:lnTo>
                  <a:lnTo>
                    <a:pt x="5799" y="886132"/>
                  </a:lnTo>
                  <a:lnTo>
                    <a:pt x="0" y="856972"/>
                  </a:lnTo>
                  <a:lnTo>
                    <a:pt x="0" y="75922"/>
                  </a:lnTo>
                  <a:lnTo>
                    <a:pt x="12828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2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856972"/>
                  </a:lnTo>
                  <a:lnTo>
                    <a:pt x="44515" y="899314"/>
                  </a:lnTo>
                  <a:lnTo>
                    <a:pt x="66287" y="931238"/>
                  </a:lnTo>
                  <a:lnTo>
                    <a:pt x="70450" y="932894"/>
                  </a:lnTo>
                  <a:close/>
                </a:path>
              </a:pathLst>
            </a:custGeom>
            <a:solidFill>
              <a:srgbClr val="FFFFFF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464550" y="3444330"/>
            <a:ext cx="2464435" cy="74803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200" b="1">
                <a:solidFill>
                  <a:srgbClr val="C8A74B"/>
                </a:solidFill>
                <a:latin typeface="Arial"/>
                <a:cs typeface="Arial"/>
              </a:rPr>
              <a:t>Phase 3 — </a:t>
            </a:r>
            <a:r>
              <a:rPr dirty="0" sz="1200" spc="-10" b="1">
                <a:solidFill>
                  <a:srgbClr val="C8A74B"/>
                </a:solidFill>
                <a:latin typeface="Arial"/>
                <a:cs typeface="Arial"/>
              </a:rPr>
              <a:t>Future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345"/>
              </a:spcBef>
            </a:pP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3</a:t>
            </a:r>
            <a:r>
              <a:rPr dirty="0" sz="1050" spc="-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gaps</a:t>
            </a:r>
            <a:r>
              <a:rPr dirty="0" sz="1050" spc="-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EFEFE"/>
                </a:solidFill>
                <a:latin typeface="Arial"/>
                <a:cs typeface="Arial"/>
              </a:rPr>
              <a:t>(GAP-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13/14/15)</a:t>
            </a:r>
            <a:r>
              <a:rPr dirty="0" sz="1050" spc="-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1050" spc="-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Coverage</a:t>
            </a:r>
            <a:r>
              <a:rPr dirty="0" sz="1050" spc="-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92%</a:t>
            </a:r>
            <a:r>
              <a:rPr dirty="0" sz="1050" spc="-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FEFEFE"/>
                </a:solidFill>
                <a:latin typeface="Arial"/>
                <a:cs typeface="Arial"/>
              </a:rPr>
              <a:t>·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FY2034+</a:t>
            </a:r>
            <a:r>
              <a:rPr dirty="0" sz="1050" spc="-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1050" spc="-2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EFEFE"/>
                </a:solidFill>
                <a:latin typeface="Arial"/>
                <a:cs typeface="Arial"/>
              </a:rPr>
              <a:t>SC-2033-</a:t>
            </a:r>
            <a:r>
              <a:rPr dirty="0" sz="1050">
                <a:solidFill>
                  <a:srgbClr val="FEFEFE"/>
                </a:solidFill>
                <a:latin typeface="Arial"/>
                <a:cs typeface="Arial"/>
              </a:rPr>
              <a:t>XX</a:t>
            </a:r>
            <a:r>
              <a:rPr dirty="0" sz="1050" spc="-3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FEFEFE"/>
                </a:solidFill>
                <a:latin typeface="Arial"/>
                <a:cs typeface="Arial"/>
              </a:rPr>
              <a:t>gate</a:t>
            </a:r>
            <a:endParaRPr sz="10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7149" y="6153149"/>
            <a:ext cx="12096750" cy="428625"/>
          </a:xfrm>
          <a:custGeom>
            <a:avLst/>
            <a:gdLst/>
            <a:ahLst/>
            <a:cxnLst/>
            <a:rect l="l" t="t" r="r" b="b"/>
            <a:pathLst>
              <a:path w="12096750" h="428625">
                <a:moveTo>
                  <a:pt x="12096749" y="428624"/>
                </a:moveTo>
                <a:lnTo>
                  <a:pt x="0" y="428624"/>
                </a:lnTo>
                <a:lnTo>
                  <a:pt x="0" y="0"/>
                </a:lnTo>
                <a:lnTo>
                  <a:pt x="12096749" y="0"/>
                </a:lnTo>
                <a:lnTo>
                  <a:pt x="12096749" y="428624"/>
                </a:lnTo>
                <a:close/>
              </a:path>
            </a:pathLst>
          </a:custGeom>
          <a:solidFill>
            <a:srgbClr val="C8A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15949" y="6235699"/>
            <a:ext cx="281686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F2D59"/>
                </a:solidFill>
                <a:latin typeface="Arial"/>
                <a:cs typeface="Arial"/>
              </a:rPr>
              <a:t>Proposed Resolution: SC-2032-</a:t>
            </a:r>
            <a:r>
              <a:rPr dirty="0" sz="1350" spc="-25" b="1">
                <a:solidFill>
                  <a:srgbClr val="1F2D59"/>
                </a:solidFill>
                <a:latin typeface="Arial"/>
                <a:cs typeface="Arial"/>
              </a:rPr>
              <a:t>XX</a:t>
            </a:r>
            <a:endParaRPr sz="13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809955" y="6254749"/>
            <a:ext cx="178562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Moved</a:t>
            </a:r>
            <a:r>
              <a:rPr dirty="0" sz="1100" spc="1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·</a:t>
            </a:r>
            <a:r>
              <a:rPr dirty="0" sz="1100" spc="1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Seconded</a:t>
            </a:r>
            <a:r>
              <a:rPr dirty="0" sz="1100" spc="1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D59"/>
                </a:solidFill>
                <a:latin typeface="Arial"/>
                <a:cs typeface="Arial"/>
              </a:rPr>
              <a:t>·</a:t>
            </a:r>
            <a:r>
              <a:rPr dirty="0" sz="1100" spc="10" b="1">
                <a:solidFill>
                  <a:srgbClr val="1F2D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F2D59"/>
                </a:solidFill>
                <a:latin typeface="Arial"/>
                <a:cs typeface="Arial"/>
              </a:rPr>
              <a:t>Voted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7149" y="6581774"/>
            <a:ext cx="12096750" cy="9525"/>
          </a:xfrm>
          <a:custGeom>
            <a:avLst/>
            <a:gdLst/>
            <a:ahLst/>
            <a:cxnLst/>
            <a:rect l="l" t="t" r="r" b="b"/>
            <a:pathLst>
              <a:path w="12096750" h="9525">
                <a:moveTo>
                  <a:pt x="12096749" y="9524"/>
                </a:moveTo>
                <a:lnTo>
                  <a:pt x="0" y="9524"/>
                </a:lnTo>
                <a:lnTo>
                  <a:pt x="0" y="0"/>
                </a:lnTo>
                <a:lnTo>
                  <a:pt x="12096749" y="0"/>
                </a:lnTo>
                <a:lnTo>
                  <a:pt x="12096749" y="9524"/>
                </a:lnTo>
                <a:close/>
              </a:path>
            </a:pathLst>
          </a:custGeom>
          <a:solidFill>
            <a:srgbClr val="FFFFFF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615949" y="6635750"/>
            <a:ext cx="482409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MONOLITH</a:t>
            </a:r>
            <a:r>
              <a:rPr dirty="0" sz="800" spc="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DAPH</a:t>
            </a:r>
            <a:r>
              <a:rPr dirty="0" sz="800" spc="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Decor</a:t>
            </a:r>
            <a:r>
              <a:rPr dirty="0" sz="800" spc="-1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AI</a:t>
            </a:r>
            <a:r>
              <a:rPr dirty="0" sz="800" spc="-1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Agent</a:t>
            </a:r>
            <a:r>
              <a:rPr dirty="0" sz="800" spc="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Programme</a:t>
            </a:r>
            <a:r>
              <a:rPr dirty="0" sz="800" spc="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800" spc="5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SC</a:t>
            </a:r>
            <a:r>
              <a:rPr dirty="0" sz="800" spc="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Review</a:t>
            </a:r>
            <a:r>
              <a:rPr dirty="0" sz="800" spc="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2569</a:t>
            </a:r>
            <a:r>
              <a:rPr dirty="0" sz="800" spc="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800" spc="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For</a:t>
            </a:r>
            <a:r>
              <a:rPr dirty="0" sz="800" spc="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SC</a:t>
            </a:r>
            <a:r>
              <a:rPr dirty="0" sz="800" spc="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Resolution</a:t>
            </a:r>
            <a:r>
              <a:rPr dirty="0" sz="800" spc="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800" spc="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Sections</a:t>
            </a:r>
            <a:r>
              <a:rPr dirty="0" sz="800" spc="45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EFEFE"/>
                </a:solidFill>
                <a:latin typeface="Arial"/>
                <a:cs typeface="Arial"/>
              </a:rPr>
              <a:t>49–</a:t>
            </a:r>
            <a:r>
              <a:rPr dirty="0" sz="800" spc="-25">
                <a:solidFill>
                  <a:srgbClr val="FEFEFE"/>
                </a:solidFill>
                <a:latin typeface="Arial"/>
                <a:cs typeface="Arial"/>
              </a:rPr>
              <a:t>50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49" y="0"/>
            <a:ext cx="12147550" cy="6858000"/>
          </a:xfrm>
          <a:custGeom>
            <a:avLst/>
            <a:gdLst/>
            <a:ahLst/>
            <a:cxnLst/>
            <a:rect l="l" t="t" r="r" b="b"/>
            <a:pathLst>
              <a:path w="12147550" h="6858000">
                <a:moveTo>
                  <a:pt x="0" y="6857999"/>
                </a:moveTo>
                <a:lnTo>
                  <a:pt x="12147040" y="6857999"/>
                </a:lnTo>
                <a:lnTo>
                  <a:pt x="1214704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153898" y="0"/>
            <a:ext cx="50800" cy="6858000"/>
          </a:xfrm>
          <a:custGeom>
            <a:avLst/>
            <a:gdLst/>
            <a:ahLst/>
            <a:cxnLst/>
            <a:rect l="l" t="t" r="r" b="b"/>
            <a:pathLst>
              <a:path w="50800" h="6858000">
                <a:moveTo>
                  <a:pt x="50292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50292" y="0"/>
                </a:lnTo>
                <a:lnTo>
                  <a:pt x="50292" y="6857999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1"/>
            <a:ext cx="12153900" cy="6858000"/>
          </a:xfrm>
          <a:custGeom>
            <a:avLst/>
            <a:gdLst/>
            <a:ahLst/>
            <a:cxnLst/>
            <a:rect l="l" t="t" r="r" b="b"/>
            <a:pathLst>
              <a:path w="12153900" h="6858000">
                <a:moveTo>
                  <a:pt x="12153887" y="0"/>
                </a:moveTo>
                <a:lnTo>
                  <a:pt x="57137" y="0"/>
                </a:lnTo>
                <a:lnTo>
                  <a:pt x="0" y="0"/>
                </a:lnTo>
                <a:lnTo>
                  <a:pt x="0" y="6857987"/>
                </a:lnTo>
                <a:lnTo>
                  <a:pt x="57137" y="6857987"/>
                </a:lnTo>
                <a:lnTo>
                  <a:pt x="57137" y="781050"/>
                </a:lnTo>
                <a:lnTo>
                  <a:pt x="12153887" y="781050"/>
                </a:lnTo>
                <a:lnTo>
                  <a:pt x="12153887" y="0"/>
                </a:lnTo>
                <a:close/>
              </a:path>
            </a:pathLst>
          </a:custGeom>
          <a:solidFill>
            <a:srgbClr val="1F2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2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 &amp; Source </a:t>
            </a:r>
            <a:r>
              <a:rPr dirty="0" spc="-10"/>
              <a:t>Documents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28649" y="1009649"/>
            <a:ext cx="10953750" cy="657225"/>
            <a:chOff x="628649" y="1009649"/>
            <a:chExt cx="10953750" cy="657225"/>
          </a:xfrm>
        </p:grpSpPr>
        <p:sp>
          <p:nvSpPr>
            <p:cNvPr id="7" name="object 7"/>
            <p:cNvSpPr/>
            <p:nvPr/>
          </p:nvSpPr>
          <p:spPr>
            <a:xfrm>
              <a:off x="647699" y="1009649"/>
              <a:ext cx="10934700" cy="657225"/>
            </a:xfrm>
            <a:custGeom>
              <a:avLst/>
              <a:gdLst/>
              <a:ahLst/>
              <a:cxnLst/>
              <a:rect l="l" t="t" r="r" b="b"/>
              <a:pathLst>
                <a:path w="10934700" h="657225">
                  <a:moveTo>
                    <a:pt x="10881301" y="657224"/>
                  </a:moveTo>
                  <a:lnTo>
                    <a:pt x="33047" y="657224"/>
                  </a:lnTo>
                  <a:lnTo>
                    <a:pt x="28187" y="655774"/>
                  </a:lnTo>
                  <a:lnTo>
                    <a:pt x="966" y="614943"/>
                  </a:lnTo>
                  <a:lnTo>
                    <a:pt x="0" y="607653"/>
                  </a:lnTo>
                  <a:lnTo>
                    <a:pt x="0" y="600074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10881301" y="0"/>
                  </a:lnTo>
                  <a:lnTo>
                    <a:pt x="10920612" y="19392"/>
                  </a:lnTo>
                  <a:lnTo>
                    <a:pt x="10934698" y="53397"/>
                  </a:lnTo>
                  <a:lnTo>
                    <a:pt x="10934698" y="603827"/>
                  </a:lnTo>
                  <a:lnTo>
                    <a:pt x="10915306" y="643139"/>
                  </a:lnTo>
                  <a:lnTo>
                    <a:pt x="10885017" y="656858"/>
                  </a:lnTo>
                  <a:lnTo>
                    <a:pt x="10881301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28649" y="1009649"/>
              <a:ext cx="52069" cy="657225"/>
            </a:xfrm>
            <a:custGeom>
              <a:avLst/>
              <a:gdLst/>
              <a:ahLst/>
              <a:cxnLst/>
              <a:rect l="l" t="t" r="r" b="b"/>
              <a:pathLst>
                <a:path w="52070" h="657225">
                  <a:moveTo>
                    <a:pt x="51889" y="657224"/>
                  </a:moveTo>
                  <a:lnTo>
                    <a:pt x="49571" y="657224"/>
                  </a:lnTo>
                  <a:lnTo>
                    <a:pt x="42281" y="655774"/>
                  </a:lnTo>
                  <a:lnTo>
                    <a:pt x="7250" y="628946"/>
                  </a:lnTo>
                  <a:lnTo>
                    <a:pt x="0" y="607653"/>
                  </a:lnTo>
                  <a:lnTo>
                    <a:pt x="0" y="49571"/>
                  </a:lnTo>
                  <a:lnTo>
                    <a:pt x="22097" y="11380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600075"/>
                  </a:lnTo>
                  <a:lnTo>
                    <a:pt x="43679" y="640485"/>
                  </a:lnTo>
                  <a:lnTo>
                    <a:pt x="47399" y="651645"/>
                  </a:lnTo>
                  <a:lnTo>
                    <a:pt x="51889" y="657224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5500" y="1111250"/>
            <a:ext cx="1371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 b="1">
                <a:solidFill>
                  <a:srgbClr val="1F2D59"/>
                </a:solidFill>
                <a:latin typeface="Arial"/>
                <a:cs typeface="Arial"/>
              </a:rPr>
              <a:t>1.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4599" y="1063625"/>
            <a:ext cx="9733915" cy="463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95"/>
              </a:spcBef>
            </a:pP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MONOLITH</a:t>
            </a:r>
            <a:r>
              <a:rPr dirty="0" sz="1100" spc="6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DAPH</a:t>
            </a:r>
            <a:r>
              <a:rPr dirty="0" sz="1100" spc="7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Programme</a:t>
            </a:r>
            <a:r>
              <a:rPr dirty="0" sz="1100" spc="4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Team.</a:t>
            </a:r>
            <a:r>
              <a:rPr dirty="0" sz="1100" spc="7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(2032).</a:t>
            </a:r>
            <a:r>
              <a:rPr dirty="0" sz="1100" spc="7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MONOLITH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DAPH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Decor</a:t>
            </a:r>
            <a:r>
              <a:rPr dirty="0" sz="1100" spc="2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AI</a:t>
            </a:r>
            <a:r>
              <a:rPr dirty="0" sz="1100" spc="2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Agent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Programme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—</a:t>
            </a:r>
            <a:r>
              <a:rPr dirty="0" sz="1100" spc="2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AMD-004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Final</a:t>
            </a:r>
            <a:r>
              <a:rPr dirty="0" sz="1100" spc="6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Report,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Sections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1–49.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MONOLITH</a:t>
            </a:r>
            <a:r>
              <a:rPr dirty="0" sz="1100" spc="7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1A1A2E"/>
                </a:solidFill>
                <a:latin typeface="Arial"/>
                <a:cs typeface="Arial"/>
              </a:rPr>
              <a:t>SOP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DOCX</a:t>
            </a:r>
            <a:r>
              <a:rPr dirty="0" sz="1100" spc="4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v2.5.</a:t>
            </a:r>
            <a:r>
              <a:rPr dirty="0" sz="1100" spc="4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Arial"/>
                <a:cs typeface="Arial"/>
              </a:rPr>
              <a:t>monolith_project_summary_v25_accepted.docx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8649" y="1743074"/>
            <a:ext cx="10953750" cy="657225"/>
            <a:chOff x="628649" y="1743074"/>
            <a:chExt cx="10953750" cy="657225"/>
          </a:xfrm>
        </p:grpSpPr>
        <p:sp>
          <p:nvSpPr>
            <p:cNvPr id="12" name="object 12"/>
            <p:cNvSpPr/>
            <p:nvPr/>
          </p:nvSpPr>
          <p:spPr>
            <a:xfrm>
              <a:off x="647699" y="1743074"/>
              <a:ext cx="10934700" cy="657225"/>
            </a:xfrm>
            <a:custGeom>
              <a:avLst/>
              <a:gdLst/>
              <a:ahLst/>
              <a:cxnLst/>
              <a:rect l="l" t="t" r="r" b="b"/>
              <a:pathLst>
                <a:path w="10934700" h="657225">
                  <a:moveTo>
                    <a:pt x="10881301" y="657224"/>
                  </a:moveTo>
                  <a:lnTo>
                    <a:pt x="33047" y="657224"/>
                  </a:lnTo>
                  <a:lnTo>
                    <a:pt x="28187" y="655774"/>
                  </a:lnTo>
                  <a:lnTo>
                    <a:pt x="966" y="614943"/>
                  </a:lnTo>
                  <a:lnTo>
                    <a:pt x="0" y="607653"/>
                  </a:lnTo>
                  <a:lnTo>
                    <a:pt x="0" y="600074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10881301" y="0"/>
                  </a:lnTo>
                  <a:lnTo>
                    <a:pt x="10920612" y="19392"/>
                  </a:lnTo>
                  <a:lnTo>
                    <a:pt x="10934698" y="53397"/>
                  </a:lnTo>
                  <a:lnTo>
                    <a:pt x="10934698" y="603827"/>
                  </a:lnTo>
                  <a:lnTo>
                    <a:pt x="10915306" y="643139"/>
                  </a:lnTo>
                  <a:lnTo>
                    <a:pt x="10885017" y="656858"/>
                  </a:lnTo>
                  <a:lnTo>
                    <a:pt x="10881301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8649" y="1743074"/>
              <a:ext cx="52069" cy="657225"/>
            </a:xfrm>
            <a:custGeom>
              <a:avLst/>
              <a:gdLst/>
              <a:ahLst/>
              <a:cxnLst/>
              <a:rect l="l" t="t" r="r" b="b"/>
              <a:pathLst>
                <a:path w="52070" h="657225">
                  <a:moveTo>
                    <a:pt x="51889" y="657224"/>
                  </a:moveTo>
                  <a:lnTo>
                    <a:pt x="49571" y="657224"/>
                  </a:lnTo>
                  <a:lnTo>
                    <a:pt x="42281" y="655774"/>
                  </a:lnTo>
                  <a:lnTo>
                    <a:pt x="7250" y="628946"/>
                  </a:lnTo>
                  <a:lnTo>
                    <a:pt x="0" y="607653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600075"/>
                  </a:lnTo>
                  <a:lnTo>
                    <a:pt x="43679" y="640485"/>
                  </a:lnTo>
                  <a:lnTo>
                    <a:pt x="47399" y="651645"/>
                  </a:lnTo>
                  <a:lnTo>
                    <a:pt x="51889" y="657224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25500" y="1844675"/>
            <a:ext cx="1371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 b="1">
                <a:solidFill>
                  <a:srgbClr val="1F2D59"/>
                </a:solidFill>
                <a:latin typeface="Arial"/>
                <a:cs typeface="Arial"/>
              </a:rPr>
              <a:t>2.</a:t>
            </a:r>
            <a:endParaRPr sz="1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44599" y="1797050"/>
            <a:ext cx="9850755" cy="463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95"/>
              </a:spcBef>
            </a:pP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MONOLITH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DAPH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Programme</a:t>
            </a:r>
            <a:r>
              <a:rPr dirty="0" sz="1100" spc="3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Team.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(2032).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Section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49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— AMD-004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Programme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Closure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&amp;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Phase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2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Gateway.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MONOLITH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SOP</a:t>
            </a:r>
            <a:r>
              <a:rPr dirty="0" sz="1100" spc="3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DOCX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v2.5,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S49.</a:t>
            </a:r>
            <a:r>
              <a:rPr dirty="0" sz="1100" spc="-2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Arial"/>
                <a:cs typeface="Arial"/>
              </a:rPr>
              <a:t>AMD4-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CLOSE-01–05.</a:t>
            </a:r>
            <a:r>
              <a:rPr dirty="0" sz="1100" spc="8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Phase</a:t>
            </a:r>
            <a:r>
              <a:rPr dirty="0" sz="1100" spc="9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1</a:t>
            </a:r>
            <a:r>
              <a:rPr dirty="0" sz="1100" spc="9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Completion</a:t>
            </a:r>
            <a:r>
              <a:rPr dirty="0" sz="1100" spc="9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Arial"/>
                <a:cs typeface="Arial"/>
              </a:rPr>
              <a:t>Certificate.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8649" y="2476499"/>
            <a:ext cx="10953750" cy="657225"/>
            <a:chOff x="628649" y="2476499"/>
            <a:chExt cx="10953750" cy="657225"/>
          </a:xfrm>
        </p:grpSpPr>
        <p:sp>
          <p:nvSpPr>
            <p:cNvPr id="17" name="object 17"/>
            <p:cNvSpPr/>
            <p:nvPr/>
          </p:nvSpPr>
          <p:spPr>
            <a:xfrm>
              <a:off x="647699" y="2476499"/>
              <a:ext cx="10934700" cy="657225"/>
            </a:xfrm>
            <a:custGeom>
              <a:avLst/>
              <a:gdLst/>
              <a:ahLst/>
              <a:cxnLst/>
              <a:rect l="l" t="t" r="r" b="b"/>
              <a:pathLst>
                <a:path w="10934700" h="657225">
                  <a:moveTo>
                    <a:pt x="10881301" y="657224"/>
                  </a:moveTo>
                  <a:lnTo>
                    <a:pt x="33047" y="657224"/>
                  </a:lnTo>
                  <a:lnTo>
                    <a:pt x="4833" y="628946"/>
                  </a:lnTo>
                  <a:lnTo>
                    <a:pt x="0" y="607653"/>
                  </a:lnTo>
                  <a:lnTo>
                    <a:pt x="0" y="600074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10881301" y="0"/>
                  </a:lnTo>
                  <a:lnTo>
                    <a:pt x="10920612" y="19391"/>
                  </a:lnTo>
                  <a:lnTo>
                    <a:pt x="10934698" y="53397"/>
                  </a:lnTo>
                  <a:lnTo>
                    <a:pt x="10934698" y="603827"/>
                  </a:lnTo>
                  <a:lnTo>
                    <a:pt x="10915306" y="643139"/>
                  </a:lnTo>
                  <a:lnTo>
                    <a:pt x="10885017" y="656858"/>
                  </a:lnTo>
                  <a:lnTo>
                    <a:pt x="10881301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8649" y="2476499"/>
              <a:ext cx="52069" cy="657225"/>
            </a:xfrm>
            <a:custGeom>
              <a:avLst/>
              <a:gdLst/>
              <a:ahLst/>
              <a:cxnLst/>
              <a:rect l="l" t="t" r="r" b="b"/>
              <a:pathLst>
                <a:path w="52070" h="657225">
                  <a:moveTo>
                    <a:pt x="51889" y="657224"/>
                  </a:moveTo>
                  <a:lnTo>
                    <a:pt x="49571" y="657224"/>
                  </a:lnTo>
                  <a:lnTo>
                    <a:pt x="42281" y="655774"/>
                  </a:lnTo>
                  <a:lnTo>
                    <a:pt x="7250" y="628946"/>
                  </a:lnTo>
                  <a:lnTo>
                    <a:pt x="0" y="607653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0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600075"/>
                  </a:lnTo>
                  <a:lnTo>
                    <a:pt x="43679" y="640486"/>
                  </a:lnTo>
                  <a:lnTo>
                    <a:pt x="47399" y="651645"/>
                  </a:lnTo>
                  <a:lnTo>
                    <a:pt x="51889" y="657224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25500" y="2578100"/>
            <a:ext cx="1371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 b="1">
                <a:solidFill>
                  <a:srgbClr val="1F2D59"/>
                </a:solidFill>
                <a:latin typeface="Arial"/>
                <a:cs typeface="Arial"/>
              </a:rPr>
              <a:t>3.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44599" y="2530475"/>
            <a:ext cx="10120630" cy="463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95"/>
              </a:spcBef>
            </a:pP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MONOLITH</a:t>
            </a:r>
            <a:r>
              <a:rPr dirty="0" sz="1100" spc="6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DAPH</a:t>
            </a:r>
            <a:r>
              <a:rPr dirty="0" sz="1100" spc="6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Programme</a:t>
            </a:r>
            <a:r>
              <a:rPr dirty="0" sz="1100" spc="4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Team.</a:t>
            </a:r>
            <a:r>
              <a:rPr dirty="0" sz="1100" spc="6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(2032).</a:t>
            </a:r>
            <a:r>
              <a:rPr dirty="0" sz="1100" spc="6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Section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50</a:t>
            </a:r>
            <a:r>
              <a:rPr dirty="0" sz="1100" spc="6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—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Phase</a:t>
            </a:r>
            <a:r>
              <a:rPr dirty="0" sz="1100" spc="6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2</a:t>
            </a:r>
            <a:r>
              <a:rPr dirty="0" sz="1100" spc="6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Programme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Definition</a:t>
            </a:r>
            <a:r>
              <a:rPr dirty="0" sz="1100" spc="6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Document</a:t>
            </a:r>
            <a:r>
              <a:rPr dirty="0" sz="1100" spc="6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(PDD).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MONOLITH</a:t>
            </a:r>
            <a:r>
              <a:rPr dirty="0" sz="1100" spc="6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SOP</a:t>
            </a:r>
            <a:r>
              <a:rPr dirty="0" sz="1100" spc="4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DOCX</a:t>
            </a:r>
            <a:r>
              <a:rPr dirty="0" sz="1100" spc="6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v2.5,</a:t>
            </a:r>
            <a:r>
              <a:rPr dirty="0" sz="1100" spc="6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S50.</a:t>
            </a:r>
            <a:r>
              <a:rPr dirty="0" sz="1100" spc="7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SC-2032-</a:t>
            </a:r>
            <a:r>
              <a:rPr dirty="0" sz="1100" spc="-25">
                <a:solidFill>
                  <a:srgbClr val="1A1A2E"/>
                </a:solidFill>
                <a:latin typeface="Arial"/>
                <a:cs typeface="Arial"/>
              </a:rPr>
              <a:t>XX.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GAP-05/06/09/10/11/12</a:t>
            </a:r>
            <a:r>
              <a:rPr dirty="0" sz="1100" spc="114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Workplan.</a:t>
            </a:r>
            <a:r>
              <a:rPr dirty="0" sz="1100" spc="9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THB</a:t>
            </a:r>
            <a:r>
              <a:rPr dirty="0" sz="1100" spc="114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Arial"/>
                <a:cs typeface="Arial"/>
              </a:rPr>
              <a:t>6.0M.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28649" y="3209924"/>
            <a:ext cx="10953750" cy="657225"/>
            <a:chOff x="628649" y="3209924"/>
            <a:chExt cx="10953750" cy="657225"/>
          </a:xfrm>
        </p:grpSpPr>
        <p:sp>
          <p:nvSpPr>
            <p:cNvPr id="22" name="object 22"/>
            <p:cNvSpPr/>
            <p:nvPr/>
          </p:nvSpPr>
          <p:spPr>
            <a:xfrm>
              <a:off x="647699" y="3209924"/>
              <a:ext cx="10934700" cy="657225"/>
            </a:xfrm>
            <a:custGeom>
              <a:avLst/>
              <a:gdLst/>
              <a:ahLst/>
              <a:cxnLst/>
              <a:rect l="l" t="t" r="r" b="b"/>
              <a:pathLst>
                <a:path w="10934700" h="657225">
                  <a:moveTo>
                    <a:pt x="10881301" y="657224"/>
                  </a:moveTo>
                  <a:lnTo>
                    <a:pt x="33047" y="657224"/>
                  </a:lnTo>
                  <a:lnTo>
                    <a:pt x="28187" y="655774"/>
                  </a:lnTo>
                  <a:lnTo>
                    <a:pt x="966" y="614943"/>
                  </a:lnTo>
                  <a:lnTo>
                    <a:pt x="0" y="607653"/>
                  </a:lnTo>
                  <a:lnTo>
                    <a:pt x="0" y="600074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10881301" y="0"/>
                  </a:lnTo>
                  <a:lnTo>
                    <a:pt x="10920612" y="19392"/>
                  </a:lnTo>
                  <a:lnTo>
                    <a:pt x="10934698" y="53397"/>
                  </a:lnTo>
                  <a:lnTo>
                    <a:pt x="10934698" y="603827"/>
                  </a:lnTo>
                  <a:lnTo>
                    <a:pt x="10915306" y="643139"/>
                  </a:lnTo>
                  <a:lnTo>
                    <a:pt x="10885017" y="656858"/>
                  </a:lnTo>
                  <a:lnTo>
                    <a:pt x="10881301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8649" y="3209924"/>
              <a:ext cx="52069" cy="657225"/>
            </a:xfrm>
            <a:custGeom>
              <a:avLst/>
              <a:gdLst/>
              <a:ahLst/>
              <a:cxnLst/>
              <a:rect l="l" t="t" r="r" b="b"/>
              <a:pathLst>
                <a:path w="52070" h="657225">
                  <a:moveTo>
                    <a:pt x="51889" y="657224"/>
                  </a:moveTo>
                  <a:lnTo>
                    <a:pt x="49571" y="657224"/>
                  </a:lnTo>
                  <a:lnTo>
                    <a:pt x="42281" y="655774"/>
                  </a:lnTo>
                  <a:lnTo>
                    <a:pt x="7250" y="628946"/>
                  </a:lnTo>
                  <a:lnTo>
                    <a:pt x="0" y="607653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600075"/>
                  </a:lnTo>
                  <a:lnTo>
                    <a:pt x="43679" y="640485"/>
                  </a:lnTo>
                  <a:lnTo>
                    <a:pt x="47399" y="651645"/>
                  </a:lnTo>
                  <a:lnTo>
                    <a:pt x="51889" y="657224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825500" y="3311525"/>
            <a:ext cx="1371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 b="1">
                <a:solidFill>
                  <a:srgbClr val="1F2D59"/>
                </a:solidFill>
                <a:latin typeface="Arial"/>
                <a:cs typeface="Arial"/>
              </a:rPr>
              <a:t>4.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44599" y="3263900"/>
            <a:ext cx="10137140" cy="463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95"/>
              </a:spcBef>
            </a:pP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MONOLITH</a:t>
            </a:r>
            <a:r>
              <a:rPr dirty="0" sz="1100" spc="7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DAPH</a:t>
            </a:r>
            <a:r>
              <a:rPr dirty="0" sz="1100" spc="7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Programme</a:t>
            </a:r>
            <a:r>
              <a:rPr dirty="0" sz="1100" spc="4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Team.</a:t>
            </a:r>
            <a:r>
              <a:rPr dirty="0" sz="1100" spc="7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(2032).</a:t>
            </a:r>
            <a:r>
              <a:rPr dirty="0" sz="1100" spc="7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Section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48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—</a:t>
            </a:r>
            <a:r>
              <a:rPr dirty="0" sz="1100" spc="2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AMD-004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WS-E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Human</a:t>
            </a:r>
            <a:r>
              <a:rPr dirty="0" sz="1100" spc="7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Capital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&amp;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Change</a:t>
            </a:r>
            <a:r>
              <a:rPr dirty="0" sz="1100" spc="7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Management.</a:t>
            </a:r>
            <a:r>
              <a:rPr dirty="0" sz="1100" spc="5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TRN-001–004,</a:t>
            </a:r>
            <a:r>
              <a:rPr dirty="0" sz="1100" spc="7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CHG-001–004.</a:t>
            </a:r>
            <a:r>
              <a:rPr dirty="0" sz="1100" spc="4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THB</a:t>
            </a:r>
            <a:r>
              <a:rPr dirty="0" sz="1100" spc="7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Arial"/>
                <a:cs typeface="Arial"/>
              </a:rPr>
              <a:t>0.6M.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Q1–Q2</a:t>
            </a:r>
            <a:r>
              <a:rPr dirty="0" sz="1100" spc="7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Arial"/>
                <a:cs typeface="Arial"/>
              </a:rPr>
              <a:t>2032.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28649" y="3943349"/>
            <a:ext cx="10953750" cy="657225"/>
            <a:chOff x="628649" y="3943349"/>
            <a:chExt cx="10953750" cy="657225"/>
          </a:xfrm>
        </p:grpSpPr>
        <p:sp>
          <p:nvSpPr>
            <p:cNvPr id="27" name="object 27"/>
            <p:cNvSpPr/>
            <p:nvPr/>
          </p:nvSpPr>
          <p:spPr>
            <a:xfrm>
              <a:off x="647699" y="3943349"/>
              <a:ext cx="10934700" cy="657225"/>
            </a:xfrm>
            <a:custGeom>
              <a:avLst/>
              <a:gdLst/>
              <a:ahLst/>
              <a:cxnLst/>
              <a:rect l="l" t="t" r="r" b="b"/>
              <a:pathLst>
                <a:path w="10934700" h="657225">
                  <a:moveTo>
                    <a:pt x="10881301" y="657224"/>
                  </a:moveTo>
                  <a:lnTo>
                    <a:pt x="33047" y="657224"/>
                  </a:lnTo>
                  <a:lnTo>
                    <a:pt x="28187" y="655774"/>
                  </a:lnTo>
                  <a:lnTo>
                    <a:pt x="966" y="614942"/>
                  </a:lnTo>
                  <a:lnTo>
                    <a:pt x="0" y="607653"/>
                  </a:lnTo>
                  <a:lnTo>
                    <a:pt x="0" y="600074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10881301" y="0"/>
                  </a:lnTo>
                  <a:lnTo>
                    <a:pt x="10920612" y="19391"/>
                  </a:lnTo>
                  <a:lnTo>
                    <a:pt x="10934698" y="53397"/>
                  </a:lnTo>
                  <a:lnTo>
                    <a:pt x="10934698" y="603827"/>
                  </a:lnTo>
                  <a:lnTo>
                    <a:pt x="10915306" y="643139"/>
                  </a:lnTo>
                  <a:lnTo>
                    <a:pt x="10885017" y="656858"/>
                  </a:lnTo>
                  <a:lnTo>
                    <a:pt x="10881301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28649" y="3943349"/>
              <a:ext cx="52069" cy="657225"/>
            </a:xfrm>
            <a:custGeom>
              <a:avLst/>
              <a:gdLst/>
              <a:ahLst/>
              <a:cxnLst/>
              <a:rect l="l" t="t" r="r" b="b"/>
              <a:pathLst>
                <a:path w="52070" h="657225">
                  <a:moveTo>
                    <a:pt x="51889" y="657224"/>
                  </a:moveTo>
                  <a:lnTo>
                    <a:pt x="49571" y="657224"/>
                  </a:lnTo>
                  <a:lnTo>
                    <a:pt x="42281" y="655774"/>
                  </a:lnTo>
                  <a:lnTo>
                    <a:pt x="7250" y="628946"/>
                  </a:lnTo>
                  <a:lnTo>
                    <a:pt x="0" y="607653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600075"/>
                  </a:lnTo>
                  <a:lnTo>
                    <a:pt x="43679" y="640486"/>
                  </a:lnTo>
                  <a:lnTo>
                    <a:pt x="47399" y="651645"/>
                  </a:lnTo>
                  <a:lnTo>
                    <a:pt x="51889" y="657224"/>
                  </a:lnTo>
                  <a:close/>
                </a:path>
              </a:pathLst>
            </a:custGeom>
            <a:solidFill>
              <a:srgbClr val="1F2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25500" y="4044950"/>
            <a:ext cx="1371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 b="1">
                <a:solidFill>
                  <a:srgbClr val="1F2D59"/>
                </a:solidFill>
                <a:latin typeface="Arial"/>
                <a:cs typeface="Arial"/>
              </a:rPr>
              <a:t>5.</a:t>
            </a:r>
            <a:endParaRPr sz="1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44599" y="3997324"/>
            <a:ext cx="10155555" cy="463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95"/>
              </a:spcBef>
            </a:pP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MONOLITH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DAPH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Programme</a:t>
            </a:r>
            <a:r>
              <a:rPr dirty="0" sz="1100" spc="3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Team.</a:t>
            </a:r>
            <a:r>
              <a:rPr dirty="0" sz="1100" spc="6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(2032).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Gap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Register</a:t>
            </a:r>
            <a:r>
              <a:rPr dirty="0" sz="1100" spc="6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v2.5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—</a:t>
            </a:r>
            <a:r>
              <a:rPr dirty="0" sz="1100" spc="6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15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Gaps</a:t>
            </a:r>
            <a:r>
              <a:rPr dirty="0" sz="1100" spc="6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across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3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Priority</a:t>
            </a:r>
            <a:r>
              <a:rPr dirty="0" sz="1100" spc="6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Levels.</a:t>
            </a:r>
            <a:r>
              <a:rPr dirty="0" sz="1100" spc="5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sop_github_mapping.md,</a:t>
            </a:r>
            <a:r>
              <a:rPr dirty="0" sz="1100" spc="6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Section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1A1A2E"/>
                </a:solidFill>
                <a:latin typeface="Arial"/>
                <a:cs typeface="Arial"/>
              </a:rPr>
              <a:t>F.</a:t>
            </a:r>
            <a:r>
              <a:rPr dirty="0" sz="1100" spc="6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8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HIGH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/</a:t>
            </a:r>
            <a:r>
              <a:rPr dirty="0" sz="1100" spc="6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4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MEDIUM</a:t>
            </a:r>
            <a:r>
              <a:rPr dirty="0" sz="1100" spc="6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1A1A2E"/>
                </a:solidFill>
                <a:latin typeface="Arial"/>
                <a:cs typeface="Arial"/>
              </a:rPr>
              <a:t>/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3</a:t>
            </a:r>
            <a:r>
              <a:rPr dirty="0" sz="1100" spc="4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LOW.</a:t>
            </a:r>
            <a:r>
              <a:rPr dirty="0" sz="1100" spc="4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Phase</a:t>
            </a:r>
            <a:r>
              <a:rPr dirty="0" sz="1100" spc="4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1</a:t>
            </a:r>
            <a:r>
              <a:rPr dirty="0" sz="1100" spc="5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closed:</a:t>
            </a:r>
            <a:r>
              <a:rPr dirty="0" sz="1100" spc="4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GAP-</a:t>
            </a:r>
            <a:r>
              <a:rPr dirty="0" sz="1100" spc="-10">
                <a:solidFill>
                  <a:srgbClr val="1A1A2E"/>
                </a:solidFill>
                <a:latin typeface="Arial"/>
                <a:cs typeface="Arial"/>
              </a:rPr>
              <a:t>01/02/03/04/07/08.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8649" y="4676774"/>
            <a:ext cx="10953750" cy="657225"/>
            <a:chOff x="628649" y="4676774"/>
            <a:chExt cx="10953750" cy="657225"/>
          </a:xfrm>
        </p:grpSpPr>
        <p:sp>
          <p:nvSpPr>
            <p:cNvPr id="32" name="object 32"/>
            <p:cNvSpPr/>
            <p:nvPr/>
          </p:nvSpPr>
          <p:spPr>
            <a:xfrm>
              <a:off x="647699" y="4676774"/>
              <a:ext cx="10934700" cy="657225"/>
            </a:xfrm>
            <a:custGeom>
              <a:avLst/>
              <a:gdLst/>
              <a:ahLst/>
              <a:cxnLst/>
              <a:rect l="l" t="t" r="r" b="b"/>
              <a:pathLst>
                <a:path w="10934700" h="657225">
                  <a:moveTo>
                    <a:pt x="10881301" y="657224"/>
                  </a:moveTo>
                  <a:lnTo>
                    <a:pt x="33047" y="657224"/>
                  </a:lnTo>
                  <a:lnTo>
                    <a:pt x="4833" y="628945"/>
                  </a:lnTo>
                  <a:lnTo>
                    <a:pt x="0" y="607652"/>
                  </a:lnTo>
                  <a:lnTo>
                    <a:pt x="0" y="600074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10881301" y="0"/>
                  </a:lnTo>
                  <a:lnTo>
                    <a:pt x="10920612" y="19391"/>
                  </a:lnTo>
                  <a:lnTo>
                    <a:pt x="10934698" y="53397"/>
                  </a:lnTo>
                  <a:lnTo>
                    <a:pt x="10934698" y="603827"/>
                  </a:lnTo>
                  <a:lnTo>
                    <a:pt x="10915306" y="643139"/>
                  </a:lnTo>
                  <a:lnTo>
                    <a:pt x="10885017" y="656858"/>
                  </a:lnTo>
                  <a:lnTo>
                    <a:pt x="10881301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28649" y="4676774"/>
              <a:ext cx="52069" cy="657225"/>
            </a:xfrm>
            <a:custGeom>
              <a:avLst/>
              <a:gdLst/>
              <a:ahLst/>
              <a:cxnLst/>
              <a:rect l="l" t="t" r="r" b="b"/>
              <a:pathLst>
                <a:path w="52070" h="657225">
                  <a:moveTo>
                    <a:pt x="51889" y="657224"/>
                  </a:moveTo>
                  <a:lnTo>
                    <a:pt x="49571" y="657224"/>
                  </a:lnTo>
                  <a:lnTo>
                    <a:pt x="42281" y="655774"/>
                  </a:lnTo>
                  <a:lnTo>
                    <a:pt x="7250" y="628946"/>
                  </a:lnTo>
                  <a:lnTo>
                    <a:pt x="0" y="607653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0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600075"/>
                  </a:lnTo>
                  <a:lnTo>
                    <a:pt x="43679" y="640486"/>
                  </a:lnTo>
                  <a:lnTo>
                    <a:pt x="47399" y="651645"/>
                  </a:lnTo>
                  <a:lnTo>
                    <a:pt x="51889" y="657224"/>
                  </a:lnTo>
                  <a:close/>
                </a:path>
              </a:pathLst>
            </a:custGeom>
            <a:solidFill>
              <a:srgbClr val="C8A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825500" y="4778375"/>
            <a:ext cx="1371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 b="1">
                <a:solidFill>
                  <a:srgbClr val="1F2D59"/>
                </a:solidFill>
                <a:latin typeface="Arial"/>
                <a:cs typeface="Arial"/>
              </a:rPr>
              <a:t>6.</a:t>
            </a:r>
            <a:endParaRPr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44599" y="4730749"/>
            <a:ext cx="9829800" cy="463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95"/>
              </a:spcBef>
            </a:pP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MONOLITH</a:t>
            </a:r>
            <a:r>
              <a:rPr dirty="0" sz="1100" spc="7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DAPH</a:t>
            </a:r>
            <a:r>
              <a:rPr dirty="0" sz="1100" spc="7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Programme</a:t>
            </a:r>
            <a:r>
              <a:rPr dirty="0" sz="1100" spc="5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Team.</a:t>
            </a:r>
            <a:r>
              <a:rPr dirty="0" sz="1100" spc="7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(2032).</a:t>
            </a:r>
            <a:r>
              <a:rPr dirty="0" sz="1100" spc="8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KPI</a:t>
            </a:r>
            <a:r>
              <a:rPr dirty="0" sz="1100" spc="7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Framework</a:t>
            </a:r>
            <a:r>
              <a:rPr dirty="0" sz="1100" spc="7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KPI-001–024</a:t>
            </a:r>
            <a:r>
              <a:rPr dirty="0" sz="1100" spc="8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—</a:t>
            </a:r>
            <a:r>
              <a:rPr dirty="0" sz="1100" spc="7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Phase</a:t>
            </a:r>
            <a:r>
              <a:rPr dirty="0" sz="1100" spc="7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1</a:t>
            </a:r>
            <a:r>
              <a:rPr dirty="0" sz="1100" spc="8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Performance</a:t>
            </a:r>
            <a:r>
              <a:rPr dirty="0" sz="1100" spc="75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2E74B5"/>
                </a:solidFill>
                <a:latin typeface="Arial"/>
                <a:cs typeface="Arial"/>
              </a:rPr>
              <a:t>Data.</a:t>
            </a:r>
            <a:r>
              <a:rPr dirty="0" sz="1100" spc="80" i="1">
                <a:solidFill>
                  <a:srgbClr val="2E74B5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src/dashboard/,</a:t>
            </a:r>
            <a:r>
              <a:rPr dirty="0" sz="1100" spc="7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MONOLITH</a:t>
            </a:r>
            <a:r>
              <a:rPr dirty="0" sz="1100" spc="7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GitHub</a:t>
            </a:r>
            <a:r>
              <a:rPr dirty="0" sz="1100" spc="8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Arial"/>
                <a:cs typeface="Arial"/>
              </a:rPr>
              <a:t>Repository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indetailsgroup-hue/monolith-workspace,</a:t>
            </a:r>
            <a:r>
              <a:rPr dirty="0" sz="1100" spc="235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2E"/>
                </a:solidFill>
                <a:latin typeface="Arial"/>
                <a:cs typeface="Arial"/>
              </a:rPr>
              <a:t>SHA</a:t>
            </a:r>
            <a:r>
              <a:rPr dirty="0" sz="1100" spc="12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A1A2E"/>
                </a:solidFill>
                <a:latin typeface="Arial"/>
                <a:cs typeface="Arial"/>
              </a:rPr>
              <a:t>14b90bc.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7149" y="6581774"/>
            <a:ext cx="12096750" cy="9525"/>
          </a:xfrm>
          <a:custGeom>
            <a:avLst/>
            <a:gdLst/>
            <a:ahLst/>
            <a:cxnLst/>
            <a:rect l="l" t="t" r="r" b="b"/>
            <a:pathLst>
              <a:path w="12096750" h="9525">
                <a:moveTo>
                  <a:pt x="12096749" y="9524"/>
                </a:moveTo>
                <a:lnTo>
                  <a:pt x="0" y="9524"/>
                </a:lnTo>
                <a:lnTo>
                  <a:pt x="0" y="0"/>
                </a:lnTo>
                <a:lnTo>
                  <a:pt x="12096749" y="0"/>
                </a:lnTo>
                <a:lnTo>
                  <a:pt x="12096749" y="9524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15949" y="6635750"/>
            <a:ext cx="601218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MONOLITH</a:t>
            </a:r>
            <a:r>
              <a:rPr dirty="0" sz="800" spc="4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DAPH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Decor AI</a:t>
            </a:r>
            <a:r>
              <a:rPr dirty="0" sz="800" spc="-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Agent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Programme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SC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Review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2569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 spc="-40">
                <a:solidFill>
                  <a:srgbClr val="8B8B8B"/>
                </a:solidFill>
                <a:latin typeface="Arial"/>
                <a:cs typeface="Arial"/>
              </a:rPr>
              <a:t>·</a:t>
            </a:r>
            <a:r>
              <a:rPr dirty="0" sz="800" spc="-5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All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source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documents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8B8B8B"/>
                </a:solidFill>
                <a:latin typeface="Arial"/>
                <a:cs typeface="Arial"/>
              </a:rPr>
              <a:t>in</a:t>
            </a:r>
            <a:r>
              <a:rPr dirty="0" sz="800" spc="50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8B8B8B"/>
                </a:solidFill>
                <a:latin typeface="Arial"/>
                <a:cs typeface="Arial"/>
              </a:rPr>
              <a:t>MONOLITH_SOP_Package_v2.5.zip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2026-09-03T14:51:22Z</dcterms:created>
  <dcterms:modified xsi:type="dcterms:W3CDTF">2026-09-03T14:51:22Z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v12.0.20182.1</vt:lpwstr>
  </property>
  <property fmtid="{D5CDD505-2E9C-101B-9397-08002B2CF9AE}" pid="3" name="Created">
    <vt:filetime>2026-09-03T00:00:00Z</vt:filetime>
  </property>
  <property fmtid="{D5CDD505-2E9C-101B-9397-08002B2CF9AE}" pid="4" name="Producer">
    <vt:lpwstr>PyPDF2</vt:lpwstr>
  </property>
  <property fmtid="{D5CDD505-2E9C-101B-9397-08002B2CF9AE}" pid="5" name="LastSaved">
    <vt:filetime>2026-09-03T00:00:00Z</vt:filetime>
  </property>
</Properties>
</file>